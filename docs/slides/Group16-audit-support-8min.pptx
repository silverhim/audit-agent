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we are Group 16. This system helps one Australian registered company auditor complete a statutory audit. I will cover positioning and functions. The next speaker covers the agents and the design models. The last speaker walks one full case, from a cutoff error to the opinion.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user is a sole-practitioner registered company auditor. The setting is Australia: the auditing standards ASA, the accounting standards AASB, and the Corporations Act. This is audit support. The opinion and the signature have to be the auditor's own. Agents check registrations, run procedures, read evidence, and produce a preliminary judgment. Four statutory decisions stop and wait. Every judgment has to trace back to the original evidence.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 runs in five phases. Acceptance checks the ABN and ASIC, and the auditor decides whether to take the engagement. Planning sets materiality, confirms the risk list, and assembles the procedure pack. Execution runs substantive procedures in parallel. In this prototype the two main lines are revenue cutoff and bank confirmation. Completion adds up uncorrected misstatements, and the auditor confirms the opinion type. Reporting drafts the report. The auditor can send it back with comments, or sign and archive it. A state machine drives the flow, and it can resume from a checkpoint. The specification has 161 procedures. This prototype runs 17. That is my part.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ten agents are split by what they produce, not by account area. A1 is the orchestrator: the state machine, the gates, and the schedule. It does not call a language model. A2 checks background and independence. A3 turns contracts and replies into structured data. A4 rates risk and materiality. A5 collects external evidence, such as a confirmation. A6 makes the substantive judgments, and it can run as several instances. A7 re-reads the evidence with a different model, so a model does not review itself. A8 writes the workpapers. A9 does rule-based quality control, including the misstatement roll-up. A10 is the only door. It presents the item and passes the decision on. It does not decide. Agents do not call each other. Results go into the engagement state, and A1 merges them. A7 is the one exception: it reviews before that merge. The dashed roles, A7 and A8, are in the specification. This prototype has not wired them in. Presentation goes through the gate and review screens. Report drafting is already on A10.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A · figure flash. One sentence. Skip this page if the talk is over time. This is Figure 1b, the agent and service model. We will not read every box. The full source is linked on the slide.</a:t>
            </a:r>
          </a:p>
          <a:p/>
          <a:p>
            <a:r>
              <a:t>https://github.sydney.edu.au/ELEC5620-Wed-14-16-Group-16/ELEC5620-demo/blob/main/docs/diagrams/class_agents.puml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three constraints. First, bounded autonomy. The macro flow is a state machine. A gate does not move until the auditor makes an explicit decision. In execution, procedures run in dependency layers, in parallel within a layer. After the merge the flow continues, waits for a person, or enters completion. Second, four autonomy levels: the person decides, the person reviews each item, the person sees only exceptions, or the person samples afterwards. A significant risk, an amount above performance materiality, or low confidence moves the level down. Thirty-two statutory procedures stay at level one and never move up. Third, a judgment is a conclusion, a reasoning chain, a counter-argument, a confidence score, and evidence pointers. Four checks: syntax, structure, references, and semantics. A fact has to point at a document. A standard has to point at a fragment in the knowledge base. That is my part.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A · figure flash. One sentence. Skip this page if the talk is over time. This is Figure 3a, the engagement state machine. The yellow states are the human gates. We will not trace every arrow.</a:t>
            </a:r>
          </a:p>
          <a:p/>
          <a:p>
            <a:r>
              <a:t>https://github.sydney.edu.au/ELEC5620-Wed-14-16-Group-16/ELEC5620-demo/blob/main/docs/diagrams/state_main.puml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nine use cases, and they sit on those five phases. The first seven follow the phases: acceptance, planning, execution, exception review, risk re-assessment, completion and the report, then archiving. The last two can cut in at any phase: asking where the work is and where a figure came from, and statutory notification or withdrawal. Besides the auditor, the actors are the client, external data sources, and the engagement quality reviewer before signature. Risk re-assessment can pull an engagement that has already started execution back into planning.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B · figure flash. One sentence. Skip this page if the talk is over time. This is Figure 6, the nine use cases and who supplies what. We will not read the legend.</a:t>
            </a:r>
          </a:p>
          <a:p/>
          <a:p>
            <a:r>
              <a:t>https://github.sydney.edu.au/ELEC5620-Wed-14-16-Group-16/ELEC5620-demo/blob/main/docs/diagrams/usecase.puml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line through the synthetic data. The company is fictional. Year-end 30 June 2026, revenue about 12 million Australian dollars. An invoice for 142,000 is recorded on 28 June, and the goods are signed for on 3 July. Control transfers on signing, so three-way matching flags the cutoff. The judgment proposes a misstatement, and the auditor confirms it. The bank reply is 50,000 below the book. That difference is a deposit in transit, recorded on 30 June and received on 2 July, so the system proposes that it is not a misstatement. The auditor confirms that too. The cutoff amount sits above the top of the overall-materiality range, 60 to 120 thousand, so completion proposes a qualified opinion. The signature waits until the auditor confirms the opinion type. The invoice, the delivery note, and the reply open from the judgment.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sentences. The judgment stays with the person. Execution, traceability, and the block stay with the system. Ten agents collaborate by what they produce, and the orchestrator is the only scheduler. The higher the risk, the lower the autonomy. Thank you. Questions welcome. Do not present the appendix unless someone asks for a figure.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spoken. Stop the talk on the previous slide unless a question asks for a figure.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spoken. Class diagram — domain model</a:t>
            </a:r>
          </a:p>
          <a:p/>
          <a:p>
            <a:r>
              <a:t>https://github.sydney.edu.au/ELEC5620-Wed-14-16-Group-16/ELEC5620-demo/blob/main/docs/diagrams/class_domain.puml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spoken. Class diagram — agents, services, and contracts</a:t>
            </a:r>
          </a:p>
          <a:p/>
          <a:p>
            <a:r>
              <a:t>https://github.sydney.edu.au/ELEC5620-Wed-14-16-Group-16/ELEC5620-demo/blob/main/docs/diagrams/class_agents.puml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spoken. Package diagram — modules and contracts</a:t>
            </a:r>
          </a:p>
          <a:p/>
          <a:p>
            <a:r>
              <a:t>https://github.sydney.edu.au/ELEC5620-Wed-14-16-Group-16/ELEC5620-demo/blob/main/docs/diagrams/package.puml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spoken. State machine — engagement lifecycle</a:t>
            </a:r>
          </a:p>
          <a:p/>
          <a:p>
            <a:r>
              <a:t>https://github.sydney.edu.au/ELEC5620-Wed-14-16-Group-16/ELEC5620-demo/blob/main/docs/diagrams/state_main.puml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spoken. Object state machines</a:t>
            </a:r>
          </a:p>
          <a:p/>
          <a:p>
            <a:r>
              <a:t>https://github.sydney.edu.au/ELEC5620-Wed-14-16-Group-16/ELEC5620-demo/blob/main/docs/diagrams/state_objects.puml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spoken. Object states — risk, procedure, run</a:t>
            </a:r>
          </a:p>
          <a:p/>
          <a:p>
            <a:r>
              <a:t>https://github.sydney.edu.au/ELEC5620-Wed-14-16-Group-16/ELEC5620-demo/blob/main/docs/diagrams/state_objects_member_b.puml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spoken. Object states — misstatement, statutory report, document</a:t>
            </a:r>
          </a:p>
          <a:p/>
          <a:p>
            <a:r>
              <a:t>https://github.sydney.edu.au/ELEC5620-Wed-14-16-Group-16/ELEC5620-demo/blob/main/docs/diagrams/state_objects_member_c.puml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spoken. Activity — pack assembly and fieldwork</a:t>
            </a:r>
          </a:p>
          <a:p/>
          <a:p>
            <a:r>
              <a:t>https://github.sydney.edu.au/ELEC5620-Wed-14-16-Group-16/ELEC5620-demo/blob/main/docs/diagrams/activity_fieldwork.puml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spoken. Activity — pack assembly and plan approval</a:t>
            </a:r>
          </a:p>
          <a:p/>
          <a:p>
            <a:r>
              <a:t>https://github.sydney.edu.au/ELEC5620-Wed-14-16-Group-16/ELEC5620-demo/blob/main/docs/diagrams/activity_planning.puml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spoken. Activity — fieldwork execution and feedback loops</a:t>
            </a:r>
          </a:p>
          <a:p/>
          <a:p>
            <a:r>
              <a:t>https://github.sydney.edu.au/ELEC5620-Wed-14-16-Group-16/ELEC5620-demo/blob/main/docs/diagrams/activity_execution.puml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spoken. Activity — one procedure inside an A6 instance</a:t>
            </a:r>
          </a:p>
          <a:p/>
          <a:p>
            <a:r>
              <a:t>https://github.sydney.edu.au/ELEC5620-Wed-14-16-Group-16/ELEC5620-demo/blob/main/docs/diagrams/activity_procedure.puml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spoken. Sequence — assertion-level risk reasoning</a:t>
            </a:r>
          </a:p>
          <a:p/>
          <a:p>
            <a:r>
              <a:t>https://github.sydney.edu.au/ELEC5620-Wed-14-16-Group-16/ELEC5620-demo/blob/main/docs/diagrams/sequence_risk_assessment.puml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spoken. Sequence — failure paths of a journal-exception attribution</a:t>
            </a:r>
          </a:p>
          <a:p/>
          <a:p>
            <a:r>
              <a:t>https://github.sydney.edu.au/ELEC5620-Wed-14-16-Group-16/ELEC5620-demo/blob/main/docs/diagrams/sequence_failure_paths.puml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spoken. Use cases — actors and the nine use cases</a:t>
            </a:r>
          </a:p>
          <a:p/>
          <a:p>
            <a:r>
              <a:t>https://github.sydney.edu.au/ELEC5620-Wed-14-16-Group-16/ELEC5620-demo/blob/main/docs/diagrams/usecase.puml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spoken. Use case specification — UC-01 to UC-03</a:t>
            </a:r>
          </a:p>
          <a:p/>
          <a:p>
            <a:r>
              <a:t>https://github.sydney.edu.au/ELEC5620-Wed-14-16-Group-16/ELEC5620-demo/blob/main/docs/diagrams/usecase_spec_member_a.puml</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spoken. Use case specification — UC-04 to UC-06</a:t>
            </a:r>
          </a:p>
          <a:p/>
          <a:p>
            <a:r>
              <a:t>https://github.sydney.edu.au/ELEC5620-Wed-14-16-Group-16/ELEC5620-demo/blob/main/docs/diagrams/usecase_spec_member_b.puml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spoken. Use case specification — UC-07 to UC-09</a:t>
            </a:r>
          </a:p>
          <a:p/>
          <a:p>
            <a:r>
              <a:t>https://github.sydney.edu.au/ELEC5620-Wed-14-16-Group-16/ELEC5620-demo/blob/main/docs/diagrams/usecase_spec_member_c.puml</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spoken. Requirements — mandatory and optional</a:t>
            </a:r>
          </a:p>
          <a:p/>
          <a:p>
            <a:r>
              <a:t>https://github.sydney.edu.au/ELEC5620-Wed-14-16-Group-16/ELEC5620-demo/blob/main/docs/diagrams/requirements.puml</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spoken. Requirements — execution and evidence</a:t>
            </a:r>
          </a:p>
          <a:p/>
          <a:p>
            <a:r>
              <a:t>https://github.sydney.edu.au/ELEC5620-Wed-14-16-Group-16/ELEC5620-demo/blob/main/docs/diagrams/requirements_member_a.puml</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spoken. Requirements — human judgement and interaction</a:t>
            </a:r>
          </a:p>
          <a:p/>
          <a:p>
            <a:r>
              <a:t>https://github.sydney.edu.au/ELEC5620-Wed-14-16-Group-16/ELEC5620-demo/blob/main/docs/diagrams/requirements_member_b.puml</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spoken. Requirements — statutory obligations</a:t>
            </a:r>
          </a:p>
          <a:p/>
          <a:p>
            <a:r>
              <a:t>https://github.sydney.edu.au/ELEC5620-Wed-14-16-Group-16/ELEC5620-demo/blob/main/docs/diagrams/requirements_member_c.puml</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spoken. Feature diagram — audit support system</a:t>
            </a:r>
          </a:p>
          <a:p/>
          <a:p>
            <a:r>
              <a:t>https://github.sydney.edu.au/ELEC5620-Wed-14-16-Group-16/ELEC5620-demo/blob/main/docs/diagrams/feature.puml</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spoken. Structured class — A1 Orchestrator</a:t>
            </a:r>
          </a:p>
          <a:p/>
          <a:p>
            <a:r>
              <a:t>https://github.sydney.edu.au/ELEC5620-Wed-14-16-Group-16/ELEC5620-demo/blob/main/docs/diagrams/structured_class_a1.puml</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spoken. Collaboration — one exception review</a:t>
            </a:r>
          </a:p>
          <a:p/>
          <a:p>
            <a:r>
              <a:t>https://github.sydney.edu.au/ELEC5620-Wed-14-16-Group-16/ELEC5620-demo/blob/main/docs/diagrams/collaboration_review.puml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github.sydney.edu.au/ELEC5620-Wed-14-16-Group-16/ELEC5620-demo/blob/main/docs/diagrams/class_agents.puml" TargetMode="Externa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github.sydney.edu.au/ELEC5620-Wed-14-16-Group-16/ELEC5620-demo/blob/main/docs/diagrams/state_main.puml" TargetMode="Externa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github.sydney.edu.au/ELEC5620-Wed-14-16-Group-16/ELEC5620-demo/blob/main/docs/diagrams/usecase.puml" TargetMode="Externa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hyperlink" Target="https://github.sydney.edu.au/ELEC5620-Wed-14-16-Group-16/ELEC5620-demo/blob/main/docs/diagrams/class_domain.puml" TargetMode="Externa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github.sydney.edu.au/ELEC5620-Wed-14-16-Group-16/ELEC5620-demo/blob/main/docs/diagrams/class_agents.puml" TargetMode="Externa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hyperlink" Target="https://github.sydney.edu.au/ELEC5620-Wed-14-16-Group-16/ELEC5620-demo/blob/main/docs/diagrams/package.puml" TargetMode="Externa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github.sydney.edu.au/ELEC5620-Wed-14-16-Group-16/ELEC5620-demo/blob/main/docs/diagrams/state_main.puml" TargetMode="Externa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hyperlink" Target="https://github.sydney.edu.au/ELEC5620-Wed-14-16-Group-16/ELEC5620-demo/blob/main/docs/diagrams/state_objects.puml" TargetMode="Externa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hyperlink" Target="https://github.sydney.edu.au/ELEC5620-Wed-14-16-Group-16/ELEC5620-demo/blob/main/docs/diagrams/state_objects_member_b.puml" TargetMode="Externa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hyperlink" Target="https://github.sydney.edu.au/ELEC5620-Wed-14-16-Group-16/ELEC5620-demo/blob/main/docs/diagrams/state_objects_member_c.puml" TargetMode="Externa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hyperlink" Target="https://github.sydney.edu.au/ELEC5620-Wed-14-16-Group-16/ELEC5620-demo/blob/main/docs/diagrams/activity_fieldwork.puml" TargetMode="Externa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hyperlink" Target="https://github.sydney.edu.au/ELEC5620-Wed-14-16-Group-16/ELEC5620-demo/blob/main/docs/diagrams/activity_planning.puml" TargetMode="Externa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hyperlink" Target="https://github.sydney.edu.au/ELEC5620-Wed-14-16-Group-16/ELEC5620-demo/blob/main/docs/diagrams/activity_execution.puml" TargetMode="Externa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hyperlink" Target="https://github.sydney.edu.au/ELEC5620-Wed-14-16-Group-16/ELEC5620-demo/blob/main/docs/diagrams/activity_procedure.puml" TargetMode="Externa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hyperlink" Target="https://github.sydney.edu.au/ELEC5620-Wed-14-16-Group-16/ELEC5620-demo/blob/main/docs/diagrams/sequence_risk_assessment.puml" TargetMode="Externa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hyperlink" Target="https://github.sydney.edu.au/ELEC5620-Wed-14-16-Group-16/ELEC5620-demo/blob/main/docs/diagrams/sequence_failure_paths.puml" TargetMode="Externa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github.sydney.edu.au/ELEC5620-Wed-14-16-Group-16/ELEC5620-demo/blob/main/docs/diagrams/usecase.puml" TargetMode="Externa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hyperlink" Target="https://github.sydney.edu.au/ELEC5620-Wed-14-16-Group-16/ELEC5620-demo/blob/main/docs/diagrams/usecase_spec_member_a.puml" TargetMode="Externa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hyperlink" Target="https://github.sydney.edu.au/ELEC5620-Wed-14-16-Group-16/ELEC5620-demo/blob/main/docs/diagrams/usecase_spec_member_b.puml" TargetMode="Externa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hyperlink" Target="https://github.sydney.edu.au/ELEC5620-Wed-14-16-Group-16/ELEC5620-demo/blob/main/docs/diagrams/usecase_spec_member_c.puml" TargetMode="Externa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hyperlink" Target="https://github.sydney.edu.au/ELEC5620-Wed-14-16-Group-16/ELEC5620-demo/blob/main/docs/diagrams/requirements.puml" TargetMode="Externa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hyperlink" Target="https://github.sydney.edu.au/ELEC5620-Wed-14-16-Group-16/ELEC5620-demo/blob/main/docs/diagrams/requirements_member_a.puml" TargetMode="Externa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hyperlink" Target="https://github.sydney.edu.au/ELEC5620-Wed-14-16-Group-16/ELEC5620-demo/blob/main/docs/diagrams/requirements_member_b.puml" TargetMode="Externa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hyperlink" Target="https://github.sydney.edu.au/ELEC5620-Wed-14-16-Group-16/ELEC5620-demo/blob/main/docs/diagrams/requirements_member_c.puml" TargetMode="Externa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hyperlink" Target="https://github.sydney.edu.au/ELEC5620-Wed-14-16-Group-16/ELEC5620-demo/blob/main/docs/diagrams/feature.puml" TargetMode="Externa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hyperlink" Target="https://github.sydney.edu.au/ELEC5620-Wed-14-16-Group-16/ELEC5620-demo/blob/main/docs/diagrams/structured_class_a1.puml" TargetMode="Externa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hyperlink" Target="https://github.sydney.edu.au/ELEC5620-Wed-14-16-Group-16/ELEC5620-demo/blob/main/docs/diagrams/collaboration_review.puml" TargetMode="External"/><Relationship Id="rId4" Type="http://schemas.openxmlformats.org/officeDocument/2006/relationships/notesSlide" Target="../notesSlides/notesSlide3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048"/>
        </a:solidFill>
        <a:effectLst/>
      </p:bgPr>
    </p:bg>
    <p:spTree>
      <p:nvGrpSpPr>
        <p:cNvPr id="1" name=""/>
        <p:cNvGrpSpPr/>
        <p:nvPr/>
      </p:nvGrpSpPr>
      <p:grpSpPr/>
      <p:sp>
        <p:nvSpPr>
          <p:cNvPr id="2" name="TextBox 1"/>
          <p:cNvSpPr txBox="1"/>
          <p:nvPr/>
        </p:nvSpPr>
        <p:spPr>
          <a:xfrm>
            <a:off x="457200" y="347472"/>
            <a:ext cx="7315200" cy="274320"/>
          </a:xfrm>
          <a:prstGeom prst="rect">
            <a:avLst/>
          </a:prstGeom>
          <a:noFill/>
        </p:spPr>
        <p:txBody>
          <a:bodyPr wrap="square" lIns="0" rIns="0" tIns="0" bIns="0" anchor="t"/>
          <a:lstStyle/>
          <a:p>
            <a:pPr algn="l"/>
            <a:r>
              <a:rPr sz="1300" b="1">
                <a:solidFill>
                  <a:srgbClr val="C4A574"/>
                </a:solidFill>
                <a:latin typeface="Calibri"/>
              </a:rPr>
              <a:t>ELEC5620  ·  GROUP 16</a:t>
            </a:r>
          </a:p>
        </p:txBody>
      </p:sp>
      <p:sp>
        <p:nvSpPr>
          <p:cNvPr id="3" name="TextBox 2"/>
          <p:cNvSpPr txBox="1"/>
          <p:nvPr/>
        </p:nvSpPr>
        <p:spPr>
          <a:xfrm>
            <a:off x="7772400" y="347472"/>
            <a:ext cx="3931920" cy="274320"/>
          </a:xfrm>
          <a:prstGeom prst="rect">
            <a:avLst/>
          </a:prstGeom>
          <a:noFill/>
        </p:spPr>
        <p:txBody>
          <a:bodyPr wrap="square" lIns="0" rIns="0" tIns="0" bIns="0" anchor="t"/>
          <a:lstStyle/>
          <a:p>
            <a:pPr algn="r"/>
            <a:r>
              <a:rPr sz="1300" b="1">
                <a:solidFill>
                  <a:srgbClr val="C4A574"/>
                </a:solidFill>
                <a:latin typeface="Calibri"/>
              </a:rPr>
              <a:t>ABOUT 8 MINUTES</a:t>
            </a:r>
          </a:p>
        </p:txBody>
      </p:sp>
      <p:sp>
        <p:nvSpPr>
          <p:cNvPr id="4" name="TextBox 3"/>
          <p:cNvSpPr txBox="1"/>
          <p:nvPr/>
        </p:nvSpPr>
        <p:spPr>
          <a:xfrm>
            <a:off x="457200" y="1234440"/>
            <a:ext cx="10972800" cy="1554480"/>
          </a:xfrm>
          <a:prstGeom prst="rect">
            <a:avLst/>
          </a:prstGeom>
          <a:noFill/>
        </p:spPr>
        <p:txBody>
          <a:bodyPr wrap="square" lIns="0" rIns="0" tIns="0" bIns="0" anchor="t"/>
          <a:lstStyle/>
          <a:p>
            <a:pPr algn="l"/>
            <a:r>
              <a:rPr sz="4000" b="1">
                <a:solidFill>
                  <a:srgbClr val="F4EFE6"/>
                </a:solidFill>
                <a:latin typeface="Calibri"/>
              </a:rPr>
              <a:t>A multi-agent audit
support system</a:t>
            </a:r>
          </a:p>
        </p:txBody>
      </p:sp>
      <p:sp>
        <p:nvSpPr>
          <p:cNvPr id="5" name="TextBox 4"/>
          <p:cNvSpPr txBox="1"/>
          <p:nvPr/>
        </p:nvSpPr>
        <p:spPr>
          <a:xfrm>
            <a:off x="457200" y="2880360"/>
            <a:ext cx="10515600" cy="640080"/>
          </a:xfrm>
          <a:prstGeom prst="rect">
            <a:avLst/>
          </a:prstGeom>
          <a:noFill/>
        </p:spPr>
        <p:txBody>
          <a:bodyPr wrap="square" lIns="0" rIns="0" tIns="0" bIns="0" anchor="t"/>
          <a:lstStyle/>
          <a:p>
            <a:pPr algn="l"/>
            <a:r>
              <a:rPr sz="1800" b="0">
                <a:solidFill>
                  <a:srgbClr val="DDD4C6"/>
                </a:solidFill>
                <a:latin typeface="Calibri"/>
              </a:rPr>
              <a:t>One registered company auditor can complete a statutory audit. Agents run procedures and read evidence. The opinion and the signature stay with the auditor.</a:t>
            </a:r>
          </a:p>
        </p:txBody>
      </p:sp>
      <p:sp>
        <p:nvSpPr>
          <p:cNvPr id="6" name="Rectangle 5"/>
          <p:cNvSpPr/>
          <p:nvPr/>
        </p:nvSpPr>
        <p:spPr>
          <a:xfrm>
            <a:off x="457200" y="3703320"/>
            <a:ext cx="11247120" cy="15875"/>
          </a:xfrm>
          <a:prstGeom prst="rect">
            <a:avLst/>
          </a:prstGeom>
          <a:solidFill>
            <a:srgbClr val="C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4023360"/>
            <a:ext cx="3611880" cy="1417320"/>
          </a:xfrm>
          <a:prstGeom prst="roundRect">
            <a:avLst>
              <a:gd name="adj" fmla="val 8000"/>
            </a:avLst>
          </a:prstGeom>
          <a:solidFill>
            <a:srgbClr val="243C56"/>
          </a:solidFill>
          <a:ln w="12700">
            <a:solidFill>
              <a:srgbClr val="3A52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4160520"/>
            <a:ext cx="3200400" cy="320040"/>
          </a:xfrm>
          <a:prstGeom prst="rect">
            <a:avLst/>
          </a:prstGeom>
          <a:noFill/>
        </p:spPr>
        <p:txBody>
          <a:bodyPr wrap="square" lIns="0" rIns="0" tIns="0" bIns="0" anchor="t"/>
          <a:lstStyle/>
          <a:p>
            <a:pPr algn="l"/>
            <a:r>
              <a:rPr sz="1800" b="1">
                <a:solidFill>
                  <a:srgbClr val="F4EFE6"/>
                </a:solidFill>
                <a:latin typeface="Calibri"/>
              </a:rPr>
              <a:t>Member C</a:t>
            </a:r>
          </a:p>
        </p:txBody>
      </p:sp>
      <p:sp>
        <p:nvSpPr>
          <p:cNvPr id="9" name="TextBox 8"/>
          <p:cNvSpPr txBox="1"/>
          <p:nvPr/>
        </p:nvSpPr>
        <p:spPr>
          <a:xfrm>
            <a:off x="640080" y="4526280"/>
            <a:ext cx="3200400" cy="365760"/>
          </a:xfrm>
          <a:prstGeom prst="rect">
            <a:avLst/>
          </a:prstGeom>
          <a:noFill/>
        </p:spPr>
        <p:txBody>
          <a:bodyPr wrap="square" lIns="0" rIns="0" tIns="0" bIns="0" anchor="t"/>
          <a:lstStyle/>
          <a:p>
            <a:pPr algn="l"/>
            <a:r>
              <a:rPr sz="1500" b="0">
                <a:solidFill>
                  <a:srgbClr val="C9BFB2"/>
                </a:solidFill>
                <a:latin typeface="Calibri"/>
              </a:rPr>
              <a:t>Positioning and functions</a:t>
            </a:r>
          </a:p>
        </p:txBody>
      </p:sp>
      <p:sp>
        <p:nvSpPr>
          <p:cNvPr id="10" name="TextBox 9"/>
          <p:cNvSpPr txBox="1"/>
          <p:nvPr/>
        </p:nvSpPr>
        <p:spPr>
          <a:xfrm>
            <a:off x="640080" y="4937760"/>
            <a:ext cx="3200400" cy="320040"/>
          </a:xfrm>
          <a:prstGeom prst="rect">
            <a:avLst/>
          </a:prstGeom>
          <a:noFill/>
        </p:spPr>
        <p:txBody>
          <a:bodyPr wrap="square" lIns="0" rIns="0" tIns="0" bIns="0" anchor="t"/>
          <a:lstStyle/>
          <a:p>
            <a:pPr algn="l"/>
            <a:r>
              <a:rPr sz="1400" b="0">
                <a:solidFill>
                  <a:srgbClr val="C4A574"/>
                </a:solidFill>
                <a:latin typeface="Calibri"/>
              </a:rPr>
              <a:t>about 2 min 20 s</a:t>
            </a:r>
          </a:p>
        </p:txBody>
      </p:sp>
      <p:sp>
        <p:nvSpPr>
          <p:cNvPr id="11" name="Rounded Rectangle 10"/>
          <p:cNvSpPr/>
          <p:nvPr/>
        </p:nvSpPr>
        <p:spPr>
          <a:xfrm>
            <a:off x="4297680" y="4023360"/>
            <a:ext cx="3611880" cy="1417320"/>
          </a:xfrm>
          <a:prstGeom prst="roundRect">
            <a:avLst>
              <a:gd name="adj" fmla="val 8000"/>
            </a:avLst>
          </a:prstGeom>
          <a:solidFill>
            <a:srgbClr val="243C56"/>
          </a:solidFill>
          <a:ln w="12700">
            <a:solidFill>
              <a:srgbClr val="3A52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4160520"/>
            <a:ext cx="3200400" cy="320040"/>
          </a:xfrm>
          <a:prstGeom prst="rect">
            <a:avLst/>
          </a:prstGeom>
          <a:noFill/>
        </p:spPr>
        <p:txBody>
          <a:bodyPr wrap="square" lIns="0" rIns="0" tIns="0" bIns="0" anchor="t"/>
          <a:lstStyle/>
          <a:p>
            <a:pPr algn="l"/>
            <a:r>
              <a:rPr sz="1800" b="1">
                <a:solidFill>
                  <a:srgbClr val="F4EFE6"/>
                </a:solidFill>
                <a:latin typeface="Calibri"/>
              </a:rPr>
              <a:t>Member A</a:t>
            </a:r>
          </a:p>
        </p:txBody>
      </p:sp>
      <p:sp>
        <p:nvSpPr>
          <p:cNvPr id="13" name="TextBox 12"/>
          <p:cNvSpPr txBox="1"/>
          <p:nvPr/>
        </p:nvSpPr>
        <p:spPr>
          <a:xfrm>
            <a:off x="4480560" y="4526280"/>
            <a:ext cx="3200400" cy="365760"/>
          </a:xfrm>
          <a:prstGeom prst="rect">
            <a:avLst/>
          </a:prstGeom>
          <a:noFill/>
        </p:spPr>
        <p:txBody>
          <a:bodyPr wrap="square" lIns="0" rIns="0" tIns="0" bIns="0" anchor="t"/>
          <a:lstStyle/>
          <a:p>
            <a:pPr algn="l"/>
            <a:r>
              <a:rPr sz="1500" b="0">
                <a:solidFill>
                  <a:srgbClr val="C9BFB2"/>
                </a:solidFill>
                <a:latin typeface="Calibri"/>
              </a:rPr>
              <a:t>Agents and design models</a:t>
            </a:r>
          </a:p>
        </p:txBody>
      </p:sp>
      <p:sp>
        <p:nvSpPr>
          <p:cNvPr id="14" name="TextBox 13"/>
          <p:cNvSpPr txBox="1"/>
          <p:nvPr/>
        </p:nvSpPr>
        <p:spPr>
          <a:xfrm>
            <a:off x="4480560" y="4937760"/>
            <a:ext cx="3200400" cy="320040"/>
          </a:xfrm>
          <a:prstGeom prst="rect">
            <a:avLst/>
          </a:prstGeom>
          <a:noFill/>
        </p:spPr>
        <p:txBody>
          <a:bodyPr wrap="square" lIns="0" rIns="0" tIns="0" bIns="0" anchor="t"/>
          <a:lstStyle/>
          <a:p>
            <a:pPr algn="l"/>
            <a:r>
              <a:rPr sz="1400" b="0">
                <a:solidFill>
                  <a:srgbClr val="C4A574"/>
                </a:solidFill>
                <a:latin typeface="Calibri"/>
              </a:rPr>
              <a:t>about 2 min 50 s</a:t>
            </a:r>
          </a:p>
        </p:txBody>
      </p:sp>
      <p:sp>
        <p:nvSpPr>
          <p:cNvPr id="15" name="Rounded Rectangle 14"/>
          <p:cNvSpPr/>
          <p:nvPr/>
        </p:nvSpPr>
        <p:spPr>
          <a:xfrm>
            <a:off x="8138160" y="4023360"/>
            <a:ext cx="3611880" cy="1417320"/>
          </a:xfrm>
          <a:prstGeom prst="roundRect">
            <a:avLst>
              <a:gd name="adj" fmla="val 8000"/>
            </a:avLst>
          </a:prstGeom>
          <a:solidFill>
            <a:srgbClr val="243C56"/>
          </a:solidFill>
          <a:ln w="12700">
            <a:solidFill>
              <a:srgbClr val="3A52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0" y="4160520"/>
            <a:ext cx="3200400" cy="320040"/>
          </a:xfrm>
          <a:prstGeom prst="rect">
            <a:avLst/>
          </a:prstGeom>
          <a:noFill/>
        </p:spPr>
        <p:txBody>
          <a:bodyPr wrap="square" lIns="0" rIns="0" tIns="0" bIns="0" anchor="t"/>
          <a:lstStyle/>
          <a:p>
            <a:pPr algn="l"/>
            <a:r>
              <a:rPr sz="1800" b="1">
                <a:solidFill>
                  <a:srgbClr val="F4EFE6"/>
                </a:solidFill>
                <a:latin typeface="Calibri"/>
              </a:rPr>
              <a:t>Member B</a:t>
            </a:r>
          </a:p>
        </p:txBody>
      </p:sp>
      <p:sp>
        <p:nvSpPr>
          <p:cNvPr id="17" name="TextBox 16"/>
          <p:cNvSpPr txBox="1"/>
          <p:nvPr/>
        </p:nvSpPr>
        <p:spPr>
          <a:xfrm>
            <a:off x="8321040" y="4526280"/>
            <a:ext cx="3200400" cy="365760"/>
          </a:xfrm>
          <a:prstGeom prst="rect">
            <a:avLst/>
          </a:prstGeom>
          <a:noFill/>
        </p:spPr>
        <p:txBody>
          <a:bodyPr wrap="square" lIns="0" rIns="0" tIns="0" bIns="0" anchor="t"/>
          <a:lstStyle/>
          <a:p>
            <a:pPr algn="l"/>
            <a:r>
              <a:rPr sz="1500" b="0">
                <a:solidFill>
                  <a:srgbClr val="C9BFB2"/>
                </a:solidFill>
                <a:latin typeface="Calibri"/>
              </a:rPr>
              <a:t>Use cases and one full line</a:t>
            </a:r>
          </a:p>
        </p:txBody>
      </p:sp>
      <p:sp>
        <p:nvSpPr>
          <p:cNvPr id="18" name="TextBox 17"/>
          <p:cNvSpPr txBox="1"/>
          <p:nvPr/>
        </p:nvSpPr>
        <p:spPr>
          <a:xfrm>
            <a:off x="8321040" y="4937760"/>
            <a:ext cx="3200400" cy="320040"/>
          </a:xfrm>
          <a:prstGeom prst="rect">
            <a:avLst/>
          </a:prstGeom>
          <a:noFill/>
        </p:spPr>
        <p:txBody>
          <a:bodyPr wrap="square" lIns="0" rIns="0" tIns="0" bIns="0" anchor="t"/>
          <a:lstStyle/>
          <a:p>
            <a:pPr algn="l"/>
            <a:r>
              <a:rPr sz="1400" b="0">
                <a:solidFill>
                  <a:srgbClr val="C4A574"/>
                </a:solidFill>
                <a:latin typeface="Calibri"/>
              </a:rPr>
              <a:t>about 2 min 30 s</a:t>
            </a:r>
          </a:p>
        </p:txBody>
      </p:sp>
      <p:sp>
        <p:nvSpPr>
          <p:cNvPr id="19" name="TextBox 18"/>
          <p:cNvSpPr txBox="1"/>
          <p:nvPr/>
        </p:nvSpPr>
        <p:spPr>
          <a:xfrm>
            <a:off x="411480" y="6510528"/>
            <a:ext cx="5486400" cy="256032"/>
          </a:xfrm>
          <a:prstGeom prst="rect">
            <a:avLst/>
          </a:prstGeom>
          <a:noFill/>
        </p:spPr>
        <p:txBody>
          <a:bodyPr wrap="square" lIns="0" rIns="0" tIns="0" bIns="0" anchor="t"/>
          <a:lstStyle/>
          <a:p>
            <a:pPr algn="l"/>
            <a:r>
              <a:rPr sz="1200" b="0">
                <a:solidFill>
                  <a:srgbClr val="B7AD9F"/>
                </a:solidFill>
                <a:latin typeface="Calibri"/>
              </a:rPr>
              <a:t>ELEC5620 · Group 16</a:t>
            </a:r>
          </a:p>
        </p:txBody>
      </p:sp>
      <p:sp>
        <p:nvSpPr>
          <p:cNvPr id="20" name="TextBox 19"/>
          <p:cNvSpPr txBox="1"/>
          <p:nvPr/>
        </p:nvSpPr>
        <p:spPr>
          <a:xfrm>
            <a:off x="9509760" y="6510528"/>
            <a:ext cx="2286000" cy="256032"/>
          </a:xfrm>
          <a:prstGeom prst="rect">
            <a:avLst/>
          </a:prstGeom>
          <a:noFill/>
        </p:spPr>
        <p:txBody>
          <a:bodyPr wrap="square" lIns="0" rIns="0" tIns="0" bIns="0" anchor="t"/>
          <a:lstStyle/>
          <a:p>
            <a:pPr algn="r"/>
            <a:r>
              <a:rPr sz="1200" b="0">
                <a:solidFill>
                  <a:srgbClr val="B7AD9F"/>
                </a:solidFill>
                <a:latin typeface="Calibri"/>
              </a:rPr>
              <a:t>1 / 36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411480" y="256032"/>
            <a:ext cx="3840480" cy="256032"/>
          </a:xfrm>
          <a:prstGeom prst="rect">
            <a:avLst/>
          </a:prstGeom>
          <a:noFill/>
        </p:spPr>
        <p:txBody>
          <a:bodyPr wrap="square" lIns="0" rIns="0" tIns="0" bIns="0" anchor="t"/>
          <a:lstStyle/>
          <a:p>
            <a:pPr algn="l"/>
            <a:r>
              <a:rPr sz="1200" b="1">
                <a:solidFill>
                  <a:srgbClr val="0F5E5A"/>
                </a:solidFill>
                <a:latin typeface="Calibri"/>
              </a:rPr>
              <a:t>MEMBER C</a:t>
            </a:r>
          </a:p>
        </p:txBody>
      </p:sp>
      <p:sp>
        <p:nvSpPr>
          <p:cNvPr id="3" name="Rounded Rectangle 2"/>
          <p:cNvSpPr/>
          <p:nvPr/>
        </p:nvSpPr>
        <p:spPr>
          <a:xfrm>
            <a:off x="4114800" y="237744"/>
            <a:ext cx="2103120" cy="274320"/>
          </a:xfrm>
          <a:prstGeom prst="roundRect">
            <a:avLst>
              <a:gd name="adj" fmla="val 8000"/>
            </a:avLst>
          </a:prstGeom>
          <a:solidFill>
            <a:srgbClr val="F7F4EE"/>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0" y="237744"/>
            <a:ext cx="2103120" cy="274320"/>
          </a:xfrm>
          <a:prstGeom prst="rect">
            <a:avLst/>
          </a:prstGeom>
          <a:noFill/>
        </p:spPr>
        <p:txBody>
          <a:bodyPr wrap="square" lIns="0" rIns="0" tIns="0" bIns="0" anchor="ctr"/>
          <a:lstStyle/>
          <a:p>
            <a:pPr algn="ctr"/>
            <a:r>
              <a:rPr sz="1200" b="0">
                <a:solidFill>
                  <a:srgbClr val="5E584F"/>
                </a:solidFill>
                <a:latin typeface="Calibri"/>
              </a:rPr>
              <a:t>Positioning</a:t>
            </a:r>
          </a:p>
        </p:txBody>
      </p:sp>
      <p:sp>
        <p:nvSpPr>
          <p:cNvPr id="5" name="TextBox 4"/>
          <p:cNvSpPr txBox="1"/>
          <p:nvPr/>
        </p:nvSpPr>
        <p:spPr>
          <a:xfrm>
            <a:off x="411480" y="621792"/>
            <a:ext cx="11338560" cy="502920"/>
          </a:xfrm>
          <a:prstGeom prst="rect">
            <a:avLst/>
          </a:prstGeom>
          <a:noFill/>
        </p:spPr>
        <p:txBody>
          <a:bodyPr wrap="square" lIns="0" rIns="0" tIns="0" bIns="0" anchor="t"/>
          <a:lstStyle/>
          <a:p>
            <a:pPr algn="l"/>
            <a:r>
              <a:rPr sz="2800" b="1">
                <a:solidFill>
                  <a:srgbClr val="1C1915"/>
                </a:solidFill>
                <a:latin typeface="Calibri"/>
              </a:rPr>
              <a:t>Audit support: the opinion stays with the auditor</a:t>
            </a:r>
          </a:p>
        </p:txBody>
      </p:sp>
      <p:sp>
        <p:nvSpPr>
          <p:cNvPr id="6" name="Rounded Rectangle 5"/>
          <p:cNvSpPr/>
          <p:nvPr/>
        </p:nvSpPr>
        <p:spPr>
          <a:xfrm>
            <a:off x="411480" y="1417320"/>
            <a:ext cx="3703320" cy="379476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417320"/>
            <a:ext cx="73152" cy="3794760"/>
          </a:xfrm>
          <a:prstGeom prst="rect">
            <a:avLst/>
          </a:prstGeom>
          <a:solidFill>
            <a:srgbClr val="0F5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 y="1572768"/>
            <a:ext cx="3291840" cy="256032"/>
          </a:xfrm>
          <a:prstGeom prst="rect">
            <a:avLst/>
          </a:prstGeom>
          <a:noFill/>
        </p:spPr>
        <p:txBody>
          <a:bodyPr wrap="square" lIns="0" rIns="0" tIns="0" bIns="0" anchor="t"/>
          <a:lstStyle/>
          <a:p>
            <a:pPr algn="l"/>
            <a:r>
              <a:rPr sz="1200" b="1">
                <a:solidFill>
                  <a:srgbClr val="0F5E5A"/>
                </a:solidFill>
                <a:latin typeface="Calibri"/>
              </a:rPr>
              <a:t>USER</a:t>
            </a:r>
          </a:p>
        </p:txBody>
      </p:sp>
      <p:sp>
        <p:nvSpPr>
          <p:cNvPr id="9" name="TextBox 8"/>
          <p:cNvSpPr txBox="1"/>
          <p:nvPr/>
        </p:nvSpPr>
        <p:spPr>
          <a:xfrm>
            <a:off x="667512" y="1874519"/>
            <a:ext cx="3291840" cy="822960"/>
          </a:xfrm>
          <a:prstGeom prst="rect">
            <a:avLst/>
          </a:prstGeom>
          <a:noFill/>
        </p:spPr>
        <p:txBody>
          <a:bodyPr wrap="square" lIns="0" rIns="0" tIns="0" bIns="0" anchor="t"/>
          <a:lstStyle/>
          <a:p>
            <a:pPr algn="l"/>
            <a:r>
              <a:rPr sz="1800" b="1">
                <a:solidFill>
                  <a:srgbClr val="1C1915"/>
                </a:solidFill>
                <a:latin typeface="Calibri"/>
              </a:rPr>
              <a:t>A sole-practitioner registered company auditor</a:t>
            </a:r>
          </a:p>
        </p:txBody>
      </p:sp>
      <p:sp>
        <p:nvSpPr>
          <p:cNvPr id="10" name="TextBox 9"/>
          <p:cNvSpPr txBox="1"/>
          <p:nvPr/>
        </p:nvSpPr>
        <p:spPr>
          <a:xfrm>
            <a:off x="667512" y="2788920"/>
            <a:ext cx="3291840" cy="2103120"/>
          </a:xfrm>
          <a:prstGeom prst="rect">
            <a:avLst/>
          </a:prstGeom>
          <a:noFill/>
        </p:spPr>
        <p:txBody>
          <a:bodyPr wrap="square" lIns="0" rIns="0" tIns="0" bIns="0" anchor="t"/>
          <a:lstStyle/>
          <a:p>
            <a:pPr algn="l"/>
            <a:r>
              <a:rPr sz="1500" b="0">
                <a:solidFill>
                  <a:srgbClr val="1C1915"/>
                </a:solidFill>
                <a:latin typeface="Calibri"/>
              </a:rPr>
              <a:t>One person covers acceptance, planning, execution, completion, and reporting. The system takes the procedures it can run. The decisions that must be personal stay with the auditor.</a:t>
            </a:r>
          </a:p>
        </p:txBody>
      </p:sp>
      <p:sp>
        <p:nvSpPr>
          <p:cNvPr id="11" name="Rounded Rectangle 10"/>
          <p:cNvSpPr/>
          <p:nvPr/>
        </p:nvSpPr>
        <p:spPr>
          <a:xfrm>
            <a:off x="4297680" y="1417320"/>
            <a:ext cx="3703320" cy="379476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97680" y="1417320"/>
            <a:ext cx="73152" cy="3794760"/>
          </a:xfrm>
          <a:prstGeom prst="rect">
            <a:avLst/>
          </a:prstGeom>
          <a:solidFill>
            <a:srgbClr val="1B30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1572768"/>
            <a:ext cx="3291840" cy="256032"/>
          </a:xfrm>
          <a:prstGeom prst="rect">
            <a:avLst/>
          </a:prstGeom>
          <a:noFill/>
        </p:spPr>
        <p:txBody>
          <a:bodyPr wrap="square" lIns="0" rIns="0" tIns="0" bIns="0" anchor="t"/>
          <a:lstStyle/>
          <a:p>
            <a:pPr algn="l"/>
            <a:r>
              <a:rPr sz="1200" b="1">
                <a:solidFill>
                  <a:srgbClr val="1B3048"/>
                </a:solidFill>
                <a:latin typeface="Calibri"/>
              </a:rPr>
              <a:t>SETTING</a:t>
            </a:r>
          </a:p>
        </p:txBody>
      </p:sp>
      <p:sp>
        <p:nvSpPr>
          <p:cNvPr id="14" name="TextBox 13"/>
          <p:cNvSpPr txBox="1"/>
          <p:nvPr/>
        </p:nvSpPr>
        <p:spPr>
          <a:xfrm>
            <a:off x="4553712" y="1874519"/>
            <a:ext cx="3291840" cy="822960"/>
          </a:xfrm>
          <a:prstGeom prst="rect">
            <a:avLst/>
          </a:prstGeom>
          <a:noFill/>
        </p:spPr>
        <p:txBody>
          <a:bodyPr wrap="square" lIns="0" rIns="0" tIns="0" bIns="0" anchor="t"/>
          <a:lstStyle/>
          <a:p>
            <a:pPr algn="l"/>
            <a:r>
              <a:rPr sz="1800" b="1">
                <a:solidFill>
                  <a:srgbClr val="1C1915"/>
                </a:solidFill>
                <a:latin typeface="Calibri"/>
              </a:rPr>
              <a:t>Australian statutory audit</a:t>
            </a:r>
          </a:p>
        </p:txBody>
      </p:sp>
      <p:sp>
        <p:nvSpPr>
          <p:cNvPr id="15" name="TextBox 14"/>
          <p:cNvSpPr txBox="1"/>
          <p:nvPr/>
        </p:nvSpPr>
        <p:spPr>
          <a:xfrm>
            <a:off x="4553712" y="2788920"/>
            <a:ext cx="3291840" cy="2103120"/>
          </a:xfrm>
          <a:prstGeom prst="rect">
            <a:avLst/>
          </a:prstGeom>
          <a:noFill/>
        </p:spPr>
        <p:txBody>
          <a:bodyPr wrap="square" lIns="0" rIns="0" tIns="0" bIns="0" anchor="t"/>
          <a:lstStyle/>
          <a:p>
            <a:pPr algn="l"/>
            <a:r>
              <a:rPr sz="1500" b="0">
                <a:solidFill>
                  <a:srgbClr val="1C1915"/>
                </a:solidFill>
                <a:latin typeface="Calibri"/>
              </a:rPr>
              <a:t>Auditing standards ASA.
Accounting standards AASB.
Corporations Act 2001.
ASIC, ASQM, and APES 110.</a:t>
            </a:r>
          </a:p>
        </p:txBody>
      </p:sp>
      <p:sp>
        <p:nvSpPr>
          <p:cNvPr id="16" name="Rounded Rectangle 15"/>
          <p:cNvSpPr/>
          <p:nvPr/>
        </p:nvSpPr>
        <p:spPr>
          <a:xfrm>
            <a:off x="8183879" y="1417320"/>
            <a:ext cx="3703320" cy="379476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83879" y="1417320"/>
            <a:ext cx="73152" cy="3794760"/>
          </a:xfrm>
          <a:prstGeom prst="rect">
            <a:avLst/>
          </a:prstGeom>
          <a:solidFill>
            <a:srgbClr val="8C4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39911" y="1572768"/>
            <a:ext cx="3291840" cy="256032"/>
          </a:xfrm>
          <a:prstGeom prst="rect">
            <a:avLst/>
          </a:prstGeom>
          <a:noFill/>
        </p:spPr>
        <p:txBody>
          <a:bodyPr wrap="square" lIns="0" rIns="0" tIns="0" bIns="0" anchor="t"/>
          <a:lstStyle/>
          <a:p>
            <a:pPr algn="l"/>
            <a:r>
              <a:rPr sz="1200" b="1">
                <a:solidFill>
                  <a:srgbClr val="8C4A1F"/>
                </a:solidFill>
                <a:latin typeface="Calibri"/>
              </a:rPr>
              <a:t>WHAT IT HOLDS</a:t>
            </a:r>
          </a:p>
        </p:txBody>
      </p:sp>
      <p:sp>
        <p:nvSpPr>
          <p:cNvPr id="19" name="TextBox 18"/>
          <p:cNvSpPr txBox="1"/>
          <p:nvPr/>
        </p:nvSpPr>
        <p:spPr>
          <a:xfrm>
            <a:off x="8439911" y="1874519"/>
            <a:ext cx="3291840" cy="822960"/>
          </a:xfrm>
          <a:prstGeom prst="rect">
            <a:avLst/>
          </a:prstGeom>
          <a:noFill/>
        </p:spPr>
        <p:txBody>
          <a:bodyPr wrap="square" lIns="0" rIns="0" tIns="0" bIns="0" anchor="t"/>
          <a:lstStyle/>
          <a:p>
            <a:pPr algn="l"/>
            <a:r>
              <a:rPr sz="1800" b="1">
                <a:solidFill>
                  <a:srgbClr val="1C1915"/>
                </a:solidFill>
                <a:latin typeface="Calibri"/>
              </a:rPr>
              <a:t>Three things the system does not take over</a:t>
            </a:r>
          </a:p>
        </p:txBody>
      </p:sp>
      <p:sp>
        <p:nvSpPr>
          <p:cNvPr id="20" name="TextBox 19"/>
          <p:cNvSpPr txBox="1"/>
          <p:nvPr/>
        </p:nvSpPr>
        <p:spPr>
          <a:xfrm>
            <a:off x="8439911" y="2788920"/>
            <a:ext cx="3291840" cy="2103120"/>
          </a:xfrm>
          <a:prstGeom prst="rect">
            <a:avLst/>
          </a:prstGeom>
          <a:noFill/>
        </p:spPr>
        <p:txBody>
          <a:bodyPr wrap="square" lIns="0" rIns="0" tIns="0" bIns="0" anchor="t"/>
          <a:lstStyle/>
          <a:p>
            <a:pPr algn="l"/>
            <a:r>
              <a:rPr sz="1500" b="0">
                <a:solidFill>
                  <a:srgbClr val="1C1915"/>
                </a:solidFill>
                <a:latin typeface="Calibri"/>
              </a:rPr>
              <a:t>The auditor issues the opinion.
A statutory decision is confirmed before the flow moves on.
Every judgment traces back to the original evidence.</a:t>
            </a:r>
          </a:p>
        </p:txBody>
      </p:sp>
      <p:sp>
        <p:nvSpPr>
          <p:cNvPr id="21" name="Rounded Rectangle 20"/>
          <p:cNvSpPr/>
          <p:nvPr/>
        </p:nvSpPr>
        <p:spPr>
          <a:xfrm>
            <a:off x="411480" y="5394960"/>
            <a:ext cx="11338560" cy="868680"/>
          </a:xfrm>
          <a:prstGeom prst="roundRect">
            <a:avLst>
              <a:gd name="adj" fmla="val 8000"/>
            </a:avLst>
          </a:prstGeom>
          <a:solidFill>
            <a:srgbClr val="E6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11480" y="5394960"/>
            <a:ext cx="73152" cy="868680"/>
          </a:xfrm>
          <a:prstGeom prst="rect">
            <a:avLst/>
          </a:prstGeom>
          <a:solidFill>
            <a:srgbClr val="0F5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5532120"/>
            <a:ext cx="10789920" cy="594360"/>
          </a:xfrm>
          <a:prstGeom prst="rect">
            <a:avLst/>
          </a:prstGeom>
          <a:noFill/>
        </p:spPr>
        <p:txBody>
          <a:bodyPr wrap="square" lIns="0" rIns="0" tIns="0" bIns="0" anchor="ctr"/>
          <a:lstStyle/>
          <a:p>
            <a:pPr algn="l"/>
            <a:r>
              <a:rPr sz="1600" b="0">
                <a:solidFill>
                  <a:srgbClr val="1C1915"/>
                </a:solidFill>
                <a:latin typeface="Calibri"/>
              </a:rPr>
              <a:t>The person keeps the judgment. The system runs the work, presents it, blocks it when it must, and keeps the record.</a:t>
            </a:r>
          </a:p>
        </p:txBody>
      </p:sp>
      <p:sp>
        <p:nvSpPr>
          <p:cNvPr id="24" name="TextBox 23"/>
          <p:cNvSpPr txBox="1"/>
          <p:nvPr/>
        </p:nvSpPr>
        <p:spPr>
          <a:xfrm>
            <a:off x="411480" y="6510528"/>
            <a:ext cx="5486400" cy="256032"/>
          </a:xfrm>
          <a:prstGeom prst="rect">
            <a:avLst/>
          </a:prstGeom>
          <a:noFill/>
        </p:spPr>
        <p:txBody>
          <a:bodyPr wrap="square" lIns="0" rIns="0" tIns="0" bIns="0" anchor="t"/>
          <a:lstStyle/>
          <a:p>
            <a:pPr algn="l"/>
            <a:r>
              <a:rPr sz="1200" b="0">
                <a:solidFill>
                  <a:srgbClr val="5E584F"/>
                </a:solidFill>
                <a:latin typeface="Calibri"/>
              </a:rPr>
              <a:t>ELEC5620 · Group 16</a:t>
            </a:r>
          </a:p>
        </p:txBody>
      </p:sp>
      <p:sp>
        <p:nvSpPr>
          <p:cNvPr id="25" name="TextBox 24"/>
          <p:cNvSpPr txBox="1"/>
          <p:nvPr/>
        </p:nvSpPr>
        <p:spPr>
          <a:xfrm>
            <a:off x="9509760" y="6510528"/>
            <a:ext cx="2286000" cy="256032"/>
          </a:xfrm>
          <a:prstGeom prst="rect">
            <a:avLst/>
          </a:prstGeom>
          <a:noFill/>
        </p:spPr>
        <p:txBody>
          <a:bodyPr wrap="square" lIns="0" rIns="0" tIns="0" bIns="0" anchor="t"/>
          <a:lstStyle/>
          <a:p>
            <a:pPr algn="r"/>
            <a:r>
              <a:rPr sz="1200" b="0">
                <a:solidFill>
                  <a:srgbClr val="5E584F"/>
                </a:solidFill>
                <a:latin typeface="Calibri"/>
              </a:rPr>
              <a:t>2 / 36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411480" y="256032"/>
            <a:ext cx="3840480" cy="256032"/>
          </a:xfrm>
          <a:prstGeom prst="rect">
            <a:avLst/>
          </a:prstGeom>
          <a:noFill/>
        </p:spPr>
        <p:txBody>
          <a:bodyPr wrap="square" lIns="0" rIns="0" tIns="0" bIns="0" anchor="t"/>
          <a:lstStyle/>
          <a:p>
            <a:pPr algn="l"/>
            <a:r>
              <a:rPr sz="1200" b="1">
                <a:solidFill>
                  <a:srgbClr val="0F5E5A"/>
                </a:solidFill>
                <a:latin typeface="Calibri"/>
              </a:rPr>
              <a:t>MEMBER C</a:t>
            </a:r>
          </a:p>
        </p:txBody>
      </p:sp>
      <p:sp>
        <p:nvSpPr>
          <p:cNvPr id="3" name="Rounded Rectangle 2"/>
          <p:cNvSpPr/>
          <p:nvPr/>
        </p:nvSpPr>
        <p:spPr>
          <a:xfrm>
            <a:off x="4114800" y="237744"/>
            <a:ext cx="2103120" cy="274320"/>
          </a:xfrm>
          <a:prstGeom prst="roundRect">
            <a:avLst>
              <a:gd name="adj" fmla="val 8000"/>
            </a:avLst>
          </a:prstGeom>
          <a:solidFill>
            <a:srgbClr val="F7F4EE"/>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0" y="237744"/>
            <a:ext cx="2103120" cy="274320"/>
          </a:xfrm>
          <a:prstGeom prst="rect">
            <a:avLst/>
          </a:prstGeom>
          <a:noFill/>
        </p:spPr>
        <p:txBody>
          <a:bodyPr wrap="square" lIns="0" rIns="0" tIns="0" bIns="0" anchor="ctr"/>
          <a:lstStyle/>
          <a:p>
            <a:pPr algn="ctr"/>
            <a:r>
              <a:rPr sz="1200" b="0">
                <a:solidFill>
                  <a:srgbClr val="5E584F"/>
                </a:solidFill>
                <a:latin typeface="Calibri"/>
              </a:rPr>
              <a:t>Functions</a:t>
            </a:r>
          </a:p>
        </p:txBody>
      </p:sp>
      <p:sp>
        <p:nvSpPr>
          <p:cNvPr id="5" name="TextBox 4"/>
          <p:cNvSpPr txBox="1"/>
          <p:nvPr/>
        </p:nvSpPr>
        <p:spPr>
          <a:xfrm>
            <a:off x="411480" y="621792"/>
            <a:ext cx="10972800" cy="457200"/>
          </a:xfrm>
          <a:prstGeom prst="rect">
            <a:avLst/>
          </a:prstGeom>
          <a:noFill/>
        </p:spPr>
        <p:txBody>
          <a:bodyPr wrap="square" lIns="0" rIns="0" tIns="0" bIns="0" anchor="t"/>
          <a:lstStyle/>
          <a:p>
            <a:pPr algn="l"/>
            <a:r>
              <a:rPr sz="2800" b="1">
                <a:solidFill>
                  <a:srgbClr val="1C1915"/>
                </a:solidFill>
                <a:latin typeface="Calibri"/>
              </a:rPr>
              <a:t>Five phases, four gates</a:t>
            </a:r>
          </a:p>
        </p:txBody>
      </p:sp>
      <p:sp>
        <p:nvSpPr>
          <p:cNvPr id="6" name="Rounded Rectangle 5"/>
          <p:cNvSpPr/>
          <p:nvPr/>
        </p:nvSpPr>
        <p:spPr>
          <a:xfrm>
            <a:off x="365760" y="1325880"/>
            <a:ext cx="2231136" cy="214884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3776" y="1444752"/>
            <a:ext cx="1920240" cy="256032"/>
          </a:xfrm>
          <a:prstGeom prst="rect">
            <a:avLst/>
          </a:prstGeom>
          <a:noFill/>
        </p:spPr>
        <p:txBody>
          <a:bodyPr wrap="square" lIns="0" rIns="0" tIns="0" bIns="0" anchor="t"/>
          <a:lstStyle/>
          <a:p>
            <a:pPr algn="l"/>
            <a:r>
              <a:rPr sz="1200" b="1">
                <a:solidFill>
                  <a:srgbClr val="0F5E5A"/>
                </a:solidFill>
                <a:latin typeface="Calibri"/>
              </a:rPr>
              <a:t>P0</a:t>
            </a:r>
          </a:p>
        </p:txBody>
      </p:sp>
      <p:sp>
        <p:nvSpPr>
          <p:cNvPr id="8" name="TextBox 7"/>
          <p:cNvSpPr txBox="1"/>
          <p:nvPr/>
        </p:nvSpPr>
        <p:spPr>
          <a:xfrm>
            <a:off x="493776" y="1719072"/>
            <a:ext cx="1965960" cy="365760"/>
          </a:xfrm>
          <a:prstGeom prst="rect">
            <a:avLst/>
          </a:prstGeom>
          <a:noFill/>
        </p:spPr>
        <p:txBody>
          <a:bodyPr wrap="square" lIns="0" rIns="0" tIns="0" bIns="0" anchor="t"/>
          <a:lstStyle/>
          <a:p>
            <a:pPr algn="l"/>
            <a:r>
              <a:rPr sz="1800" b="1">
                <a:solidFill>
                  <a:srgbClr val="1C1915"/>
                </a:solidFill>
                <a:latin typeface="Calibri"/>
              </a:rPr>
              <a:t>Acceptance</a:t>
            </a:r>
          </a:p>
        </p:txBody>
      </p:sp>
      <p:sp>
        <p:nvSpPr>
          <p:cNvPr id="9" name="TextBox 8"/>
          <p:cNvSpPr txBox="1"/>
          <p:nvPr/>
        </p:nvSpPr>
        <p:spPr>
          <a:xfrm>
            <a:off x="493776" y="2148840"/>
            <a:ext cx="1965960" cy="1143000"/>
          </a:xfrm>
          <a:prstGeom prst="rect">
            <a:avLst/>
          </a:prstGeom>
          <a:noFill/>
        </p:spPr>
        <p:txBody>
          <a:bodyPr wrap="square" lIns="0" rIns="0" tIns="0" bIns="0" anchor="t"/>
          <a:lstStyle/>
          <a:p>
            <a:pPr algn="l"/>
            <a:r>
              <a:rPr sz="1300" b="0">
                <a:solidFill>
                  <a:srgbClr val="5E584F"/>
                </a:solidFill>
                <a:latin typeface="Calibri"/>
              </a:rPr>
              <a:t>Check the ABN and the ASIC register. Prepare the acceptance file.</a:t>
            </a:r>
          </a:p>
        </p:txBody>
      </p:sp>
      <p:sp>
        <p:nvSpPr>
          <p:cNvPr id="10" name="Rounded Rectangle 9"/>
          <p:cNvSpPr/>
          <p:nvPr/>
        </p:nvSpPr>
        <p:spPr>
          <a:xfrm>
            <a:off x="2706624" y="1325880"/>
            <a:ext cx="2231136" cy="214884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34640" y="1444752"/>
            <a:ext cx="1920240" cy="256032"/>
          </a:xfrm>
          <a:prstGeom prst="rect">
            <a:avLst/>
          </a:prstGeom>
          <a:noFill/>
        </p:spPr>
        <p:txBody>
          <a:bodyPr wrap="square" lIns="0" rIns="0" tIns="0" bIns="0" anchor="t"/>
          <a:lstStyle/>
          <a:p>
            <a:pPr algn="l"/>
            <a:r>
              <a:rPr sz="1200" b="1">
                <a:solidFill>
                  <a:srgbClr val="0F5E5A"/>
                </a:solidFill>
                <a:latin typeface="Calibri"/>
              </a:rPr>
              <a:t>P1</a:t>
            </a:r>
          </a:p>
        </p:txBody>
      </p:sp>
      <p:sp>
        <p:nvSpPr>
          <p:cNvPr id="12" name="TextBox 11"/>
          <p:cNvSpPr txBox="1"/>
          <p:nvPr/>
        </p:nvSpPr>
        <p:spPr>
          <a:xfrm>
            <a:off x="2834640" y="1719072"/>
            <a:ext cx="1965960" cy="365760"/>
          </a:xfrm>
          <a:prstGeom prst="rect">
            <a:avLst/>
          </a:prstGeom>
          <a:noFill/>
        </p:spPr>
        <p:txBody>
          <a:bodyPr wrap="square" lIns="0" rIns="0" tIns="0" bIns="0" anchor="t"/>
          <a:lstStyle/>
          <a:p>
            <a:pPr algn="l"/>
            <a:r>
              <a:rPr sz="1800" b="1">
                <a:solidFill>
                  <a:srgbClr val="1C1915"/>
                </a:solidFill>
                <a:latin typeface="Calibri"/>
              </a:rPr>
              <a:t>Planning</a:t>
            </a:r>
          </a:p>
        </p:txBody>
      </p:sp>
      <p:sp>
        <p:nvSpPr>
          <p:cNvPr id="13" name="TextBox 12"/>
          <p:cNvSpPr txBox="1"/>
          <p:nvPr/>
        </p:nvSpPr>
        <p:spPr>
          <a:xfrm>
            <a:off x="2834640" y="2148840"/>
            <a:ext cx="1965960" cy="1143000"/>
          </a:xfrm>
          <a:prstGeom prst="rect">
            <a:avLst/>
          </a:prstGeom>
          <a:noFill/>
        </p:spPr>
        <p:txBody>
          <a:bodyPr wrap="square" lIns="0" rIns="0" tIns="0" bIns="0" anchor="t"/>
          <a:lstStyle/>
          <a:p>
            <a:pPr algn="l"/>
            <a:r>
              <a:rPr sz="1300" b="0">
                <a:solidFill>
                  <a:srgbClr val="5E584F"/>
                </a:solidFill>
                <a:latin typeface="Calibri"/>
              </a:rPr>
              <a:t>Extract contracts, run a first analysis, and propose materiality and risks.</a:t>
            </a:r>
          </a:p>
        </p:txBody>
      </p:sp>
      <p:sp>
        <p:nvSpPr>
          <p:cNvPr id="14" name="Rounded Rectangle 13"/>
          <p:cNvSpPr/>
          <p:nvPr/>
        </p:nvSpPr>
        <p:spPr>
          <a:xfrm>
            <a:off x="5047488" y="1325880"/>
            <a:ext cx="2231136" cy="214884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75504" y="1444752"/>
            <a:ext cx="1920240" cy="256032"/>
          </a:xfrm>
          <a:prstGeom prst="rect">
            <a:avLst/>
          </a:prstGeom>
          <a:noFill/>
        </p:spPr>
        <p:txBody>
          <a:bodyPr wrap="square" lIns="0" rIns="0" tIns="0" bIns="0" anchor="t"/>
          <a:lstStyle/>
          <a:p>
            <a:pPr algn="l"/>
            <a:r>
              <a:rPr sz="1200" b="1">
                <a:solidFill>
                  <a:srgbClr val="0F5E5A"/>
                </a:solidFill>
                <a:latin typeface="Calibri"/>
              </a:rPr>
              <a:t>P2</a:t>
            </a:r>
          </a:p>
        </p:txBody>
      </p:sp>
      <p:sp>
        <p:nvSpPr>
          <p:cNvPr id="16" name="TextBox 15"/>
          <p:cNvSpPr txBox="1"/>
          <p:nvPr/>
        </p:nvSpPr>
        <p:spPr>
          <a:xfrm>
            <a:off x="5175504" y="1719072"/>
            <a:ext cx="1965960" cy="365760"/>
          </a:xfrm>
          <a:prstGeom prst="rect">
            <a:avLst/>
          </a:prstGeom>
          <a:noFill/>
        </p:spPr>
        <p:txBody>
          <a:bodyPr wrap="square" lIns="0" rIns="0" tIns="0" bIns="0" anchor="t"/>
          <a:lstStyle/>
          <a:p>
            <a:pPr algn="l"/>
            <a:r>
              <a:rPr sz="1800" b="1">
                <a:solidFill>
                  <a:srgbClr val="1C1915"/>
                </a:solidFill>
                <a:latin typeface="Calibri"/>
              </a:rPr>
              <a:t>Execution</a:t>
            </a:r>
          </a:p>
        </p:txBody>
      </p:sp>
      <p:sp>
        <p:nvSpPr>
          <p:cNvPr id="17" name="TextBox 16"/>
          <p:cNvSpPr txBox="1"/>
          <p:nvPr/>
        </p:nvSpPr>
        <p:spPr>
          <a:xfrm>
            <a:off x="5175504" y="2148840"/>
            <a:ext cx="1965960" cy="1143000"/>
          </a:xfrm>
          <a:prstGeom prst="rect">
            <a:avLst/>
          </a:prstGeom>
          <a:noFill/>
        </p:spPr>
        <p:txBody>
          <a:bodyPr wrap="square" lIns="0" rIns="0" tIns="0" bIns="0" anchor="t"/>
          <a:lstStyle/>
          <a:p>
            <a:pPr algn="l"/>
            <a:r>
              <a:rPr sz="1300" b="0">
                <a:solidFill>
                  <a:srgbClr val="5E584F"/>
                </a:solidFill>
                <a:latin typeface="Calibri"/>
              </a:rPr>
              <a:t>Run procedures in dependency layers. The prototype follows revenue and bank confirmation.</a:t>
            </a:r>
          </a:p>
        </p:txBody>
      </p:sp>
      <p:sp>
        <p:nvSpPr>
          <p:cNvPr id="18" name="Rounded Rectangle 17"/>
          <p:cNvSpPr/>
          <p:nvPr/>
        </p:nvSpPr>
        <p:spPr>
          <a:xfrm>
            <a:off x="7388352" y="1325880"/>
            <a:ext cx="2231136" cy="214884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16368" y="1444752"/>
            <a:ext cx="1920240" cy="256032"/>
          </a:xfrm>
          <a:prstGeom prst="rect">
            <a:avLst/>
          </a:prstGeom>
          <a:noFill/>
        </p:spPr>
        <p:txBody>
          <a:bodyPr wrap="square" lIns="0" rIns="0" tIns="0" bIns="0" anchor="t"/>
          <a:lstStyle/>
          <a:p>
            <a:pPr algn="l"/>
            <a:r>
              <a:rPr sz="1200" b="1">
                <a:solidFill>
                  <a:srgbClr val="0F5E5A"/>
                </a:solidFill>
                <a:latin typeface="Calibri"/>
              </a:rPr>
              <a:t>P3</a:t>
            </a:r>
          </a:p>
        </p:txBody>
      </p:sp>
      <p:sp>
        <p:nvSpPr>
          <p:cNvPr id="20" name="TextBox 19"/>
          <p:cNvSpPr txBox="1"/>
          <p:nvPr/>
        </p:nvSpPr>
        <p:spPr>
          <a:xfrm>
            <a:off x="7516368" y="1719072"/>
            <a:ext cx="1965960" cy="365760"/>
          </a:xfrm>
          <a:prstGeom prst="rect">
            <a:avLst/>
          </a:prstGeom>
          <a:noFill/>
        </p:spPr>
        <p:txBody>
          <a:bodyPr wrap="square" lIns="0" rIns="0" tIns="0" bIns="0" anchor="t"/>
          <a:lstStyle/>
          <a:p>
            <a:pPr algn="l"/>
            <a:r>
              <a:rPr sz="1800" b="1">
                <a:solidFill>
                  <a:srgbClr val="1C1915"/>
                </a:solidFill>
                <a:latin typeface="Calibri"/>
              </a:rPr>
              <a:t>Completion</a:t>
            </a:r>
          </a:p>
        </p:txBody>
      </p:sp>
      <p:sp>
        <p:nvSpPr>
          <p:cNvPr id="21" name="TextBox 20"/>
          <p:cNvSpPr txBox="1"/>
          <p:nvPr/>
        </p:nvSpPr>
        <p:spPr>
          <a:xfrm>
            <a:off x="7516368" y="2148840"/>
            <a:ext cx="1965960" cy="1143000"/>
          </a:xfrm>
          <a:prstGeom prst="rect">
            <a:avLst/>
          </a:prstGeom>
          <a:noFill/>
        </p:spPr>
        <p:txBody>
          <a:bodyPr wrap="square" lIns="0" rIns="0" tIns="0" bIns="0" anchor="t"/>
          <a:lstStyle/>
          <a:p>
            <a:pPr algn="l"/>
            <a:r>
              <a:rPr sz="1300" b="0">
                <a:solidFill>
                  <a:srgbClr val="5E584F"/>
                </a:solidFill>
                <a:latin typeface="Calibri"/>
              </a:rPr>
              <a:t>Add up uncorrected misstatements and propose an opinion type.</a:t>
            </a:r>
          </a:p>
        </p:txBody>
      </p:sp>
      <p:sp>
        <p:nvSpPr>
          <p:cNvPr id="22" name="Rounded Rectangle 21"/>
          <p:cNvSpPr/>
          <p:nvPr/>
        </p:nvSpPr>
        <p:spPr>
          <a:xfrm>
            <a:off x="9729216" y="1325880"/>
            <a:ext cx="2231136" cy="214884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57232" y="1444752"/>
            <a:ext cx="1920240" cy="256032"/>
          </a:xfrm>
          <a:prstGeom prst="rect">
            <a:avLst/>
          </a:prstGeom>
          <a:noFill/>
        </p:spPr>
        <p:txBody>
          <a:bodyPr wrap="square" lIns="0" rIns="0" tIns="0" bIns="0" anchor="t"/>
          <a:lstStyle/>
          <a:p>
            <a:pPr algn="l"/>
            <a:r>
              <a:rPr sz="1200" b="1">
                <a:solidFill>
                  <a:srgbClr val="0F5E5A"/>
                </a:solidFill>
                <a:latin typeface="Calibri"/>
              </a:rPr>
              <a:t>P4</a:t>
            </a:r>
          </a:p>
        </p:txBody>
      </p:sp>
      <p:sp>
        <p:nvSpPr>
          <p:cNvPr id="24" name="TextBox 23"/>
          <p:cNvSpPr txBox="1"/>
          <p:nvPr/>
        </p:nvSpPr>
        <p:spPr>
          <a:xfrm>
            <a:off x="9857232" y="1719072"/>
            <a:ext cx="1965960" cy="365760"/>
          </a:xfrm>
          <a:prstGeom prst="rect">
            <a:avLst/>
          </a:prstGeom>
          <a:noFill/>
        </p:spPr>
        <p:txBody>
          <a:bodyPr wrap="square" lIns="0" rIns="0" tIns="0" bIns="0" anchor="t"/>
          <a:lstStyle/>
          <a:p>
            <a:pPr algn="l"/>
            <a:r>
              <a:rPr sz="1800" b="1">
                <a:solidFill>
                  <a:srgbClr val="1C1915"/>
                </a:solidFill>
                <a:latin typeface="Calibri"/>
              </a:rPr>
              <a:t>Reporting</a:t>
            </a:r>
          </a:p>
        </p:txBody>
      </p:sp>
      <p:sp>
        <p:nvSpPr>
          <p:cNvPr id="25" name="TextBox 24"/>
          <p:cNvSpPr txBox="1"/>
          <p:nvPr/>
        </p:nvSpPr>
        <p:spPr>
          <a:xfrm>
            <a:off x="9857232" y="2148840"/>
            <a:ext cx="1965960" cy="1143000"/>
          </a:xfrm>
          <a:prstGeom prst="rect">
            <a:avLst/>
          </a:prstGeom>
          <a:noFill/>
        </p:spPr>
        <p:txBody>
          <a:bodyPr wrap="square" lIns="0" rIns="0" tIns="0" bIns="0" anchor="t"/>
          <a:lstStyle/>
          <a:p>
            <a:pPr algn="l"/>
            <a:r>
              <a:rPr sz="1300" b="0">
                <a:solidFill>
                  <a:srgbClr val="5E584F"/>
                </a:solidFill>
                <a:latin typeface="Calibri"/>
              </a:rPr>
              <a:t>Draft the report. Comments send it back. A signature locks it.</a:t>
            </a:r>
          </a:p>
        </p:txBody>
      </p:sp>
      <p:sp>
        <p:nvSpPr>
          <p:cNvPr id="26" name="Rounded Rectangle 25"/>
          <p:cNvSpPr/>
          <p:nvPr/>
        </p:nvSpPr>
        <p:spPr>
          <a:xfrm>
            <a:off x="365760" y="3657600"/>
            <a:ext cx="2816352" cy="1051560"/>
          </a:xfrm>
          <a:prstGeom prst="roundRect">
            <a:avLst>
              <a:gd name="adj" fmla="val 8000"/>
            </a:avLst>
          </a:prstGeom>
          <a:solidFill>
            <a:srgbClr val="F8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3776" y="3749039"/>
            <a:ext cx="2560320" cy="292608"/>
          </a:xfrm>
          <a:prstGeom prst="rect">
            <a:avLst/>
          </a:prstGeom>
          <a:noFill/>
        </p:spPr>
        <p:txBody>
          <a:bodyPr wrap="square" lIns="0" rIns="0" tIns="0" bIns="0" anchor="t"/>
          <a:lstStyle/>
          <a:p>
            <a:pPr algn="l"/>
            <a:r>
              <a:rPr sz="1300" b="1">
                <a:solidFill>
                  <a:srgbClr val="8C4A1F"/>
                </a:solidFill>
                <a:latin typeface="Calibri"/>
              </a:rPr>
              <a:t>Gate · acceptance</a:t>
            </a:r>
          </a:p>
        </p:txBody>
      </p:sp>
      <p:sp>
        <p:nvSpPr>
          <p:cNvPr id="28" name="TextBox 27"/>
          <p:cNvSpPr txBox="1"/>
          <p:nvPr/>
        </p:nvSpPr>
        <p:spPr>
          <a:xfrm>
            <a:off x="493776" y="4069080"/>
            <a:ext cx="2560320" cy="502920"/>
          </a:xfrm>
          <a:prstGeom prst="rect">
            <a:avLst/>
          </a:prstGeom>
          <a:noFill/>
        </p:spPr>
        <p:txBody>
          <a:bodyPr wrap="square" lIns="0" rIns="0" tIns="0" bIns="0" anchor="t"/>
          <a:lstStyle/>
          <a:p>
            <a:pPr algn="l"/>
            <a:r>
              <a:rPr sz="1400" b="0">
                <a:solidFill>
                  <a:srgbClr val="1C1915"/>
                </a:solidFill>
                <a:latin typeface="Calibri"/>
              </a:rPr>
              <a:t>Whether to take the engagement</a:t>
            </a:r>
          </a:p>
        </p:txBody>
      </p:sp>
      <p:sp>
        <p:nvSpPr>
          <p:cNvPr id="29" name="Rounded Rectangle 28"/>
          <p:cNvSpPr/>
          <p:nvPr/>
        </p:nvSpPr>
        <p:spPr>
          <a:xfrm>
            <a:off x="3310128" y="3657600"/>
            <a:ext cx="2816352" cy="1051560"/>
          </a:xfrm>
          <a:prstGeom prst="roundRect">
            <a:avLst>
              <a:gd name="adj" fmla="val 8000"/>
            </a:avLst>
          </a:prstGeom>
          <a:solidFill>
            <a:srgbClr val="F8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38144" y="3749039"/>
            <a:ext cx="2560320" cy="292608"/>
          </a:xfrm>
          <a:prstGeom prst="rect">
            <a:avLst/>
          </a:prstGeom>
          <a:noFill/>
        </p:spPr>
        <p:txBody>
          <a:bodyPr wrap="square" lIns="0" rIns="0" tIns="0" bIns="0" anchor="t"/>
          <a:lstStyle/>
          <a:p>
            <a:pPr algn="l"/>
            <a:r>
              <a:rPr sz="1300" b="1">
                <a:solidFill>
                  <a:srgbClr val="8C4A1F"/>
                </a:solidFill>
                <a:latin typeface="Calibri"/>
              </a:rPr>
              <a:t>Gate · planning</a:t>
            </a:r>
          </a:p>
        </p:txBody>
      </p:sp>
      <p:sp>
        <p:nvSpPr>
          <p:cNvPr id="31" name="TextBox 30"/>
          <p:cNvSpPr txBox="1"/>
          <p:nvPr/>
        </p:nvSpPr>
        <p:spPr>
          <a:xfrm>
            <a:off x="3438144" y="4069080"/>
            <a:ext cx="2560320" cy="502920"/>
          </a:xfrm>
          <a:prstGeom prst="rect">
            <a:avLst/>
          </a:prstGeom>
          <a:noFill/>
        </p:spPr>
        <p:txBody>
          <a:bodyPr wrap="square" lIns="0" rIns="0" tIns="0" bIns="0" anchor="t"/>
          <a:lstStyle/>
          <a:p>
            <a:pPr algn="l"/>
            <a:r>
              <a:rPr sz="1400" b="0">
                <a:solidFill>
                  <a:srgbClr val="1C1915"/>
                </a:solidFill>
                <a:latin typeface="Calibri"/>
              </a:rPr>
              <a:t>Confirm materiality and the risk list</a:t>
            </a:r>
          </a:p>
        </p:txBody>
      </p:sp>
      <p:sp>
        <p:nvSpPr>
          <p:cNvPr id="32" name="Rounded Rectangle 31"/>
          <p:cNvSpPr/>
          <p:nvPr/>
        </p:nvSpPr>
        <p:spPr>
          <a:xfrm>
            <a:off x="6254496" y="3657600"/>
            <a:ext cx="2816352" cy="1051560"/>
          </a:xfrm>
          <a:prstGeom prst="roundRect">
            <a:avLst>
              <a:gd name="adj" fmla="val 8000"/>
            </a:avLst>
          </a:prstGeom>
          <a:solidFill>
            <a:srgbClr val="F8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82512" y="3749039"/>
            <a:ext cx="2560320" cy="292608"/>
          </a:xfrm>
          <a:prstGeom prst="rect">
            <a:avLst/>
          </a:prstGeom>
          <a:noFill/>
        </p:spPr>
        <p:txBody>
          <a:bodyPr wrap="square" lIns="0" rIns="0" tIns="0" bIns="0" anchor="t"/>
          <a:lstStyle/>
          <a:p>
            <a:pPr algn="l"/>
            <a:r>
              <a:rPr sz="1300" b="1">
                <a:solidFill>
                  <a:srgbClr val="8C4A1F"/>
                </a:solidFill>
                <a:latin typeface="Calibri"/>
              </a:rPr>
              <a:t>Gate · opinion</a:t>
            </a:r>
          </a:p>
        </p:txBody>
      </p:sp>
      <p:sp>
        <p:nvSpPr>
          <p:cNvPr id="34" name="TextBox 33"/>
          <p:cNvSpPr txBox="1"/>
          <p:nvPr/>
        </p:nvSpPr>
        <p:spPr>
          <a:xfrm>
            <a:off x="6382512" y="4069080"/>
            <a:ext cx="2560320" cy="502920"/>
          </a:xfrm>
          <a:prstGeom prst="rect">
            <a:avLst/>
          </a:prstGeom>
          <a:noFill/>
        </p:spPr>
        <p:txBody>
          <a:bodyPr wrap="square" lIns="0" rIns="0" tIns="0" bIns="0" anchor="t"/>
          <a:lstStyle/>
          <a:p>
            <a:pPr algn="l"/>
            <a:r>
              <a:rPr sz="1400" b="0">
                <a:solidFill>
                  <a:srgbClr val="1C1915"/>
                </a:solidFill>
                <a:latin typeface="Calibri"/>
              </a:rPr>
              <a:t>Confirm the opinion type</a:t>
            </a:r>
          </a:p>
        </p:txBody>
      </p:sp>
      <p:sp>
        <p:nvSpPr>
          <p:cNvPr id="35" name="Rounded Rectangle 34"/>
          <p:cNvSpPr/>
          <p:nvPr/>
        </p:nvSpPr>
        <p:spPr>
          <a:xfrm>
            <a:off x="9198864" y="3657600"/>
            <a:ext cx="2816352" cy="1051560"/>
          </a:xfrm>
          <a:prstGeom prst="roundRect">
            <a:avLst>
              <a:gd name="adj" fmla="val 8000"/>
            </a:avLst>
          </a:prstGeom>
          <a:solidFill>
            <a:srgbClr val="F8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326880" y="3749039"/>
            <a:ext cx="2560320" cy="292608"/>
          </a:xfrm>
          <a:prstGeom prst="rect">
            <a:avLst/>
          </a:prstGeom>
          <a:noFill/>
        </p:spPr>
        <p:txBody>
          <a:bodyPr wrap="square" lIns="0" rIns="0" tIns="0" bIns="0" anchor="t"/>
          <a:lstStyle/>
          <a:p>
            <a:pPr algn="l"/>
            <a:r>
              <a:rPr sz="1300" b="1">
                <a:solidFill>
                  <a:srgbClr val="8C4A1F"/>
                </a:solidFill>
                <a:latin typeface="Calibri"/>
              </a:rPr>
              <a:t>Gate · signature</a:t>
            </a:r>
          </a:p>
        </p:txBody>
      </p:sp>
      <p:sp>
        <p:nvSpPr>
          <p:cNvPr id="37" name="TextBox 36"/>
          <p:cNvSpPr txBox="1"/>
          <p:nvPr/>
        </p:nvSpPr>
        <p:spPr>
          <a:xfrm>
            <a:off x="9326880" y="4069080"/>
            <a:ext cx="2560320" cy="502920"/>
          </a:xfrm>
          <a:prstGeom prst="rect">
            <a:avLst/>
          </a:prstGeom>
          <a:noFill/>
        </p:spPr>
        <p:txBody>
          <a:bodyPr wrap="square" lIns="0" rIns="0" tIns="0" bIns="0" anchor="t"/>
          <a:lstStyle/>
          <a:p>
            <a:pPr algn="l"/>
            <a:r>
              <a:rPr sz="1400" b="0">
                <a:solidFill>
                  <a:srgbClr val="1C1915"/>
                </a:solidFill>
                <a:latin typeface="Calibri"/>
              </a:rPr>
              <a:t>Send it back, or sign and archive</a:t>
            </a:r>
          </a:p>
        </p:txBody>
      </p:sp>
      <p:sp>
        <p:nvSpPr>
          <p:cNvPr id="38" name="Rounded Rectangle 37"/>
          <p:cNvSpPr/>
          <p:nvPr/>
        </p:nvSpPr>
        <p:spPr>
          <a:xfrm>
            <a:off x="365760" y="4937760"/>
            <a:ext cx="2816352" cy="438912"/>
          </a:xfrm>
          <a:prstGeom prst="roundRect">
            <a:avLst>
              <a:gd name="adj" fmla="val 8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5760" y="4937760"/>
            <a:ext cx="2816352" cy="438912"/>
          </a:xfrm>
          <a:prstGeom prst="rect">
            <a:avLst/>
          </a:prstGeom>
          <a:noFill/>
        </p:spPr>
        <p:txBody>
          <a:bodyPr wrap="square" lIns="0" rIns="0" tIns="0" bIns="0" anchor="ctr"/>
          <a:lstStyle/>
          <a:p>
            <a:pPr algn="ctr"/>
            <a:r>
              <a:rPr sz="1300" b="0">
                <a:solidFill>
                  <a:srgbClr val="1B3048"/>
                </a:solidFill>
                <a:latin typeface="Calibri"/>
              </a:rPr>
              <a:t>Resumes from a checkpoint</a:t>
            </a:r>
          </a:p>
        </p:txBody>
      </p:sp>
      <p:sp>
        <p:nvSpPr>
          <p:cNvPr id="40" name="Rounded Rectangle 39"/>
          <p:cNvSpPr/>
          <p:nvPr/>
        </p:nvSpPr>
        <p:spPr>
          <a:xfrm>
            <a:off x="3310128" y="4937760"/>
            <a:ext cx="2816352" cy="438912"/>
          </a:xfrm>
          <a:prstGeom prst="roundRect">
            <a:avLst>
              <a:gd name="adj" fmla="val 8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310128" y="4937760"/>
            <a:ext cx="2816352" cy="438912"/>
          </a:xfrm>
          <a:prstGeom prst="rect">
            <a:avLst/>
          </a:prstGeom>
          <a:noFill/>
        </p:spPr>
        <p:txBody>
          <a:bodyPr wrap="square" lIns="0" rIns="0" tIns="0" bIns="0" anchor="ctr"/>
          <a:lstStyle/>
          <a:p>
            <a:pPr algn="ctr"/>
            <a:r>
              <a:rPr sz="1300" b="0">
                <a:solidFill>
                  <a:srgbClr val="1B3048"/>
                </a:solidFill>
                <a:latin typeface="Calibri"/>
              </a:rPr>
              <a:t>161 procedures, assembled by risk</a:t>
            </a:r>
          </a:p>
        </p:txBody>
      </p:sp>
      <p:sp>
        <p:nvSpPr>
          <p:cNvPr id="42" name="Rounded Rectangle 41"/>
          <p:cNvSpPr/>
          <p:nvPr/>
        </p:nvSpPr>
        <p:spPr>
          <a:xfrm>
            <a:off x="6254496" y="4937760"/>
            <a:ext cx="2816352" cy="438912"/>
          </a:xfrm>
          <a:prstGeom prst="roundRect">
            <a:avLst>
              <a:gd name="adj" fmla="val 8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54496" y="4937760"/>
            <a:ext cx="2816352" cy="438912"/>
          </a:xfrm>
          <a:prstGeom prst="rect">
            <a:avLst/>
          </a:prstGeom>
          <a:noFill/>
        </p:spPr>
        <p:txBody>
          <a:bodyPr wrap="square" lIns="0" rIns="0" tIns="0" bIns="0" anchor="ctr"/>
          <a:lstStyle/>
          <a:p>
            <a:pPr algn="ctr"/>
            <a:r>
              <a:rPr sz="1300" b="0">
                <a:solidFill>
                  <a:srgbClr val="1B3048"/>
                </a:solidFill>
                <a:latin typeface="Calibri"/>
              </a:rPr>
              <a:t>This prototype runs 17</a:t>
            </a:r>
          </a:p>
        </p:txBody>
      </p:sp>
      <p:sp>
        <p:nvSpPr>
          <p:cNvPr id="44" name="Rounded Rectangle 43"/>
          <p:cNvSpPr/>
          <p:nvPr/>
        </p:nvSpPr>
        <p:spPr>
          <a:xfrm>
            <a:off x="9198864" y="4937760"/>
            <a:ext cx="2816352" cy="438912"/>
          </a:xfrm>
          <a:prstGeom prst="roundRect">
            <a:avLst>
              <a:gd name="adj" fmla="val 8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198864" y="4937760"/>
            <a:ext cx="2816352" cy="438912"/>
          </a:xfrm>
          <a:prstGeom prst="rect">
            <a:avLst/>
          </a:prstGeom>
          <a:noFill/>
        </p:spPr>
        <p:txBody>
          <a:bodyPr wrap="square" lIns="0" rIns="0" tIns="0" bIns="0" anchor="ctr"/>
          <a:lstStyle/>
          <a:p>
            <a:pPr algn="ctr"/>
            <a:r>
              <a:rPr sz="1300" b="0">
                <a:solidFill>
                  <a:srgbClr val="1B3048"/>
                </a:solidFill>
                <a:latin typeface="Calibri"/>
              </a:rPr>
              <a:t>Rule, hybrid, model, manual</a:t>
            </a:r>
          </a:p>
        </p:txBody>
      </p:sp>
      <p:sp>
        <p:nvSpPr>
          <p:cNvPr id="46" name="TextBox 45"/>
          <p:cNvSpPr txBox="1"/>
          <p:nvPr/>
        </p:nvSpPr>
        <p:spPr>
          <a:xfrm>
            <a:off x="411480" y="6510528"/>
            <a:ext cx="5486400" cy="256032"/>
          </a:xfrm>
          <a:prstGeom prst="rect">
            <a:avLst/>
          </a:prstGeom>
          <a:noFill/>
        </p:spPr>
        <p:txBody>
          <a:bodyPr wrap="square" lIns="0" rIns="0" tIns="0" bIns="0" anchor="t"/>
          <a:lstStyle/>
          <a:p>
            <a:pPr algn="l"/>
            <a:r>
              <a:rPr sz="1200" b="0">
                <a:solidFill>
                  <a:srgbClr val="5E584F"/>
                </a:solidFill>
                <a:latin typeface="Calibri"/>
              </a:rPr>
              <a:t>ELEC5620 · Group 16</a:t>
            </a:r>
          </a:p>
        </p:txBody>
      </p:sp>
      <p:sp>
        <p:nvSpPr>
          <p:cNvPr id="47" name="TextBox 46"/>
          <p:cNvSpPr txBox="1"/>
          <p:nvPr/>
        </p:nvSpPr>
        <p:spPr>
          <a:xfrm>
            <a:off x="9509760" y="6510528"/>
            <a:ext cx="2286000" cy="256032"/>
          </a:xfrm>
          <a:prstGeom prst="rect">
            <a:avLst/>
          </a:prstGeom>
          <a:noFill/>
        </p:spPr>
        <p:txBody>
          <a:bodyPr wrap="square" lIns="0" rIns="0" tIns="0" bIns="0" anchor="t"/>
          <a:lstStyle/>
          <a:p>
            <a:pPr algn="r"/>
            <a:r>
              <a:rPr sz="1200" b="0">
                <a:solidFill>
                  <a:srgbClr val="5E584F"/>
                </a:solidFill>
                <a:latin typeface="Calibri"/>
              </a:rPr>
              <a:t>3 / 36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411480" y="256032"/>
            <a:ext cx="3840480" cy="256032"/>
          </a:xfrm>
          <a:prstGeom prst="rect">
            <a:avLst/>
          </a:prstGeom>
          <a:noFill/>
        </p:spPr>
        <p:txBody>
          <a:bodyPr wrap="square" lIns="0" rIns="0" tIns="0" bIns="0" anchor="t"/>
          <a:lstStyle/>
          <a:p>
            <a:pPr algn="l"/>
            <a:r>
              <a:rPr sz="1200" b="1">
                <a:solidFill>
                  <a:srgbClr val="0F5E5A"/>
                </a:solidFill>
                <a:latin typeface="Calibri"/>
              </a:rPr>
              <a:t>MEMBER A</a:t>
            </a:r>
          </a:p>
        </p:txBody>
      </p:sp>
      <p:sp>
        <p:nvSpPr>
          <p:cNvPr id="3" name="Rounded Rectangle 2"/>
          <p:cNvSpPr/>
          <p:nvPr/>
        </p:nvSpPr>
        <p:spPr>
          <a:xfrm>
            <a:off x="4114800" y="237744"/>
            <a:ext cx="2103120" cy="274320"/>
          </a:xfrm>
          <a:prstGeom prst="roundRect">
            <a:avLst>
              <a:gd name="adj" fmla="val 8000"/>
            </a:avLst>
          </a:prstGeom>
          <a:solidFill>
            <a:srgbClr val="F7F4EE"/>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0" y="237744"/>
            <a:ext cx="2103120" cy="274320"/>
          </a:xfrm>
          <a:prstGeom prst="rect">
            <a:avLst/>
          </a:prstGeom>
          <a:noFill/>
        </p:spPr>
        <p:txBody>
          <a:bodyPr wrap="square" lIns="0" rIns="0" tIns="0" bIns="0" anchor="ctr"/>
          <a:lstStyle/>
          <a:p>
            <a:pPr algn="ctr"/>
            <a:r>
              <a:rPr sz="1200" b="0">
                <a:solidFill>
                  <a:srgbClr val="5E584F"/>
                </a:solidFill>
                <a:latin typeface="Calibri"/>
              </a:rPr>
              <a:t>Agents</a:t>
            </a:r>
          </a:p>
        </p:txBody>
      </p:sp>
      <p:sp>
        <p:nvSpPr>
          <p:cNvPr id="5" name="TextBox 4"/>
          <p:cNvSpPr txBox="1"/>
          <p:nvPr/>
        </p:nvSpPr>
        <p:spPr>
          <a:xfrm>
            <a:off x="411480" y="621792"/>
            <a:ext cx="10972800" cy="438912"/>
          </a:xfrm>
          <a:prstGeom prst="rect">
            <a:avLst/>
          </a:prstGeom>
          <a:noFill/>
        </p:spPr>
        <p:txBody>
          <a:bodyPr wrap="square" lIns="0" rIns="0" tIns="0" bIns="0" anchor="t"/>
          <a:lstStyle/>
          <a:p>
            <a:pPr algn="l"/>
            <a:r>
              <a:rPr sz="2800" b="1">
                <a:solidFill>
                  <a:srgbClr val="1C1915"/>
                </a:solidFill>
                <a:latin typeface="Calibri"/>
              </a:rPr>
              <a:t>Ten agents, split by what they produce</a:t>
            </a:r>
          </a:p>
        </p:txBody>
      </p:sp>
      <p:sp>
        <p:nvSpPr>
          <p:cNvPr id="6" name="Rounded Rectangle 5"/>
          <p:cNvSpPr/>
          <p:nvPr/>
        </p:nvSpPr>
        <p:spPr>
          <a:xfrm>
            <a:off x="365760" y="1170432"/>
            <a:ext cx="1234440" cy="932688"/>
          </a:xfrm>
          <a:prstGeom prst="roundRect">
            <a:avLst>
              <a:gd name="adj" fmla="val 8000"/>
            </a:avLst>
          </a:prstGeom>
          <a:solidFill>
            <a:srgbClr val="1B30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170432"/>
            <a:ext cx="1234440" cy="932688"/>
          </a:xfrm>
          <a:prstGeom prst="rect">
            <a:avLst/>
          </a:prstGeom>
          <a:noFill/>
        </p:spPr>
        <p:txBody>
          <a:bodyPr wrap="square" lIns="0" rIns="0" tIns="0" bIns="0" anchor="ctr"/>
          <a:lstStyle/>
          <a:p>
            <a:pPr algn="ctr"/>
            <a:r>
              <a:rPr sz="1300" b="1">
                <a:solidFill>
                  <a:srgbClr val="F4EFE6"/>
                </a:solidFill>
                <a:latin typeface="Calibri"/>
              </a:rPr>
              <a:t>Control</a:t>
            </a:r>
          </a:p>
        </p:txBody>
      </p:sp>
      <p:sp>
        <p:nvSpPr>
          <p:cNvPr id="8" name="Rounded Rectangle 7"/>
          <p:cNvSpPr/>
          <p:nvPr/>
        </p:nvSpPr>
        <p:spPr>
          <a:xfrm>
            <a:off x="1737360" y="1170432"/>
            <a:ext cx="10332720" cy="932688"/>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847088" y="1261872"/>
            <a:ext cx="10149840" cy="292608"/>
          </a:xfrm>
          <a:prstGeom prst="rect">
            <a:avLst/>
          </a:prstGeom>
          <a:noFill/>
        </p:spPr>
        <p:txBody>
          <a:bodyPr wrap="square" lIns="0" rIns="0" tIns="0" bIns="0" anchor="t"/>
          <a:lstStyle/>
          <a:p>
            <a:pPr algn="l"/>
            <a:r>
              <a:rPr sz="1400" b="1">
                <a:solidFill>
                  <a:srgbClr val="1C1915"/>
                </a:solidFill>
                <a:latin typeface="Calibri"/>
              </a:rPr>
              <a:t>A1  Orchestrator</a:t>
            </a:r>
          </a:p>
        </p:txBody>
      </p:sp>
      <p:sp>
        <p:nvSpPr>
          <p:cNvPr id="10" name="TextBox 9"/>
          <p:cNvSpPr txBox="1"/>
          <p:nvPr/>
        </p:nvSpPr>
        <p:spPr>
          <a:xfrm>
            <a:off x="1847088" y="1554480"/>
            <a:ext cx="10149840" cy="475488"/>
          </a:xfrm>
          <a:prstGeom prst="rect">
            <a:avLst/>
          </a:prstGeom>
          <a:noFill/>
        </p:spPr>
        <p:txBody>
          <a:bodyPr wrap="square" lIns="0" rIns="0" tIns="0" bIns="0" anchor="t"/>
          <a:lstStyle/>
          <a:p>
            <a:pPr algn="l"/>
            <a:r>
              <a:rPr sz="1300" b="0">
                <a:solidFill>
                  <a:srgbClr val="5E584F"/>
                </a:solidFill>
                <a:latin typeface="Calibri"/>
              </a:rPr>
              <a:t>State machine, gates, pack assembly, parallel schedule, and the trail. No language model.</a:t>
            </a:r>
          </a:p>
        </p:txBody>
      </p:sp>
      <p:sp>
        <p:nvSpPr>
          <p:cNvPr id="11" name="Rounded Rectangle 10"/>
          <p:cNvSpPr/>
          <p:nvPr/>
        </p:nvSpPr>
        <p:spPr>
          <a:xfrm>
            <a:off x="365760" y="2176272"/>
            <a:ext cx="1234440" cy="987552"/>
          </a:xfrm>
          <a:prstGeom prst="roundRect">
            <a:avLst>
              <a:gd name="adj" fmla="val 8000"/>
            </a:avLst>
          </a:prstGeom>
          <a:solidFill>
            <a:srgbClr val="0F5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2176272"/>
            <a:ext cx="1234440" cy="987552"/>
          </a:xfrm>
          <a:prstGeom prst="rect">
            <a:avLst/>
          </a:prstGeom>
          <a:noFill/>
        </p:spPr>
        <p:txBody>
          <a:bodyPr wrap="square" lIns="0" rIns="0" tIns="0" bIns="0" anchor="ctr"/>
          <a:lstStyle/>
          <a:p>
            <a:pPr algn="ctr"/>
            <a:r>
              <a:rPr sz="1300" b="1">
                <a:solidFill>
                  <a:srgbClr val="F4EFE6"/>
                </a:solidFill>
                <a:latin typeface="Calibri"/>
              </a:rPr>
              <a:t>Accept
&amp; plan</a:t>
            </a:r>
          </a:p>
        </p:txBody>
      </p:sp>
      <p:sp>
        <p:nvSpPr>
          <p:cNvPr id="13" name="Rounded Rectangle 12"/>
          <p:cNvSpPr/>
          <p:nvPr/>
        </p:nvSpPr>
        <p:spPr>
          <a:xfrm>
            <a:off x="1737360" y="2176272"/>
            <a:ext cx="3371088" cy="987552"/>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47088" y="2267712"/>
            <a:ext cx="3188208" cy="292608"/>
          </a:xfrm>
          <a:prstGeom prst="rect">
            <a:avLst/>
          </a:prstGeom>
          <a:noFill/>
        </p:spPr>
        <p:txBody>
          <a:bodyPr wrap="square" lIns="0" rIns="0" tIns="0" bIns="0" anchor="t"/>
          <a:lstStyle/>
          <a:p>
            <a:pPr algn="l"/>
            <a:r>
              <a:rPr sz="1400" b="1">
                <a:solidFill>
                  <a:srgbClr val="1C1915"/>
                </a:solidFill>
                <a:latin typeface="Calibri"/>
              </a:rPr>
              <a:t>A2  ClientIntel</a:t>
            </a:r>
          </a:p>
        </p:txBody>
      </p:sp>
      <p:sp>
        <p:nvSpPr>
          <p:cNvPr id="15" name="TextBox 14"/>
          <p:cNvSpPr txBox="1"/>
          <p:nvPr/>
        </p:nvSpPr>
        <p:spPr>
          <a:xfrm>
            <a:off x="1847088" y="2560320"/>
            <a:ext cx="3188208" cy="530352"/>
          </a:xfrm>
          <a:prstGeom prst="rect">
            <a:avLst/>
          </a:prstGeom>
          <a:noFill/>
        </p:spPr>
        <p:txBody>
          <a:bodyPr wrap="square" lIns="0" rIns="0" tIns="0" bIns="0" anchor="t"/>
          <a:lstStyle/>
          <a:p>
            <a:pPr algn="l"/>
            <a:r>
              <a:rPr sz="1300" b="0">
                <a:solidFill>
                  <a:srgbClr val="5E584F"/>
                </a:solidFill>
                <a:latin typeface="Calibri"/>
              </a:rPr>
              <a:t>Background, independence, acceptance score</a:t>
            </a:r>
          </a:p>
        </p:txBody>
      </p:sp>
      <p:sp>
        <p:nvSpPr>
          <p:cNvPr id="16" name="Rounded Rectangle 15"/>
          <p:cNvSpPr/>
          <p:nvPr/>
        </p:nvSpPr>
        <p:spPr>
          <a:xfrm>
            <a:off x="5218176" y="2176272"/>
            <a:ext cx="3371088" cy="987552"/>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27904" y="2267712"/>
            <a:ext cx="3188208" cy="292608"/>
          </a:xfrm>
          <a:prstGeom prst="rect">
            <a:avLst/>
          </a:prstGeom>
          <a:noFill/>
        </p:spPr>
        <p:txBody>
          <a:bodyPr wrap="square" lIns="0" rIns="0" tIns="0" bIns="0" anchor="t"/>
          <a:lstStyle/>
          <a:p>
            <a:pPr algn="l"/>
            <a:r>
              <a:rPr sz="1400" b="1">
                <a:solidFill>
                  <a:srgbClr val="1C1915"/>
                </a:solidFill>
                <a:latin typeface="Calibri"/>
              </a:rPr>
              <a:t>A3  IngestAgent</a:t>
            </a:r>
          </a:p>
        </p:txBody>
      </p:sp>
      <p:sp>
        <p:nvSpPr>
          <p:cNvPr id="18" name="TextBox 17"/>
          <p:cNvSpPr txBox="1"/>
          <p:nvPr/>
        </p:nvSpPr>
        <p:spPr>
          <a:xfrm>
            <a:off x="5327904" y="2560320"/>
            <a:ext cx="3188208" cy="530352"/>
          </a:xfrm>
          <a:prstGeom prst="rect">
            <a:avLst/>
          </a:prstGeom>
          <a:noFill/>
        </p:spPr>
        <p:txBody>
          <a:bodyPr wrap="square" lIns="0" rIns="0" tIns="0" bIns="0" anchor="t"/>
          <a:lstStyle/>
          <a:p>
            <a:pPr algn="l"/>
            <a:r>
              <a:rPr sz="1300" b="0">
                <a:solidFill>
                  <a:srgbClr val="5E584F"/>
                </a:solidFill>
                <a:latin typeface="Calibri"/>
              </a:rPr>
              <a:t>Contract and reply extraction</a:t>
            </a:r>
          </a:p>
        </p:txBody>
      </p:sp>
      <p:sp>
        <p:nvSpPr>
          <p:cNvPr id="19" name="Rounded Rectangle 18"/>
          <p:cNvSpPr/>
          <p:nvPr/>
        </p:nvSpPr>
        <p:spPr>
          <a:xfrm>
            <a:off x="8698992" y="2176272"/>
            <a:ext cx="3371088" cy="987552"/>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08720" y="2267712"/>
            <a:ext cx="3188208" cy="292608"/>
          </a:xfrm>
          <a:prstGeom prst="rect">
            <a:avLst/>
          </a:prstGeom>
          <a:noFill/>
        </p:spPr>
        <p:txBody>
          <a:bodyPr wrap="square" lIns="0" rIns="0" tIns="0" bIns="0" anchor="t"/>
          <a:lstStyle/>
          <a:p>
            <a:pPr algn="l"/>
            <a:r>
              <a:rPr sz="1400" b="1">
                <a:solidFill>
                  <a:srgbClr val="1C1915"/>
                </a:solidFill>
                <a:latin typeface="Calibri"/>
              </a:rPr>
              <a:t>A4  RiskAssessor</a:t>
            </a:r>
          </a:p>
        </p:txBody>
      </p:sp>
      <p:sp>
        <p:nvSpPr>
          <p:cNvPr id="21" name="TextBox 20"/>
          <p:cNvSpPr txBox="1"/>
          <p:nvPr/>
        </p:nvSpPr>
        <p:spPr>
          <a:xfrm>
            <a:off x="8808720" y="2560320"/>
            <a:ext cx="3188208" cy="530352"/>
          </a:xfrm>
          <a:prstGeom prst="rect">
            <a:avLst/>
          </a:prstGeom>
          <a:noFill/>
        </p:spPr>
        <p:txBody>
          <a:bodyPr wrap="square" lIns="0" rIns="0" tIns="0" bIns="0" anchor="t"/>
          <a:lstStyle/>
          <a:p>
            <a:pPr algn="l"/>
            <a:r>
              <a:rPr sz="1300" b="0">
                <a:solidFill>
                  <a:srgbClr val="5E584F"/>
                </a:solidFill>
                <a:latin typeface="Calibri"/>
              </a:rPr>
              <a:t>Risk, materiality, audit plan</a:t>
            </a:r>
          </a:p>
        </p:txBody>
      </p:sp>
      <p:sp>
        <p:nvSpPr>
          <p:cNvPr id="22" name="Rounded Rectangle 21"/>
          <p:cNvSpPr/>
          <p:nvPr/>
        </p:nvSpPr>
        <p:spPr>
          <a:xfrm>
            <a:off x="365760" y="3236976"/>
            <a:ext cx="1234440" cy="987552"/>
          </a:xfrm>
          <a:prstGeom prst="roundRect">
            <a:avLst>
              <a:gd name="adj" fmla="val 8000"/>
            </a:avLst>
          </a:prstGeom>
          <a:solidFill>
            <a:srgbClr val="8C4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3236976"/>
            <a:ext cx="1234440" cy="987552"/>
          </a:xfrm>
          <a:prstGeom prst="rect">
            <a:avLst/>
          </a:prstGeom>
          <a:noFill/>
        </p:spPr>
        <p:txBody>
          <a:bodyPr wrap="square" lIns="0" rIns="0" tIns="0" bIns="0" anchor="ctr"/>
          <a:lstStyle/>
          <a:p>
            <a:pPr algn="ctr"/>
            <a:r>
              <a:rPr sz="1300" b="1">
                <a:solidFill>
                  <a:srgbClr val="F4EFE6"/>
                </a:solidFill>
                <a:latin typeface="Calibri"/>
              </a:rPr>
              <a:t>Execute</a:t>
            </a:r>
          </a:p>
        </p:txBody>
      </p:sp>
      <p:sp>
        <p:nvSpPr>
          <p:cNvPr id="24" name="Rounded Rectangle 23"/>
          <p:cNvSpPr/>
          <p:nvPr/>
        </p:nvSpPr>
        <p:spPr>
          <a:xfrm>
            <a:off x="1737360" y="3236976"/>
            <a:ext cx="3371088" cy="987552"/>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847088" y="3328416"/>
            <a:ext cx="3188208" cy="292608"/>
          </a:xfrm>
          <a:prstGeom prst="rect">
            <a:avLst/>
          </a:prstGeom>
          <a:noFill/>
        </p:spPr>
        <p:txBody>
          <a:bodyPr wrap="square" lIns="0" rIns="0" tIns="0" bIns="0" anchor="t"/>
          <a:lstStyle/>
          <a:p>
            <a:pPr algn="l"/>
            <a:r>
              <a:rPr sz="1400" b="1">
                <a:solidFill>
                  <a:srgbClr val="1C1915"/>
                </a:solidFill>
                <a:latin typeface="Calibri"/>
              </a:rPr>
              <a:t>A5  EvidenceAgent</a:t>
            </a:r>
          </a:p>
        </p:txBody>
      </p:sp>
      <p:sp>
        <p:nvSpPr>
          <p:cNvPr id="26" name="TextBox 25"/>
          <p:cNvSpPr txBox="1"/>
          <p:nvPr/>
        </p:nvSpPr>
        <p:spPr>
          <a:xfrm>
            <a:off x="1847088" y="3621024"/>
            <a:ext cx="3188208" cy="530352"/>
          </a:xfrm>
          <a:prstGeom prst="rect">
            <a:avLst/>
          </a:prstGeom>
          <a:noFill/>
        </p:spPr>
        <p:txBody>
          <a:bodyPr wrap="square" lIns="0" rIns="0" tIns="0" bIns="0" anchor="t"/>
          <a:lstStyle/>
          <a:p>
            <a:pPr algn="l"/>
            <a:r>
              <a:rPr sz="1300" b="0">
                <a:solidFill>
                  <a:srgbClr val="5E584F"/>
                </a:solidFill>
                <a:latin typeface="Calibri"/>
              </a:rPr>
              <a:t>Outward evidence, such as a confirmation</a:t>
            </a:r>
          </a:p>
        </p:txBody>
      </p:sp>
      <p:sp>
        <p:nvSpPr>
          <p:cNvPr id="27" name="Rounded Rectangle 26"/>
          <p:cNvSpPr/>
          <p:nvPr/>
        </p:nvSpPr>
        <p:spPr>
          <a:xfrm>
            <a:off x="5218176" y="3236976"/>
            <a:ext cx="3371088" cy="987552"/>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27904" y="3328416"/>
            <a:ext cx="3188208" cy="292608"/>
          </a:xfrm>
          <a:prstGeom prst="rect">
            <a:avLst/>
          </a:prstGeom>
          <a:noFill/>
        </p:spPr>
        <p:txBody>
          <a:bodyPr wrap="square" lIns="0" rIns="0" tIns="0" bIns="0" anchor="t"/>
          <a:lstStyle/>
          <a:p>
            <a:pPr algn="l"/>
            <a:r>
              <a:rPr sz="1400" b="1">
                <a:solidFill>
                  <a:srgbClr val="1C1915"/>
                </a:solidFill>
                <a:latin typeface="Calibri"/>
              </a:rPr>
              <a:t>A6  FieldworkAgent</a:t>
            </a:r>
          </a:p>
        </p:txBody>
      </p:sp>
      <p:sp>
        <p:nvSpPr>
          <p:cNvPr id="29" name="TextBox 28"/>
          <p:cNvSpPr txBox="1"/>
          <p:nvPr/>
        </p:nvSpPr>
        <p:spPr>
          <a:xfrm>
            <a:off x="5327904" y="3621024"/>
            <a:ext cx="3188208" cy="530352"/>
          </a:xfrm>
          <a:prstGeom prst="rect">
            <a:avLst/>
          </a:prstGeom>
          <a:noFill/>
        </p:spPr>
        <p:txBody>
          <a:bodyPr wrap="square" lIns="0" rIns="0" tIns="0" bIns="0" anchor="t"/>
          <a:lstStyle/>
          <a:p>
            <a:pPr algn="l"/>
            <a:r>
              <a:rPr sz="1300" b="0">
                <a:solidFill>
                  <a:srgbClr val="5E584F"/>
                </a:solidFill>
                <a:latin typeface="Calibri"/>
              </a:rPr>
              <a:t>Substantive judgments, many instances</a:t>
            </a:r>
          </a:p>
        </p:txBody>
      </p:sp>
      <p:sp>
        <p:nvSpPr>
          <p:cNvPr id="30" name="Rounded Rectangle 29"/>
          <p:cNvSpPr/>
          <p:nvPr/>
        </p:nvSpPr>
        <p:spPr>
          <a:xfrm>
            <a:off x="8698992" y="3236976"/>
            <a:ext cx="3371088" cy="987552"/>
          </a:xfrm>
          <a:prstGeom prst="roundRect">
            <a:avLst>
              <a:gd name="adj" fmla="val 8000"/>
            </a:avLst>
          </a:prstGeom>
          <a:solidFill>
            <a:srgbClr val="F7F4EE"/>
          </a:solidFill>
          <a:ln w="12700">
            <a:solidFill>
              <a:srgbClr val="8A8175"/>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808720" y="3328416"/>
            <a:ext cx="3188208" cy="292608"/>
          </a:xfrm>
          <a:prstGeom prst="rect">
            <a:avLst/>
          </a:prstGeom>
          <a:noFill/>
        </p:spPr>
        <p:txBody>
          <a:bodyPr wrap="square" lIns="0" rIns="0" tIns="0" bIns="0" anchor="t"/>
          <a:lstStyle/>
          <a:p>
            <a:pPr algn="l"/>
            <a:r>
              <a:rPr sz="1400" b="1">
                <a:solidFill>
                  <a:srgbClr val="1C1915"/>
                </a:solidFill>
                <a:latin typeface="Calibri"/>
              </a:rPr>
              <a:t>A7  ReviewAgent</a:t>
            </a:r>
          </a:p>
        </p:txBody>
      </p:sp>
      <p:sp>
        <p:nvSpPr>
          <p:cNvPr id="32" name="TextBox 31"/>
          <p:cNvSpPr txBox="1"/>
          <p:nvPr/>
        </p:nvSpPr>
        <p:spPr>
          <a:xfrm>
            <a:off x="8808720" y="3621024"/>
            <a:ext cx="3188208" cy="530352"/>
          </a:xfrm>
          <a:prstGeom prst="rect">
            <a:avLst/>
          </a:prstGeom>
          <a:noFill/>
        </p:spPr>
        <p:txBody>
          <a:bodyPr wrap="square" lIns="0" rIns="0" tIns="0" bIns="0" anchor="t"/>
          <a:lstStyle/>
          <a:p>
            <a:pPr algn="l"/>
            <a:r>
              <a:rPr sz="1300" b="0">
                <a:solidFill>
                  <a:srgbClr val="5E584F"/>
                </a:solidFill>
                <a:latin typeface="Calibri"/>
              </a:rPr>
              <a:t>Different model. Evidence only. Spec only.</a:t>
            </a:r>
          </a:p>
        </p:txBody>
      </p:sp>
      <p:sp>
        <p:nvSpPr>
          <p:cNvPr id="33" name="Rounded Rectangle 32"/>
          <p:cNvSpPr/>
          <p:nvPr/>
        </p:nvSpPr>
        <p:spPr>
          <a:xfrm>
            <a:off x="365760" y="4297680"/>
            <a:ext cx="1234440" cy="987552"/>
          </a:xfrm>
          <a:prstGeom prst="roundRect">
            <a:avLst>
              <a:gd name="adj" fmla="val 8000"/>
            </a:avLst>
          </a:prstGeom>
          <a:solidFill>
            <a:srgbClr val="3D4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5760" y="4297680"/>
            <a:ext cx="1234440" cy="987552"/>
          </a:xfrm>
          <a:prstGeom prst="rect">
            <a:avLst/>
          </a:prstGeom>
          <a:noFill/>
        </p:spPr>
        <p:txBody>
          <a:bodyPr wrap="square" lIns="0" rIns="0" tIns="0" bIns="0" anchor="ctr"/>
          <a:lstStyle/>
          <a:p>
            <a:pPr algn="ctr"/>
            <a:r>
              <a:rPr sz="1300" b="1">
                <a:solidFill>
                  <a:srgbClr val="F4EFE6"/>
                </a:solidFill>
                <a:latin typeface="Calibri"/>
              </a:rPr>
              <a:t>Output
&amp; talk</a:t>
            </a:r>
          </a:p>
        </p:txBody>
      </p:sp>
      <p:sp>
        <p:nvSpPr>
          <p:cNvPr id="35" name="Rounded Rectangle 34"/>
          <p:cNvSpPr/>
          <p:nvPr/>
        </p:nvSpPr>
        <p:spPr>
          <a:xfrm>
            <a:off x="1737360" y="4297680"/>
            <a:ext cx="3371088" cy="987552"/>
          </a:xfrm>
          <a:prstGeom prst="roundRect">
            <a:avLst>
              <a:gd name="adj" fmla="val 8000"/>
            </a:avLst>
          </a:prstGeom>
          <a:solidFill>
            <a:srgbClr val="F7F4EE"/>
          </a:solidFill>
          <a:ln w="12700">
            <a:solidFill>
              <a:srgbClr val="8A8175"/>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847088" y="4389120"/>
            <a:ext cx="3188208" cy="292608"/>
          </a:xfrm>
          <a:prstGeom prst="rect">
            <a:avLst/>
          </a:prstGeom>
          <a:noFill/>
        </p:spPr>
        <p:txBody>
          <a:bodyPr wrap="square" lIns="0" rIns="0" tIns="0" bIns="0" anchor="t"/>
          <a:lstStyle/>
          <a:p>
            <a:pPr algn="l"/>
            <a:r>
              <a:rPr sz="1400" b="1">
                <a:solidFill>
                  <a:srgbClr val="1C1915"/>
                </a:solidFill>
                <a:latin typeface="Calibri"/>
              </a:rPr>
              <a:t>A8  WorkpaperAgent</a:t>
            </a:r>
          </a:p>
        </p:txBody>
      </p:sp>
      <p:sp>
        <p:nvSpPr>
          <p:cNvPr id="37" name="TextBox 36"/>
          <p:cNvSpPr txBox="1"/>
          <p:nvPr/>
        </p:nvSpPr>
        <p:spPr>
          <a:xfrm>
            <a:off x="1847088" y="4681728"/>
            <a:ext cx="3188208" cy="530352"/>
          </a:xfrm>
          <a:prstGeom prst="rect">
            <a:avLst/>
          </a:prstGeom>
          <a:noFill/>
        </p:spPr>
        <p:txBody>
          <a:bodyPr wrap="square" lIns="0" rIns="0" tIns="0" bIns="0" anchor="t"/>
          <a:lstStyle/>
          <a:p>
            <a:pPr algn="l"/>
            <a:r>
              <a:rPr sz="1300" b="0">
                <a:solidFill>
                  <a:srgbClr val="5E584F"/>
                </a:solidFill>
                <a:latin typeface="Calibri"/>
              </a:rPr>
              <a:t>Workpapers and misstatement state. Spec only.</a:t>
            </a:r>
          </a:p>
        </p:txBody>
      </p:sp>
      <p:sp>
        <p:nvSpPr>
          <p:cNvPr id="38" name="Rounded Rectangle 37"/>
          <p:cNvSpPr/>
          <p:nvPr/>
        </p:nvSpPr>
        <p:spPr>
          <a:xfrm>
            <a:off x="5218176" y="4297680"/>
            <a:ext cx="3371088" cy="987552"/>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327904" y="4389120"/>
            <a:ext cx="3188208" cy="292608"/>
          </a:xfrm>
          <a:prstGeom prst="rect">
            <a:avLst/>
          </a:prstGeom>
          <a:noFill/>
        </p:spPr>
        <p:txBody>
          <a:bodyPr wrap="square" lIns="0" rIns="0" tIns="0" bIns="0" anchor="t"/>
          <a:lstStyle/>
          <a:p>
            <a:pPr algn="l"/>
            <a:r>
              <a:rPr sz="1400" b="1">
                <a:solidFill>
                  <a:srgbClr val="1C1915"/>
                </a:solidFill>
                <a:latin typeface="Calibri"/>
              </a:rPr>
              <a:t>A9  QCAgent</a:t>
            </a:r>
          </a:p>
        </p:txBody>
      </p:sp>
      <p:sp>
        <p:nvSpPr>
          <p:cNvPr id="40" name="TextBox 39"/>
          <p:cNvSpPr txBox="1"/>
          <p:nvPr/>
        </p:nvSpPr>
        <p:spPr>
          <a:xfrm>
            <a:off x="5327904" y="4681728"/>
            <a:ext cx="3188208" cy="530352"/>
          </a:xfrm>
          <a:prstGeom prst="rect">
            <a:avLst/>
          </a:prstGeom>
          <a:noFill/>
        </p:spPr>
        <p:txBody>
          <a:bodyPr wrap="square" lIns="0" rIns="0" tIns="0" bIns="0" anchor="t"/>
          <a:lstStyle/>
          <a:p>
            <a:pPr algn="l"/>
            <a:r>
              <a:rPr sz="1300" b="0">
                <a:solidFill>
                  <a:srgbClr val="5E584F"/>
                </a:solidFill>
                <a:latin typeface="Calibri"/>
              </a:rPr>
              <a:t>Rule checks and the misstatement roll-up</a:t>
            </a:r>
          </a:p>
        </p:txBody>
      </p:sp>
      <p:sp>
        <p:nvSpPr>
          <p:cNvPr id="41" name="Rounded Rectangle 40"/>
          <p:cNvSpPr/>
          <p:nvPr/>
        </p:nvSpPr>
        <p:spPr>
          <a:xfrm>
            <a:off x="8698992" y="4297680"/>
            <a:ext cx="3371088" cy="987552"/>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808720" y="4389120"/>
            <a:ext cx="3188208" cy="292608"/>
          </a:xfrm>
          <a:prstGeom prst="rect">
            <a:avLst/>
          </a:prstGeom>
          <a:noFill/>
        </p:spPr>
        <p:txBody>
          <a:bodyPr wrap="square" lIns="0" rIns="0" tIns="0" bIns="0" anchor="t"/>
          <a:lstStyle/>
          <a:p>
            <a:pPr algn="l"/>
            <a:r>
              <a:rPr sz="1400" b="1">
                <a:solidFill>
                  <a:srgbClr val="1C1915"/>
                </a:solidFill>
                <a:latin typeface="Calibri"/>
              </a:rPr>
              <a:t>A10  ConciergeAgent</a:t>
            </a:r>
          </a:p>
        </p:txBody>
      </p:sp>
      <p:sp>
        <p:nvSpPr>
          <p:cNvPr id="43" name="TextBox 42"/>
          <p:cNvSpPr txBox="1"/>
          <p:nvPr/>
        </p:nvSpPr>
        <p:spPr>
          <a:xfrm>
            <a:off x="8808720" y="4681728"/>
            <a:ext cx="3188208" cy="530352"/>
          </a:xfrm>
          <a:prstGeom prst="rect">
            <a:avLst/>
          </a:prstGeom>
          <a:noFill/>
        </p:spPr>
        <p:txBody>
          <a:bodyPr wrap="square" lIns="0" rIns="0" tIns="0" bIns="0" anchor="t"/>
          <a:lstStyle/>
          <a:p>
            <a:pPr algn="l"/>
            <a:r>
              <a:rPr sz="1300" b="0">
                <a:solidFill>
                  <a:srgbClr val="5E584F"/>
                </a:solidFill>
                <a:latin typeface="Calibri"/>
              </a:rPr>
              <a:t>Present, pass the decision, draft the report</a:t>
            </a:r>
          </a:p>
        </p:txBody>
      </p:sp>
      <p:sp>
        <p:nvSpPr>
          <p:cNvPr id="44" name="TextBox 43"/>
          <p:cNvSpPr txBox="1"/>
          <p:nvPr/>
        </p:nvSpPr>
        <p:spPr>
          <a:xfrm>
            <a:off x="411480" y="5623560"/>
            <a:ext cx="11338560" cy="365760"/>
          </a:xfrm>
          <a:prstGeom prst="rect">
            <a:avLst/>
          </a:prstGeom>
          <a:noFill/>
        </p:spPr>
        <p:txBody>
          <a:bodyPr wrap="square" lIns="0" rIns="0" tIns="0" bIns="0" anchor="t"/>
          <a:lstStyle/>
          <a:p>
            <a:pPr algn="l"/>
            <a:r>
              <a:rPr sz="1400" b="0">
                <a:solidFill>
                  <a:srgbClr val="5E584F"/>
                </a:solidFill>
                <a:latin typeface="Calibri"/>
              </a:rPr>
              <a:t>Agents do not call each other. Results go into the engagement state and A1 merges them. Dashed cards are specification only, and this prototype has not wired them in.</a:t>
            </a:r>
          </a:p>
        </p:txBody>
      </p:sp>
      <p:sp>
        <p:nvSpPr>
          <p:cNvPr id="45" name="TextBox 44"/>
          <p:cNvSpPr txBox="1"/>
          <p:nvPr/>
        </p:nvSpPr>
        <p:spPr>
          <a:xfrm>
            <a:off x="411480" y="6510528"/>
            <a:ext cx="5486400" cy="256032"/>
          </a:xfrm>
          <a:prstGeom prst="rect">
            <a:avLst/>
          </a:prstGeom>
          <a:noFill/>
        </p:spPr>
        <p:txBody>
          <a:bodyPr wrap="square" lIns="0" rIns="0" tIns="0" bIns="0" anchor="t"/>
          <a:lstStyle/>
          <a:p>
            <a:pPr algn="l"/>
            <a:r>
              <a:rPr sz="1200" b="0">
                <a:solidFill>
                  <a:srgbClr val="5E584F"/>
                </a:solidFill>
                <a:latin typeface="Calibri"/>
              </a:rPr>
              <a:t>ELEC5620 · Group 16</a:t>
            </a:r>
          </a:p>
        </p:txBody>
      </p:sp>
      <p:sp>
        <p:nvSpPr>
          <p:cNvPr id="46" name="TextBox 45"/>
          <p:cNvSpPr txBox="1"/>
          <p:nvPr/>
        </p:nvSpPr>
        <p:spPr>
          <a:xfrm>
            <a:off x="9509760" y="6510528"/>
            <a:ext cx="2286000" cy="256032"/>
          </a:xfrm>
          <a:prstGeom prst="rect">
            <a:avLst/>
          </a:prstGeom>
          <a:noFill/>
        </p:spPr>
        <p:txBody>
          <a:bodyPr wrap="square" lIns="0" rIns="0" tIns="0" bIns="0" anchor="t"/>
          <a:lstStyle/>
          <a:p>
            <a:pPr algn="r"/>
            <a:r>
              <a:rPr sz="1200" b="0">
                <a:solidFill>
                  <a:srgbClr val="5E584F"/>
                </a:solidFill>
                <a:latin typeface="Calibri"/>
              </a:rPr>
              <a:t>4 / 36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365760" y="164592"/>
            <a:ext cx="2011680" cy="256032"/>
          </a:xfrm>
          <a:prstGeom prst="rect">
            <a:avLst/>
          </a:prstGeom>
          <a:noFill/>
        </p:spPr>
        <p:txBody>
          <a:bodyPr wrap="square" lIns="0" rIns="0" tIns="0" bIns="0" anchor="t"/>
          <a:lstStyle/>
          <a:p>
            <a:pPr algn="l"/>
            <a:r>
              <a:rPr sz="1200" b="1">
                <a:solidFill>
                  <a:srgbClr val="0F5E5A"/>
                </a:solidFill>
                <a:latin typeface="Calibri"/>
              </a:rPr>
              <a:t>FIGURE 1B</a:t>
            </a:r>
          </a:p>
        </p:txBody>
      </p:sp>
      <p:sp>
        <p:nvSpPr>
          <p:cNvPr id="3" name="TextBox 2"/>
          <p:cNvSpPr txBox="1"/>
          <p:nvPr/>
        </p:nvSpPr>
        <p:spPr>
          <a:xfrm>
            <a:off x="2286000" y="128016"/>
            <a:ext cx="9509760" cy="329184"/>
          </a:xfrm>
          <a:prstGeom prst="rect">
            <a:avLst/>
          </a:prstGeom>
          <a:noFill/>
        </p:spPr>
        <p:txBody>
          <a:bodyPr wrap="square" lIns="0" rIns="0" tIns="0" bIns="0" anchor="t"/>
          <a:lstStyle/>
          <a:p>
            <a:pPr algn="l"/>
            <a:r>
              <a:rPr sz="1800" b="1">
                <a:solidFill>
                  <a:srgbClr val="1C1915"/>
                </a:solidFill>
                <a:latin typeface="Calibri"/>
              </a:rPr>
              <a:t>Class diagram — agents, services, and contracts</a:t>
            </a:r>
          </a:p>
        </p:txBody>
      </p:sp>
      <p:pic>
        <p:nvPicPr>
          <p:cNvPr id="4" name="Picture 3" descr="class_agents.png"/>
          <p:cNvPicPr>
            <a:picLocks noChangeAspect="1"/>
          </p:cNvPicPr>
          <p:nvPr/>
        </p:nvPicPr>
        <p:blipFill>
          <a:blip r:embed="rId2"/>
          <a:stretch>
            <a:fillRect/>
          </a:stretch>
        </p:blipFill>
        <p:spPr>
          <a:xfrm>
            <a:off x="3136194" y="530352"/>
            <a:ext cx="5889131" cy="5623560"/>
          </a:xfrm>
          <a:prstGeom prst="rect">
            <a:avLst/>
          </a:prstGeom>
        </p:spPr>
      </p:pic>
      <p:sp>
        <p:nvSpPr>
          <p:cNvPr id="5" name="TextBox 4"/>
          <p:cNvSpPr txBox="1"/>
          <p:nvPr/>
        </p:nvSpPr>
        <p:spPr>
          <a:xfrm>
            <a:off x="365760" y="6199632"/>
            <a:ext cx="11430000" cy="292608"/>
          </a:xfrm>
          <a:prstGeom prst="rect">
            <a:avLst/>
          </a:prstGeom>
          <a:noFill/>
        </p:spPr>
        <p:txBody>
          <a:bodyPr wrap="square" lIns="0" rIns="0" tIns="0" bIns="0" anchor="t"/>
          <a:lstStyle/>
          <a:p>
            <a:pPr algn="l"/>
            <a:r>
              <a:rPr sz="1200" b="0">
                <a:solidFill>
                  <a:srgbClr val="5E584F"/>
                </a:solidFill>
                <a:latin typeface="Calibri"/>
              </a:rPr>
              <a:t>Source (group access)  </a:t>
            </a:r>
            <a:r>
              <a:rPr sz="1200" b="1" u="sng">
                <a:solidFill>
                  <a:srgbClr val="0F5E5A"/>
                </a:solidFill>
                <a:latin typeface="Calibri"/>
                <a:hlinkClick r:id="rId3"/>
              </a:rPr>
              <a:t>docs/diagrams/class_agents.puml</a:t>
            </a:r>
          </a:p>
        </p:txBody>
      </p:sp>
      <p:sp>
        <p:nvSpPr>
          <p:cNvPr id="6" name="TextBox 5"/>
          <p:cNvSpPr txBox="1"/>
          <p:nvPr/>
        </p:nvSpPr>
        <p:spPr>
          <a:xfrm>
            <a:off x="411480" y="6510528"/>
            <a:ext cx="5486400" cy="256032"/>
          </a:xfrm>
          <a:prstGeom prst="rect">
            <a:avLst/>
          </a:prstGeom>
          <a:noFill/>
        </p:spPr>
        <p:txBody>
          <a:bodyPr wrap="square" lIns="0" rIns="0" t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rIns="0" tIns="0" bIns="0" anchor="t"/>
          <a:lstStyle/>
          <a:p>
            <a:pPr algn="r"/>
            <a:r>
              <a:rPr sz="1200" b="0">
                <a:solidFill>
                  <a:srgbClr val="5E584F"/>
                </a:solidFill>
                <a:latin typeface="Calibri"/>
              </a:rPr>
              <a:t>5 / 36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411480" y="256032"/>
            <a:ext cx="3840480" cy="256032"/>
          </a:xfrm>
          <a:prstGeom prst="rect">
            <a:avLst/>
          </a:prstGeom>
          <a:noFill/>
        </p:spPr>
        <p:txBody>
          <a:bodyPr wrap="square" lIns="0" rIns="0" tIns="0" bIns="0" anchor="t"/>
          <a:lstStyle/>
          <a:p>
            <a:pPr algn="l"/>
            <a:r>
              <a:rPr sz="1200" b="1">
                <a:solidFill>
                  <a:srgbClr val="0F5E5A"/>
                </a:solidFill>
                <a:latin typeface="Calibri"/>
              </a:rPr>
              <a:t>MEMBER A</a:t>
            </a:r>
          </a:p>
        </p:txBody>
      </p:sp>
      <p:sp>
        <p:nvSpPr>
          <p:cNvPr id="3" name="Rounded Rectangle 2"/>
          <p:cNvSpPr/>
          <p:nvPr/>
        </p:nvSpPr>
        <p:spPr>
          <a:xfrm>
            <a:off x="4114800" y="237744"/>
            <a:ext cx="2103120" cy="274320"/>
          </a:xfrm>
          <a:prstGeom prst="roundRect">
            <a:avLst>
              <a:gd name="adj" fmla="val 8000"/>
            </a:avLst>
          </a:prstGeom>
          <a:solidFill>
            <a:srgbClr val="F7F4EE"/>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0" y="237744"/>
            <a:ext cx="2103120" cy="274320"/>
          </a:xfrm>
          <a:prstGeom prst="rect">
            <a:avLst/>
          </a:prstGeom>
          <a:noFill/>
        </p:spPr>
        <p:txBody>
          <a:bodyPr wrap="square" lIns="0" rIns="0" tIns="0" bIns="0" anchor="ctr"/>
          <a:lstStyle/>
          <a:p>
            <a:pPr algn="ctr"/>
            <a:r>
              <a:rPr sz="1200" b="0">
                <a:solidFill>
                  <a:srgbClr val="5E584F"/>
                </a:solidFill>
                <a:latin typeface="Calibri"/>
              </a:rPr>
              <a:t>Design models</a:t>
            </a:r>
          </a:p>
        </p:txBody>
      </p:sp>
      <p:sp>
        <p:nvSpPr>
          <p:cNvPr id="5" name="TextBox 4"/>
          <p:cNvSpPr txBox="1"/>
          <p:nvPr/>
        </p:nvSpPr>
        <p:spPr>
          <a:xfrm>
            <a:off x="411480" y="621792"/>
            <a:ext cx="10972800" cy="438912"/>
          </a:xfrm>
          <a:prstGeom prst="rect">
            <a:avLst/>
          </a:prstGeom>
          <a:noFill/>
        </p:spPr>
        <p:txBody>
          <a:bodyPr wrap="square" lIns="0" rIns="0" tIns="0" bIns="0" anchor="t"/>
          <a:lstStyle/>
          <a:p>
            <a:pPr algn="l"/>
            <a:r>
              <a:rPr sz="2800" b="1">
                <a:solidFill>
                  <a:srgbClr val="1C1915"/>
                </a:solidFill>
                <a:latin typeface="Calibri"/>
              </a:rPr>
              <a:t>Three constraints on autonomy</a:t>
            </a:r>
          </a:p>
        </p:txBody>
      </p:sp>
      <p:sp>
        <p:nvSpPr>
          <p:cNvPr id="6" name="Rounded Rectangle 5"/>
          <p:cNvSpPr/>
          <p:nvPr/>
        </p:nvSpPr>
        <p:spPr>
          <a:xfrm>
            <a:off x="365760" y="1280160"/>
            <a:ext cx="3749039" cy="498348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1417320"/>
            <a:ext cx="3383280" cy="256032"/>
          </a:xfrm>
          <a:prstGeom prst="rect">
            <a:avLst/>
          </a:prstGeom>
          <a:noFill/>
        </p:spPr>
        <p:txBody>
          <a:bodyPr wrap="square" lIns="0" rIns="0" tIns="0" bIns="0" anchor="t"/>
          <a:lstStyle/>
          <a:p>
            <a:pPr algn="l"/>
            <a:r>
              <a:rPr sz="1200" b="1">
                <a:solidFill>
                  <a:srgbClr val="1B3048"/>
                </a:solidFill>
                <a:latin typeface="Calibri"/>
              </a:rPr>
              <a:t>MODEL 1</a:t>
            </a:r>
          </a:p>
        </p:txBody>
      </p:sp>
      <p:sp>
        <p:nvSpPr>
          <p:cNvPr id="8" name="TextBox 7"/>
          <p:cNvSpPr txBox="1"/>
          <p:nvPr/>
        </p:nvSpPr>
        <p:spPr>
          <a:xfrm>
            <a:off x="530352" y="1719072"/>
            <a:ext cx="3383280" cy="365760"/>
          </a:xfrm>
          <a:prstGeom prst="rect">
            <a:avLst/>
          </a:prstGeom>
          <a:noFill/>
        </p:spPr>
        <p:txBody>
          <a:bodyPr wrap="square" lIns="0" rIns="0" tIns="0" bIns="0" anchor="t"/>
          <a:lstStyle/>
          <a:p>
            <a:pPr algn="l"/>
            <a:r>
              <a:rPr sz="1800" b="1">
                <a:solidFill>
                  <a:srgbClr val="1C1915"/>
                </a:solidFill>
                <a:latin typeface="Calibri"/>
              </a:rPr>
              <a:t>Bounded autonomy</a:t>
            </a:r>
          </a:p>
        </p:txBody>
      </p:sp>
      <p:sp>
        <p:nvSpPr>
          <p:cNvPr id="9" name="TextBox 8"/>
          <p:cNvSpPr txBox="1"/>
          <p:nvPr/>
        </p:nvSpPr>
        <p:spPr>
          <a:xfrm>
            <a:off x="530352" y="2194560"/>
            <a:ext cx="3429000" cy="3840480"/>
          </a:xfrm>
          <a:prstGeom prst="rect">
            <a:avLst/>
          </a:prstGeom>
          <a:noFill/>
        </p:spPr>
        <p:txBody>
          <a:bodyPr wrap="square" lIns="0" rIns="0" tIns="0" bIns="0" anchor="t"/>
          <a:lstStyle/>
          <a:p>
            <a:pPr algn="l"/>
            <a:r>
              <a:rPr sz="1300" b="0">
                <a:solidFill>
                  <a:srgbClr val="1C1915"/>
                </a:solidFill>
                <a:latin typeface="Calibri"/>
              </a:rPr>
              <a:t>The macro flow is a state machine. A gate does not move until the auditor makes an explicit decision.
P0 → acceptance → P1 → planning → P2 → P3 → opinion → P4 → signature.
In execution, procedures run in dependency layers, in parallel within a layer. After the merge the flow continues, waits for a person, or enters completion.</a:t>
            </a:r>
          </a:p>
        </p:txBody>
      </p:sp>
      <p:sp>
        <p:nvSpPr>
          <p:cNvPr id="10" name="Rounded Rectangle 9"/>
          <p:cNvSpPr/>
          <p:nvPr/>
        </p:nvSpPr>
        <p:spPr>
          <a:xfrm>
            <a:off x="4279392" y="1280160"/>
            <a:ext cx="3749039" cy="498348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3984" y="1417320"/>
            <a:ext cx="3383280" cy="256032"/>
          </a:xfrm>
          <a:prstGeom prst="rect">
            <a:avLst/>
          </a:prstGeom>
          <a:noFill/>
        </p:spPr>
        <p:txBody>
          <a:bodyPr wrap="square" lIns="0" rIns="0" tIns="0" bIns="0" anchor="t"/>
          <a:lstStyle/>
          <a:p>
            <a:pPr algn="l"/>
            <a:r>
              <a:rPr sz="1200" b="1">
                <a:solidFill>
                  <a:srgbClr val="0F5E5A"/>
                </a:solidFill>
                <a:latin typeface="Calibri"/>
              </a:rPr>
              <a:t>MODEL 2</a:t>
            </a:r>
          </a:p>
        </p:txBody>
      </p:sp>
      <p:sp>
        <p:nvSpPr>
          <p:cNvPr id="12" name="TextBox 11"/>
          <p:cNvSpPr txBox="1"/>
          <p:nvPr/>
        </p:nvSpPr>
        <p:spPr>
          <a:xfrm>
            <a:off x="4443984" y="1719072"/>
            <a:ext cx="3383280" cy="365760"/>
          </a:xfrm>
          <a:prstGeom prst="rect">
            <a:avLst/>
          </a:prstGeom>
          <a:noFill/>
        </p:spPr>
        <p:txBody>
          <a:bodyPr wrap="square" lIns="0" rIns="0" tIns="0" bIns="0" anchor="t"/>
          <a:lstStyle/>
          <a:p>
            <a:pPr algn="l"/>
            <a:r>
              <a:rPr sz="1800" b="1">
                <a:solidFill>
                  <a:srgbClr val="1C1915"/>
                </a:solidFill>
                <a:latin typeface="Calibri"/>
              </a:rPr>
              <a:t>Four autonomy levels</a:t>
            </a:r>
          </a:p>
        </p:txBody>
      </p:sp>
      <p:sp>
        <p:nvSpPr>
          <p:cNvPr id="13" name="TextBox 12"/>
          <p:cNvSpPr txBox="1"/>
          <p:nvPr/>
        </p:nvSpPr>
        <p:spPr>
          <a:xfrm>
            <a:off x="4443984" y="2194560"/>
            <a:ext cx="3429000" cy="3840480"/>
          </a:xfrm>
          <a:prstGeom prst="rect">
            <a:avLst/>
          </a:prstGeom>
          <a:noFill/>
        </p:spPr>
        <p:txBody>
          <a:bodyPr wrap="square" lIns="0" rIns="0" tIns="0" bIns="0" anchor="t"/>
          <a:lstStyle/>
          <a:p>
            <a:pPr algn="l"/>
            <a:r>
              <a:rPr sz="1300" b="0">
                <a:solidFill>
                  <a:srgbClr val="1C1915"/>
                </a:solidFill>
                <a:latin typeface="Calibri"/>
              </a:rPr>
              <a:t>L1  Advice only. The person decides each item.
L2  A judgment. The person reviews each item.
L3  The system proceeds. The person sees exceptions.
L4  The system runs. The person samples afterwards.
A significant risk, an amount above performance materiality, or low confidence moves the level down. Thirty-two statutory procedures stay at L1.</a:t>
            </a:r>
          </a:p>
        </p:txBody>
      </p:sp>
      <p:sp>
        <p:nvSpPr>
          <p:cNvPr id="14" name="Rounded Rectangle 13"/>
          <p:cNvSpPr/>
          <p:nvPr/>
        </p:nvSpPr>
        <p:spPr>
          <a:xfrm>
            <a:off x="8193024" y="1280160"/>
            <a:ext cx="3749039" cy="498348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7616" y="1417320"/>
            <a:ext cx="3383280" cy="256032"/>
          </a:xfrm>
          <a:prstGeom prst="rect">
            <a:avLst/>
          </a:prstGeom>
          <a:noFill/>
        </p:spPr>
        <p:txBody>
          <a:bodyPr wrap="square" lIns="0" rIns="0" tIns="0" bIns="0" anchor="t"/>
          <a:lstStyle/>
          <a:p>
            <a:pPr algn="l"/>
            <a:r>
              <a:rPr sz="1200" b="1">
                <a:solidFill>
                  <a:srgbClr val="8C4A1F"/>
                </a:solidFill>
                <a:latin typeface="Calibri"/>
              </a:rPr>
              <a:t>MODEL 3</a:t>
            </a:r>
          </a:p>
        </p:txBody>
      </p:sp>
      <p:sp>
        <p:nvSpPr>
          <p:cNvPr id="16" name="TextBox 15"/>
          <p:cNvSpPr txBox="1"/>
          <p:nvPr/>
        </p:nvSpPr>
        <p:spPr>
          <a:xfrm>
            <a:off x="8357616" y="1719072"/>
            <a:ext cx="3383280" cy="365760"/>
          </a:xfrm>
          <a:prstGeom prst="rect">
            <a:avLst/>
          </a:prstGeom>
          <a:noFill/>
        </p:spPr>
        <p:txBody>
          <a:bodyPr wrap="square" lIns="0" rIns="0" tIns="0" bIns="0" anchor="t"/>
          <a:lstStyle/>
          <a:p>
            <a:pPr algn="l"/>
            <a:r>
              <a:rPr sz="1800" b="1">
                <a:solidFill>
                  <a:srgbClr val="1C1915"/>
                </a:solidFill>
                <a:latin typeface="Calibri"/>
              </a:rPr>
              <a:t>A traceable judgment</a:t>
            </a:r>
          </a:p>
        </p:txBody>
      </p:sp>
      <p:sp>
        <p:nvSpPr>
          <p:cNvPr id="17" name="TextBox 16"/>
          <p:cNvSpPr txBox="1"/>
          <p:nvPr/>
        </p:nvSpPr>
        <p:spPr>
          <a:xfrm>
            <a:off x="8357616" y="2194560"/>
            <a:ext cx="3429000" cy="3840480"/>
          </a:xfrm>
          <a:prstGeom prst="rect">
            <a:avLst/>
          </a:prstGeom>
          <a:noFill/>
        </p:spPr>
        <p:txBody>
          <a:bodyPr wrap="square" lIns="0" rIns="0" tIns="0" bIns="0" anchor="t"/>
          <a:lstStyle/>
          <a:p>
            <a:pPr algn="l"/>
            <a:r>
              <a:rPr sz="1300" b="0">
                <a:solidFill>
                  <a:srgbClr val="1C1915"/>
                </a:solidFill>
                <a:latin typeface="Calibri"/>
              </a:rPr>
              <a:t>Conclusion and proposed action.
Reasoning chain: fact, standard, inference.
Counter-argument and confidence.
Evidence pointers, back to the page.
Four checks: syntax, structure, references, semantics. A fact needs a pointer. A standard must point at a fragment in the knowledge base.</a:t>
            </a:r>
          </a:p>
        </p:txBody>
      </p:sp>
      <p:sp>
        <p:nvSpPr>
          <p:cNvPr id="18" name="TextBox 17"/>
          <p:cNvSpPr txBox="1"/>
          <p:nvPr/>
        </p:nvSpPr>
        <p:spPr>
          <a:xfrm>
            <a:off x="411480" y="6510528"/>
            <a:ext cx="5486400" cy="256032"/>
          </a:xfrm>
          <a:prstGeom prst="rect">
            <a:avLst/>
          </a:prstGeom>
          <a:noFill/>
        </p:spPr>
        <p:txBody>
          <a:bodyPr wrap="square" lIns="0" rIns="0" tIns="0" bIns="0" anchor="t"/>
          <a:lstStyle/>
          <a:p>
            <a:pPr algn="l"/>
            <a:r>
              <a:rPr sz="1200" b="0">
                <a:solidFill>
                  <a:srgbClr val="5E584F"/>
                </a:solidFill>
                <a:latin typeface="Calibri"/>
              </a:rPr>
              <a:t>ELEC5620 · Group 16</a:t>
            </a:r>
          </a:p>
        </p:txBody>
      </p:sp>
      <p:sp>
        <p:nvSpPr>
          <p:cNvPr id="19" name="TextBox 18"/>
          <p:cNvSpPr txBox="1"/>
          <p:nvPr/>
        </p:nvSpPr>
        <p:spPr>
          <a:xfrm>
            <a:off x="9509760" y="6510528"/>
            <a:ext cx="2286000" cy="256032"/>
          </a:xfrm>
          <a:prstGeom prst="rect">
            <a:avLst/>
          </a:prstGeom>
          <a:noFill/>
        </p:spPr>
        <p:txBody>
          <a:bodyPr wrap="square" lIns="0" rIns="0" tIns="0" bIns="0" anchor="t"/>
          <a:lstStyle/>
          <a:p>
            <a:pPr algn="r"/>
            <a:r>
              <a:rPr sz="1200" b="0">
                <a:solidFill>
                  <a:srgbClr val="5E584F"/>
                </a:solidFill>
                <a:latin typeface="Calibri"/>
              </a:rPr>
              <a:t>6 / 36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365760" y="164592"/>
            <a:ext cx="2011680" cy="256032"/>
          </a:xfrm>
          <a:prstGeom prst="rect">
            <a:avLst/>
          </a:prstGeom>
          <a:noFill/>
        </p:spPr>
        <p:txBody>
          <a:bodyPr wrap="square" lIns="0" rIns="0" tIns="0" bIns="0" anchor="t"/>
          <a:lstStyle/>
          <a:p>
            <a:pPr algn="l"/>
            <a:r>
              <a:rPr sz="1200" b="1">
                <a:solidFill>
                  <a:srgbClr val="0F5E5A"/>
                </a:solidFill>
                <a:latin typeface="Calibri"/>
              </a:rPr>
              <a:t>FIGURE 3A</a:t>
            </a:r>
          </a:p>
        </p:txBody>
      </p:sp>
      <p:sp>
        <p:nvSpPr>
          <p:cNvPr id="3" name="TextBox 2"/>
          <p:cNvSpPr txBox="1"/>
          <p:nvPr/>
        </p:nvSpPr>
        <p:spPr>
          <a:xfrm>
            <a:off x="2286000" y="128016"/>
            <a:ext cx="9509760" cy="329184"/>
          </a:xfrm>
          <a:prstGeom prst="rect">
            <a:avLst/>
          </a:prstGeom>
          <a:noFill/>
        </p:spPr>
        <p:txBody>
          <a:bodyPr wrap="square" lIns="0" rIns="0" tIns="0" bIns="0" anchor="t"/>
          <a:lstStyle/>
          <a:p>
            <a:pPr algn="l"/>
            <a:r>
              <a:rPr sz="1800" b="1">
                <a:solidFill>
                  <a:srgbClr val="1C1915"/>
                </a:solidFill>
                <a:latin typeface="Calibri"/>
              </a:rPr>
              <a:t>State machine — engagement lifecycle</a:t>
            </a:r>
          </a:p>
        </p:txBody>
      </p:sp>
      <p:pic>
        <p:nvPicPr>
          <p:cNvPr id="4" name="Picture 3" descr="state_main.png"/>
          <p:cNvPicPr>
            <a:picLocks noChangeAspect="1"/>
          </p:cNvPicPr>
          <p:nvPr/>
        </p:nvPicPr>
        <p:blipFill>
          <a:blip r:embed="rId2"/>
          <a:stretch>
            <a:fillRect/>
          </a:stretch>
        </p:blipFill>
        <p:spPr>
          <a:xfrm>
            <a:off x="1351925" y="530352"/>
            <a:ext cx="9457670" cy="5623560"/>
          </a:xfrm>
          <a:prstGeom prst="rect">
            <a:avLst/>
          </a:prstGeom>
        </p:spPr>
      </p:pic>
      <p:sp>
        <p:nvSpPr>
          <p:cNvPr id="5" name="TextBox 4"/>
          <p:cNvSpPr txBox="1"/>
          <p:nvPr/>
        </p:nvSpPr>
        <p:spPr>
          <a:xfrm>
            <a:off x="365760" y="6199632"/>
            <a:ext cx="11430000" cy="292608"/>
          </a:xfrm>
          <a:prstGeom prst="rect">
            <a:avLst/>
          </a:prstGeom>
          <a:noFill/>
        </p:spPr>
        <p:txBody>
          <a:bodyPr wrap="square" lIns="0" rIns="0" tIns="0" bIns="0" anchor="t"/>
          <a:lstStyle/>
          <a:p>
            <a:pPr algn="l"/>
            <a:r>
              <a:rPr sz="1200" b="0">
                <a:solidFill>
                  <a:srgbClr val="5E584F"/>
                </a:solidFill>
                <a:latin typeface="Calibri"/>
              </a:rPr>
              <a:t>Source (group access)  </a:t>
            </a:r>
            <a:r>
              <a:rPr sz="1200" b="1" u="sng">
                <a:solidFill>
                  <a:srgbClr val="0F5E5A"/>
                </a:solidFill>
                <a:latin typeface="Calibri"/>
                <a:hlinkClick r:id="rId3"/>
              </a:rPr>
              <a:t>docs/diagrams/state_main.puml</a:t>
            </a:r>
          </a:p>
        </p:txBody>
      </p:sp>
      <p:sp>
        <p:nvSpPr>
          <p:cNvPr id="6" name="TextBox 5"/>
          <p:cNvSpPr txBox="1"/>
          <p:nvPr/>
        </p:nvSpPr>
        <p:spPr>
          <a:xfrm>
            <a:off x="411480" y="6510528"/>
            <a:ext cx="5486400" cy="256032"/>
          </a:xfrm>
          <a:prstGeom prst="rect">
            <a:avLst/>
          </a:prstGeom>
          <a:noFill/>
        </p:spPr>
        <p:txBody>
          <a:bodyPr wrap="square" lIns="0" rIns="0" t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rIns="0" tIns="0" bIns="0" anchor="t"/>
          <a:lstStyle/>
          <a:p>
            <a:pPr algn="r"/>
            <a:r>
              <a:rPr sz="1200" b="0">
                <a:solidFill>
                  <a:srgbClr val="5E584F"/>
                </a:solidFill>
                <a:latin typeface="Calibri"/>
              </a:rPr>
              <a:t>7 / 36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411480" y="256032"/>
            <a:ext cx="3840480" cy="256032"/>
          </a:xfrm>
          <a:prstGeom prst="rect">
            <a:avLst/>
          </a:prstGeom>
          <a:noFill/>
        </p:spPr>
        <p:txBody>
          <a:bodyPr wrap="square" lIns="0" rIns="0" tIns="0" bIns="0" anchor="t"/>
          <a:lstStyle/>
          <a:p>
            <a:pPr algn="l"/>
            <a:r>
              <a:rPr sz="1200" b="1">
                <a:solidFill>
                  <a:srgbClr val="0F5E5A"/>
                </a:solidFill>
                <a:latin typeface="Calibri"/>
              </a:rPr>
              <a:t>MEMBER B</a:t>
            </a:r>
          </a:p>
        </p:txBody>
      </p:sp>
      <p:sp>
        <p:nvSpPr>
          <p:cNvPr id="3" name="Rounded Rectangle 2"/>
          <p:cNvSpPr/>
          <p:nvPr/>
        </p:nvSpPr>
        <p:spPr>
          <a:xfrm>
            <a:off x="4114800" y="237744"/>
            <a:ext cx="2103120" cy="274320"/>
          </a:xfrm>
          <a:prstGeom prst="roundRect">
            <a:avLst>
              <a:gd name="adj" fmla="val 8000"/>
            </a:avLst>
          </a:prstGeom>
          <a:solidFill>
            <a:srgbClr val="F7F4EE"/>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0" y="237744"/>
            <a:ext cx="2103120" cy="274320"/>
          </a:xfrm>
          <a:prstGeom prst="rect">
            <a:avLst/>
          </a:prstGeom>
          <a:noFill/>
        </p:spPr>
        <p:txBody>
          <a:bodyPr wrap="square" lIns="0" rIns="0" tIns="0" bIns="0" anchor="ctr"/>
          <a:lstStyle/>
          <a:p>
            <a:pPr algn="ctr"/>
            <a:r>
              <a:rPr sz="1200" b="0">
                <a:solidFill>
                  <a:srgbClr val="5E584F"/>
                </a:solidFill>
                <a:latin typeface="Calibri"/>
              </a:rPr>
              <a:t>Use cases</a:t>
            </a:r>
          </a:p>
        </p:txBody>
      </p:sp>
      <p:sp>
        <p:nvSpPr>
          <p:cNvPr id="5" name="TextBox 4"/>
          <p:cNvSpPr txBox="1"/>
          <p:nvPr/>
        </p:nvSpPr>
        <p:spPr>
          <a:xfrm>
            <a:off x="411480" y="621792"/>
            <a:ext cx="10972800" cy="438912"/>
          </a:xfrm>
          <a:prstGeom prst="rect">
            <a:avLst/>
          </a:prstGeom>
          <a:noFill/>
        </p:spPr>
        <p:txBody>
          <a:bodyPr wrap="square" lIns="0" rIns="0" tIns="0" bIns="0" anchor="t"/>
          <a:lstStyle/>
          <a:p>
            <a:pPr algn="l"/>
            <a:r>
              <a:rPr sz="2800" b="1">
                <a:solidFill>
                  <a:srgbClr val="1C1915"/>
                </a:solidFill>
                <a:latin typeface="Calibri"/>
              </a:rPr>
              <a:t>Nine use cases cover the whole engagement</a:t>
            </a:r>
          </a:p>
        </p:txBody>
      </p:sp>
      <p:sp>
        <p:nvSpPr>
          <p:cNvPr id="6" name="Rounded Rectangle 5"/>
          <p:cNvSpPr/>
          <p:nvPr/>
        </p:nvSpPr>
        <p:spPr>
          <a:xfrm>
            <a:off x="365760" y="1234440"/>
            <a:ext cx="3767328" cy="1298448"/>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1325880"/>
            <a:ext cx="3474720" cy="237744"/>
          </a:xfrm>
          <a:prstGeom prst="rect">
            <a:avLst/>
          </a:prstGeom>
          <a:noFill/>
        </p:spPr>
        <p:txBody>
          <a:bodyPr wrap="square" lIns="0" rIns="0" tIns="0" bIns="0" anchor="t"/>
          <a:lstStyle/>
          <a:p>
            <a:pPr algn="l"/>
            <a:r>
              <a:rPr sz="1200" b="1">
                <a:solidFill>
                  <a:srgbClr val="0F5E5A"/>
                </a:solidFill>
                <a:latin typeface="Calibri"/>
              </a:rPr>
              <a:t>UC-01 · P0</a:t>
            </a:r>
          </a:p>
        </p:txBody>
      </p:sp>
      <p:sp>
        <p:nvSpPr>
          <p:cNvPr id="8" name="TextBox 7"/>
          <p:cNvSpPr txBox="1"/>
          <p:nvPr/>
        </p:nvSpPr>
        <p:spPr>
          <a:xfrm>
            <a:off x="512064" y="1563624"/>
            <a:ext cx="3474720" cy="292608"/>
          </a:xfrm>
          <a:prstGeom prst="rect">
            <a:avLst/>
          </a:prstGeom>
          <a:noFill/>
        </p:spPr>
        <p:txBody>
          <a:bodyPr wrap="square" lIns="0" rIns="0" tIns="0" bIns="0" anchor="t"/>
          <a:lstStyle/>
          <a:p>
            <a:pPr algn="l"/>
            <a:r>
              <a:rPr sz="1600" b="1">
                <a:solidFill>
                  <a:srgbClr val="1C1915"/>
                </a:solidFill>
                <a:latin typeface="Calibri"/>
              </a:rPr>
              <a:t>Acceptance</a:t>
            </a:r>
          </a:p>
        </p:txBody>
      </p:sp>
      <p:sp>
        <p:nvSpPr>
          <p:cNvPr id="9" name="TextBox 8"/>
          <p:cNvSpPr txBox="1"/>
          <p:nvPr/>
        </p:nvSpPr>
        <p:spPr>
          <a:xfrm>
            <a:off x="512064" y="1892808"/>
            <a:ext cx="3474720" cy="530352"/>
          </a:xfrm>
          <a:prstGeom prst="rect">
            <a:avLst/>
          </a:prstGeom>
          <a:noFill/>
        </p:spPr>
        <p:txBody>
          <a:bodyPr wrap="square" lIns="0" rIns="0" tIns="0" bIns="0" anchor="t"/>
          <a:lstStyle/>
          <a:p>
            <a:pPr algn="l"/>
            <a:r>
              <a:rPr sz="1300" b="0">
                <a:solidFill>
                  <a:srgbClr val="5E584F"/>
                </a:solidFill>
                <a:latin typeface="Calibri"/>
              </a:rPr>
              <a:t>After the register check, the auditor accepts or declines.</a:t>
            </a:r>
          </a:p>
        </p:txBody>
      </p:sp>
      <p:sp>
        <p:nvSpPr>
          <p:cNvPr id="10" name="Rounded Rectangle 9"/>
          <p:cNvSpPr/>
          <p:nvPr/>
        </p:nvSpPr>
        <p:spPr>
          <a:xfrm>
            <a:off x="4279392" y="1234440"/>
            <a:ext cx="3767328" cy="1298448"/>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25696" y="1325880"/>
            <a:ext cx="3474720" cy="237744"/>
          </a:xfrm>
          <a:prstGeom prst="rect">
            <a:avLst/>
          </a:prstGeom>
          <a:noFill/>
        </p:spPr>
        <p:txBody>
          <a:bodyPr wrap="square" lIns="0" rIns="0" tIns="0" bIns="0" anchor="t"/>
          <a:lstStyle/>
          <a:p>
            <a:pPr algn="l"/>
            <a:r>
              <a:rPr sz="1200" b="1">
                <a:solidFill>
                  <a:srgbClr val="0F5E5A"/>
                </a:solidFill>
                <a:latin typeface="Calibri"/>
              </a:rPr>
              <a:t>UC-02 · P1</a:t>
            </a:r>
          </a:p>
        </p:txBody>
      </p:sp>
      <p:sp>
        <p:nvSpPr>
          <p:cNvPr id="12" name="TextBox 11"/>
          <p:cNvSpPr txBox="1"/>
          <p:nvPr/>
        </p:nvSpPr>
        <p:spPr>
          <a:xfrm>
            <a:off x="4425696" y="1563624"/>
            <a:ext cx="3474720" cy="292608"/>
          </a:xfrm>
          <a:prstGeom prst="rect">
            <a:avLst/>
          </a:prstGeom>
          <a:noFill/>
        </p:spPr>
        <p:txBody>
          <a:bodyPr wrap="square" lIns="0" rIns="0" tIns="0" bIns="0" anchor="t"/>
          <a:lstStyle/>
          <a:p>
            <a:pPr algn="l"/>
            <a:r>
              <a:rPr sz="1600" b="1">
                <a:solidFill>
                  <a:srgbClr val="1C1915"/>
                </a:solidFill>
                <a:latin typeface="Calibri"/>
              </a:rPr>
              <a:t>Planning and risk</a:t>
            </a:r>
          </a:p>
        </p:txBody>
      </p:sp>
      <p:sp>
        <p:nvSpPr>
          <p:cNvPr id="13" name="TextBox 12"/>
          <p:cNvSpPr txBox="1"/>
          <p:nvPr/>
        </p:nvSpPr>
        <p:spPr>
          <a:xfrm>
            <a:off x="4425696" y="1892808"/>
            <a:ext cx="3474720" cy="530352"/>
          </a:xfrm>
          <a:prstGeom prst="rect">
            <a:avLst/>
          </a:prstGeom>
          <a:noFill/>
        </p:spPr>
        <p:txBody>
          <a:bodyPr wrap="square" lIns="0" rIns="0" tIns="0" bIns="0" anchor="t"/>
          <a:lstStyle/>
          <a:p>
            <a:pPr algn="l"/>
            <a:r>
              <a:rPr sz="1300" b="0">
                <a:solidFill>
                  <a:srgbClr val="5E584F"/>
                </a:solidFill>
                <a:latin typeface="Calibri"/>
              </a:rPr>
              <a:t>Materiality and the risk list. The pack is assembled only after approval.</a:t>
            </a:r>
          </a:p>
        </p:txBody>
      </p:sp>
      <p:sp>
        <p:nvSpPr>
          <p:cNvPr id="14" name="Rounded Rectangle 13"/>
          <p:cNvSpPr/>
          <p:nvPr/>
        </p:nvSpPr>
        <p:spPr>
          <a:xfrm>
            <a:off x="8193024" y="1234440"/>
            <a:ext cx="3767328" cy="1298448"/>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9328" y="1325880"/>
            <a:ext cx="3474720" cy="237744"/>
          </a:xfrm>
          <a:prstGeom prst="rect">
            <a:avLst/>
          </a:prstGeom>
          <a:noFill/>
        </p:spPr>
        <p:txBody>
          <a:bodyPr wrap="square" lIns="0" rIns="0" tIns="0" bIns="0" anchor="t"/>
          <a:lstStyle/>
          <a:p>
            <a:pPr algn="l"/>
            <a:r>
              <a:rPr sz="1200" b="1">
                <a:solidFill>
                  <a:srgbClr val="0F5E5A"/>
                </a:solidFill>
                <a:latin typeface="Calibri"/>
              </a:rPr>
              <a:t>UC-03 · P2</a:t>
            </a:r>
          </a:p>
        </p:txBody>
      </p:sp>
      <p:sp>
        <p:nvSpPr>
          <p:cNvPr id="16" name="TextBox 15"/>
          <p:cNvSpPr txBox="1"/>
          <p:nvPr/>
        </p:nvSpPr>
        <p:spPr>
          <a:xfrm>
            <a:off x="8339328" y="1563624"/>
            <a:ext cx="3474720" cy="292608"/>
          </a:xfrm>
          <a:prstGeom prst="rect">
            <a:avLst/>
          </a:prstGeom>
          <a:noFill/>
        </p:spPr>
        <p:txBody>
          <a:bodyPr wrap="square" lIns="0" rIns="0" tIns="0" bIns="0" anchor="t"/>
          <a:lstStyle/>
          <a:p>
            <a:pPr algn="l"/>
            <a:r>
              <a:rPr sz="1600" b="1">
                <a:solidFill>
                  <a:srgbClr val="1C1915"/>
                </a:solidFill>
                <a:latin typeface="Calibri"/>
              </a:rPr>
              <a:t>Procedure execution</a:t>
            </a:r>
          </a:p>
        </p:txBody>
      </p:sp>
      <p:sp>
        <p:nvSpPr>
          <p:cNvPr id="17" name="TextBox 16"/>
          <p:cNvSpPr txBox="1"/>
          <p:nvPr/>
        </p:nvSpPr>
        <p:spPr>
          <a:xfrm>
            <a:off x="8339328" y="1892808"/>
            <a:ext cx="3474720" cy="530352"/>
          </a:xfrm>
          <a:prstGeom prst="rect">
            <a:avLst/>
          </a:prstGeom>
          <a:noFill/>
        </p:spPr>
        <p:txBody>
          <a:bodyPr wrap="square" lIns="0" rIns="0" tIns="0" bIns="0" anchor="t"/>
          <a:lstStyle/>
          <a:p>
            <a:pPr algn="l"/>
            <a:r>
              <a:rPr sz="1300" b="0">
                <a:solidFill>
                  <a:srgbClr val="5E584F"/>
                </a:solidFill>
                <a:latin typeface="Calibri"/>
              </a:rPr>
              <a:t>Full-population checks and substantive procedures, including confirmations.</a:t>
            </a:r>
          </a:p>
        </p:txBody>
      </p:sp>
      <p:sp>
        <p:nvSpPr>
          <p:cNvPr id="18" name="Rounded Rectangle 17"/>
          <p:cNvSpPr/>
          <p:nvPr/>
        </p:nvSpPr>
        <p:spPr>
          <a:xfrm>
            <a:off x="365760" y="2651760"/>
            <a:ext cx="3767328" cy="1298448"/>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2064" y="2743200"/>
            <a:ext cx="3474720" cy="237744"/>
          </a:xfrm>
          <a:prstGeom prst="rect">
            <a:avLst/>
          </a:prstGeom>
          <a:noFill/>
        </p:spPr>
        <p:txBody>
          <a:bodyPr wrap="square" lIns="0" rIns="0" tIns="0" bIns="0" anchor="t"/>
          <a:lstStyle/>
          <a:p>
            <a:pPr algn="l"/>
            <a:r>
              <a:rPr sz="1200" b="1">
                <a:solidFill>
                  <a:srgbClr val="0F5E5A"/>
                </a:solidFill>
                <a:latin typeface="Calibri"/>
              </a:rPr>
              <a:t>UC-04 · P2</a:t>
            </a:r>
          </a:p>
        </p:txBody>
      </p:sp>
      <p:sp>
        <p:nvSpPr>
          <p:cNvPr id="20" name="TextBox 19"/>
          <p:cNvSpPr txBox="1"/>
          <p:nvPr/>
        </p:nvSpPr>
        <p:spPr>
          <a:xfrm>
            <a:off x="512064" y="2980944"/>
            <a:ext cx="3474720" cy="292608"/>
          </a:xfrm>
          <a:prstGeom prst="rect">
            <a:avLst/>
          </a:prstGeom>
          <a:noFill/>
        </p:spPr>
        <p:txBody>
          <a:bodyPr wrap="square" lIns="0" rIns="0" tIns="0" bIns="0" anchor="t"/>
          <a:lstStyle/>
          <a:p>
            <a:pPr algn="l"/>
            <a:r>
              <a:rPr sz="1600" b="1">
                <a:solidFill>
                  <a:srgbClr val="1C1915"/>
                </a:solidFill>
                <a:latin typeface="Calibri"/>
              </a:rPr>
              <a:t>Exception review</a:t>
            </a:r>
          </a:p>
        </p:txBody>
      </p:sp>
      <p:sp>
        <p:nvSpPr>
          <p:cNvPr id="21" name="TextBox 20"/>
          <p:cNvSpPr txBox="1"/>
          <p:nvPr/>
        </p:nvSpPr>
        <p:spPr>
          <a:xfrm>
            <a:off x="512064" y="3310128"/>
            <a:ext cx="3474720" cy="530352"/>
          </a:xfrm>
          <a:prstGeom prst="rect">
            <a:avLst/>
          </a:prstGeom>
          <a:noFill/>
        </p:spPr>
        <p:txBody>
          <a:bodyPr wrap="square" lIns="0" rIns="0" tIns="0" bIns="0" anchor="t"/>
          <a:lstStyle/>
          <a:p>
            <a:pPr algn="l"/>
            <a:r>
              <a:rPr sz="1300" b="0">
                <a:solidFill>
                  <a:srgbClr val="5E584F"/>
                </a:solidFill>
                <a:latin typeface="Calibri"/>
              </a:rPr>
              <a:t>Confirm, override, record a misstatement, or rerun.</a:t>
            </a:r>
          </a:p>
        </p:txBody>
      </p:sp>
      <p:sp>
        <p:nvSpPr>
          <p:cNvPr id="22" name="Rounded Rectangle 21"/>
          <p:cNvSpPr/>
          <p:nvPr/>
        </p:nvSpPr>
        <p:spPr>
          <a:xfrm>
            <a:off x="4279392" y="2651760"/>
            <a:ext cx="3767328" cy="1298448"/>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25696" y="2743200"/>
            <a:ext cx="3474720" cy="237744"/>
          </a:xfrm>
          <a:prstGeom prst="rect">
            <a:avLst/>
          </a:prstGeom>
          <a:noFill/>
        </p:spPr>
        <p:txBody>
          <a:bodyPr wrap="square" lIns="0" rIns="0" tIns="0" bIns="0" anchor="t"/>
          <a:lstStyle/>
          <a:p>
            <a:pPr algn="l"/>
            <a:r>
              <a:rPr sz="1200" b="1">
                <a:solidFill>
                  <a:srgbClr val="0F5E5A"/>
                </a:solidFill>
                <a:latin typeface="Calibri"/>
              </a:rPr>
              <a:t>UC-05 · P2→P1</a:t>
            </a:r>
          </a:p>
        </p:txBody>
      </p:sp>
      <p:sp>
        <p:nvSpPr>
          <p:cNvPr id="24" name="TextBox 23"/>
          <p:cNvSpPr txBox="1"/>
          <p:nvPr/>
        </p:nvSpPr>
        <p:spPr>
          <a:xfrm>
            <a:off x="4425696" y="2980944"/>
            <a:ext cx="3474720" cy="292608"/>
          </a:xfrm>
          <a:prstGeom prst="rect">
            <a:avLst/>
          </a:prstGeom>
          <a:noFill/>
        </p:spPr>
        <p:txBody>
          <a:bodyPr wrap="square" lIns="0" rIns="0" tIns="0" bIns="0" anchor="t"/>
          <a:lstStyle/>
          <a:p>
            <a:pPr algn="l"/>
            <a:r>
              <a:rPr sz="1600" b="1">
                <a:solidFill>
                  <a:srgbClr val="1C1915"/>
                </a:solidFill>
                <a:latin typeface="Calibri"/>
              </a:rPr>
              <a:t>Risk re-assessment</a:t>
            </a:r>
          </a:p>
        </p:txBody>
      </p:sp>
      <p:sp>
        <p:nvSpPr>
          <p:cNvPr id="25" name="TextBox 24"/>
          <p:cNvSpPr txBox="1"/>
          <p:nvPr/>
        </p:nvSpPr>
        <p:spPr>
          <a:xfrm>
            <a:off x="4425696" y="3310128"/>
            <a:ext cx="3474720" cy="530352"/>
          </a:xfrm>
          <a:prstGeom prst="rect">
            <a:avLst/>
          </a:prstGeom>
          <a:noFill/>
        </p:spPr>
        <p:txBody>
          <a:bodyPr wrap="square" lIns="0" rIns="0" tIns="0" bIns="0" anchor="t"/>
          <a:lstStyle/>
          <a:p>
            <a:pPr algn="l"/>
            <a:r>
              <a:rPr sz="1300" b="0">
                <a:solidFill>
                  <a:srgbClr val="5E584F"/>
                </a:solidFill>
                <a:latin typeface="Calibri"/>
              </a:rPr>
              <a:t>New evidence that changes the risk pulls the work back to planning.</a:t>
            </a:r>
          </a:p>
        </p:txBody>
      </p:sp>
      <p:sp>
        <p:nvSpPr>
          <p:cNvPr id="26" name="Rounded Rectangle 25"/>
          <p:cNvSpPr/>
          <p:nvPr/>
        </p:nvSpPr>
        <p:spPr>
          <a:xfrm>
            <a:off x="8193024" y="2651760"/>
            <a:ext cx="3767328" cy="1298448"/>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9328" y="2743200"/>
            <a:ext cx="3474720" cy="237744"/>
          </a:xfrm>
          <a:prstGeom prst="rect">
            <a:avLst/>
          </a:prstGeom>
          <a:noFill/>
        </p:spPr>
        <p:txBody>
          <a:bodyPr wrap="square" lIns="0" rIns="0" tIns="0" bIns="0" anchor="t"/>
          <a:lstStyle/>
          <a:p>
            <a:pPr algn="l"/>
            <a:r>
              <a:rPr sz="1200" b="1">
                <a:solidFill>
                  <a:srgbClr val="0F5E5A"/>
                </a:solidFill>
                <a:latin typeface="Calibri"/>
              </a:rPr>
              <a:t>UC-06 · P3→P4</a:t>
            </a:r>
          </a:p>
        </p:txBody>
      </p:sp>
      <p:sp>
        <p:nvSpPr>
          <p:cNvPr id="28" name="TextBox 27"/>
          <p:cNvSpPr txBox="1"/>
          <p:nvPr/>
        </p:nvSpPr>
        <p:spPr>
          <a:xfrm>
            <a:off x="8339328" y="2980944"/>
            <a:ext cx="3474720" cy="292608"/>
          </a:xfrm>
          <a:prstGeom prst="rect">
            <a:avLst/>
          </a:prstGeom>
          <a:noFill/>
        </p:spPr>
        <p:txBody>
          <a:bodyPr wrap="square" lIns="0" rIns="0" tIns="0" bIns="0" anchor="t"/>
          <a:lstStyle/>
          <a:p>
            <a:pPr algn="l"/>
            <a:r>
              <a:rPr sz="1600" b="1">
                <a:solidFill>
                  <a:srgbClr val="1C1915"/>
                </a:solidFill>
                <a:latin typeface="Calibri"/>
              </a:rPr>
              <a:t>Completion and report</a:t>
            </a:r>
          </a:p>
        </p:txBody>
      </p:sp>
      <p:sp>
        <p:nvSpPr>
          <p:cNvPr id="29" name="TextBox 28"/>
          <p:cNvSpPr txBox="1"/>
          <p:nvPr/>
        </p:nvSpPr>
        <p:spPr>
          <a:xfrm>
            <a:off x="8339328" y="3310128"/>
            <a:ext cx="3474720" cy="530352"/>
          </a:xfrm>
          <a:prstGeom prst="rect">
            <a:avLst/>
          </a:prstGeom>
          <a:noFill/>
        </p:spPr>
        <p:txBody>
          <a:bodyPr wrap="square" lIns="0" rIns="0" tIns="0" bIns="0" anchor="t"/>
          <a:lstStyle/>
          <a:p>
            <a:pPr algn="l"/>
            <a:r>
              <a:rPr sz="1300" b="0">
                <a:solidFill>
                  <a:srgbClr val="5E584F"/>
                </a:solidFill>
                <a:latin typeface="Calibri"/>
              </a:rPr>
              <a:t>Evaluate misstatements, draft the report, review before signature.</a:t>
            </a:r>
          </a:p>
        </p:txBody>
      </p:sp>
      <p:sp>
        <p:nvSpPr>
          <p:cNvPr id="30" name="Rounded Rectangle 29"/>
          <p:cNvSpPr/>
          <p:nvPr/>
        </p:nvSpPr>
        <p:spPr>
          <a:xfrm>
            <a:off x="365760" y="4069080"/>
            <a:ext cx="3767328" cy="1298448"/>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2064" y="4160520"/>
            <a:ext cx="3474720" cy="237744"/>
          </a:xfrm>
          <a:prstGeom prst="rect">
            <a:avLst/>
          </a:prstGeom>
          <a:noFill/>
        </p:spPr>
        <p:txBody>
          <a:bodyPr wrap="square" lIns="0" rIns="0" tIns="0" bIns="0" anchor="t"/>
          <a:lstStyle/>
          <a:p>
            <a:pPr algn="l"/>
            <a:r>
              <a:rPr sz="1200" b="1">
                <a:solidFill>
                  <a:srgbClr val="0F5E5A"/>
                </a:solidFill>
                <a:latin typeface="Calibri"/>
              </a:rPr>
              <a:t>UC-07 · P4</a:t>
            </a:r>
          </a:p>
        </p:txBody>
      </p:sp>
      <p:sp>
        <p:nvSpPr>
          <p:cNvPr id="32" name="TextBox 31"/>
          <p:cNvSpPr txBox="1"/>
          <p:nvPr/>
        </p:nvSpPr>
        <p:spPr>
          <a:xfrm>
            <a:off x="512064" y="4398264"/>
            <a:ext cx="3474720" cy="292608"/>
          </a:xfrm>
          <a:prstGeom prst="rect">
            <a:avLst/>
          </a:prstGeom>
          <a:noFill/>
        </p:spPr>
        <p:txBody>
          <a:bodyPr wrap="square" lIns="0" rIns="0" tIns="0" bIns="0" anchor="t"/>
          <a:lstStyle/>
          <a:p>
            <a:pPr algn="l"/>
            <a:r>
              <a:rPr sz="1600" b="1">
                <a:solidFill>
                  <a:srgbClr val="1C1915"/>
                </a:solidFill>
                <a:latin typeface="Calibri"/>
              </a:rPr>
              <a:t>Archiving</a:t>
            </a:r>
          </a:p>
        </p:txBody>
      </p:sp>
      <p:sp>
        <p:nvSpPr>
          <p:cNvPr id="33" name="TextBox 32"/>
          <p:cNvSpPr txBox="1"/>
          <p:nvPr/>
        </p:nvSpPr>
        <p:spPr>
          <a:xfrm>
            <a:off x="512064" y="4727448"/>
            <a:ext cx="3474720" cy="530352"/>
          </a:xfrm>
          <a:prstGeom prst="rect">
            <a:avLst/>
          </a:prstGeom>
          <a:noFill/>
        </p:spPr>
        <p:txBody>
          <a:bodyPr wrap="square" lIns="0" rIns="0" tIns="0" bIns="0" anchor="t"/>
          <a:lstStyle/>
          <a:p>
            <a:pPr algn="l"/>
            <a:r>
              <a:rPr sz="1300" b="0">
                <a:solidFill>
                  <a:srgbClr val="5E584F"/>
                </a:solidFill>
                <a:latin typeface="Calibri"/>
              </a:rPr>
              <a:t>After signature the file is locked and read-only.</a:t>
            </a:r>
          </a:p>
        </p:txBody>
      </p:sp>
      <p:sp>
        <p:nvSpPr>
          <p:cNvPr id="34" name="Rounded Rectangle 33"/>
          <p:cNvSpPr/>
          <p:nvPr/>
        </p:nvSpPr>
        <p:spPr>
          <a:xfrm>
            <a:off x="4279392" y="4069080"/>
            <a:ext cx="3767328" cy="1298448"/>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425696" y="4160520"/>
            <a:ext cx="3474720" cy="237744"/>
          </a:xfrm>
          <a:prstGeom prst="rect">
            <a:avLst/>
          </a:prstGeom>
          <a:noFill/>
        </p:spPr>
        <p:txBody>
          <a:bodyPr wrap="square" lIns="0" rIns="0" tIns="0" bIns="0" anchor="t"/>
          <a:lstStyle/>
          <a:p>
            <a:pPr algn="l"/>
            <a:r>
              <a:rPr sz="1200" b="1">
                <a:solidFill>
                  <a:srgbClr val="0F5E5A"/>
                </a:solidFill>
                <a:latin typeface="Calibri"/>
              </a:rPr>
              <a:t>UC-08 · any</a:t>
            </a:r>
          </a:p>
        </p:txBody>
      </p:sp>
      <p:sp>
        <p:nvSpPr>
          <p:cNvPr id="36" name="TextBox 35"/>
          <p:cNvSpPr txBox="1"/>
          <p:nvPr/>
        </p:nvSpPr>
        <p:spPr>
          <a:xfrm>
            <a:off x="4425696" y="4398264"/>
            <a:ext cx="3474720" cy="292608"/>
          </a:xfrm>
          <a:prstGeom prst="rect">
            <a:avLst/>
          </a:prstGeom>
          <a:noFill/>
        </p:spPr>
        <p:txBody>
          <a:bodyPr wrap="square" lIns="0" rIns="0" tIns="0" bIns="0" anchor="t"/>
          <a:lstStyle/>
          <a:p>
            <a:pPr algn="l"/>
            <a:r>
              <a:rPr sz="1600" b="1">
                <a:solidFill>
                  <a:srgbClr val="1C1915"/>
                </a:solidFill>
                <a:latin typeface="Calibri"/>
              </a:rPr>
              <a:t>Progress and source</a:t>
            </a:r>
          </a:p>
        </p:txBody>
      </p:sp>
      <p:sp>
        <p:nvSpPr>
          <p:cNvPr id="37" name="TextBox 36"/>
          <p:cNvSpPr txBox="1"/>
          <p:nvPr/>
        </p:nvSpPr>
        <p:spPr>
          <a:xfrm>
            <a:off x="4425696" y="4727448"/>
            <a:ext cx="3474720" cy="530352"/>
          </a:xfrm>
          <a:prstGeom prst="rect">
            <a:avLst/>
          </a:prstGeom>
          <a:noFill/>
        </p:spPr>
        <p:txBody>
          <a:bodyPr wrap="square" lIns="0" rIns="0" tIns="0" bIns="0" anchor="t"/>
          <a:lstStyle/>
          <a:p>
            <a:pPr algn="l"/>
            <a:r>
              <a:rPr sz="1300" b="0">
                <a:solidFill>
                  <a:srgbClr val="5E584F"/>
                </a:solidFill>
                <a:latin typeface="Calibri"/>
              </a:rPr>
              <a:t>Ask which step this is, and open the evidence.</a:t>
            </a:r>
          </a:p>
        </p:txBody>
      </p:sp>
      <p:sp>
        <p:nvSpPr>
          <p:cNvPr id="38" name="Rounded Rectangle 37"/>
          <p:cNvSpPr/>
          <p:nvPr/>
        </p:nvSpPr>
        <p:spPr>
          <a:xfrm>
            <a:off x="8193024" y="4069080"/>
            <a:ext cx="3767328" cy="1298448"/>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39328" y="4160520"/>
            <a:ext cx="3474720" cy="237744"/>
          </a:xfrm>
          <a:prstGeom prst="rect">
            <a:avLst/>
          </a:prstGeom>
          <a:noFill/>
        </p:spPr>
        <p:txBody>
          <a:bodyPr wrap="square" lIns="0" rIns="0" tIns="0" bIns="0" anchor="t"/>
          <a:lstStyle/>
          <a:p>
            <a:pPr algn="l"/>
            <a:r>
              <a:rPr sz="1200" b="1">
                <a:solidFill>
                  <a:srgbClr val="0F5E5A"/>
                </a:solidFill>
                <a:latin typeface="Calibri"/>
              </a:rPr>
              <a:t>UC-09 · any</a:t>
            </a:r>
          </a:p>
        </p:txBody>
      </p:sp>
      <p:sp>
        <p:nvSpPr>
          <p:cNvPr id="40" name="TextBox 39"/>
          <p:cNvSpPr txBox="1"/>
          <p:nvPr/>
        </p:nvSpPr>
        <p:spPr>
          <a:xfrm>
            <a:off x="8339328" y="4398264"/>
            <a:ext cx="3474720" cy="292608"/>
          </a:xfrm>
          <a:prstGeom prst="rect">
            <a:avLst/>
          </a:prstGeom>
          <a:noFill/>
        </p:spPr>
        <p:txBody>
          <a:bodyPr wrap="square" lIns="0" rIns="0" tIns="0" bIns="0" anchor="t"/>
          <a:lstStyle/>
          <a:p>
            <a:pPr algn="l"/>
            <a:r>
              <a:rPr sz="1600" b="1">
                <a:solidFill>
                  <a:srgbClr val="1C1915"/>
                </a:solidFill>
                <a:latin typeface="Calibri"/>
              </a:rPr>
              <a:t>Notice and withdrawal</a:t>
            </a:r>
          </a:p>
        </p:txBody>
      </p:sp>
      <p:sp>
        <p:nvSpPr>
          <p:cNvPr id="41" name="TextBox 40"/>
          <p:cNvSpPr txBox="1"/>
          <p:nvPr/>
        </p:nvSpPr>
        <p:spPr>
          <a:xfrm>
            <a:off x="8339328" y="4727448"/>
            <a:ext cx="3474720" cy="530352"/>
          </a:xfrm>
          <a:prstGeom prst="rect">
            <a:avLst/>
          </a:prstGeom>
          <a:noFill/>
        </p:spPr>
        <p:txBody>
          <a:bodyPr wrap="square" lIns="0" rIns="0" tIns="0" bIns="0" anchor="t"/>
          <a:lstStyle/>
          <a:p>
            <a:pPr algn="l"/>
            <a:r>
              <a:rPr sz="1300" b="0">
                <a:solidFill>
                  <a:srgbClr val="5E584F"/>
                </a:solidFill>
                <a:latin typeface="Calibri"/>
              </a:rPr>
              <a:t>Statutory clocks, or withdraw and seal the file.</a:t>
            </a:r>
          </a:p>
        </p:txBody>
      </p:sp>
      <p:sp>
        <p:nvSpPr>
          <p:cNvPr id="42" name="TextBox 41"/>
          <p:cNvSpPr txBox="1"/>
          <p:nvPr/>
        </p:nvSpPr>
        <p:spPr>
          <a:xfrm>
            <a:off x="411480" y="6510528"/>
            <a:ext cx="5486400" cy="256032"/>
          </a:xfrm>
          <a:prstGeom prst="rect">
            <a:avLst/>
          </a:prstGeom>
          <a:noFill/>
        </p:spPr>
        <p:txBody>
          <a:bodyPr wrap="square" lIns="0" rIns="0" tIns="0" bIns="0" anchor="t"/>
          <a:lstStyle/>
          <a:p>
            <a:pPr algn="l"/>
            <a:r>
              <a:rPr sz="1200" b="0">
                <a:solidFill>
                  <a:srgbClr val="5E584F"/>
                </a:solidFill>
                <a:latin typeface="Calibri"/>
              </a:rPr>
              <a:t>ELEC5620 · Group 16</a:t>
            </a:r>
          </a:p>
        </p:txBody>
      </p:sp>
      <p:sp>
        <p:nvSpPr>
          <p:cNvPr id="43" name="TextBox 42"/>
          <p:cNvSpPr txBox="1"/>
          <p:nvPr/>
        </p:nvSpPr>
        <p:spPr>
          <a:xfrm>
            <a:off x="9509760" y="6510528"/>
            <a:ext cx="2286000" cy="256032"/>
          </a:xfrm>
          <a:prstGeom prst="rect">
            <a:avLst/>
          </a:prstGeom>
          <a:noFill/>
        </p:spPr>
        <p:txBody>
          <a:bodyPr wrap="square" lIns="0" rIns="0" tIns="0" bIns="0" anchor="t"/>
          <a:lstStyle/>
          <a:p>
            <a:pPr algn="r"/>
            <a:r>
              <a:rPr sz="1200" b="0">
                <a:solidFill>
                  <a:srgbClr val="5E584F"/>
                </a:solidFill>
                <a:latin typeface="Calibri"/>
              </a:rPr>
              <a:t>8 / 36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365760" y="164592"/>
            <a:ext cx="2011680" cy="256032"/>
          </a:xfrm>
          <a:prstGeom prst="rect">
            <a:avLst/>
          </a:prstGeom>
          <a:noFill/>
        </p:spPr>
        <p:txBody>
          <a:bodyPr wrap="square" lIns="0" rIns="0" tIns="0" bIns="0" anchor="t"/>
          <a:lstStyle/>
          <a:p>
            <a:pPr algn="l"/>
            <a:r>
              <a:rPr sz="1200" b="1">
                <a:solidFill>
                  <a:srgbClr val="0F5E5A"/>
                </a:solidFill>
                <a:latin typeface="Calibri"/>
              </a:rPr>
              <a:t>FIGURE 6</a:t>
            </a:r>
          </a:p>
        </p:txBody>
      </p:sp>
      <p:sp>
        <p:nvSpPr>
          <p:cNvPr id="3" name="TextBox 2"/>
          <p:cNvSpPr txBox="1"/>
          <p:nvPr/>
        </p:nvSpPr>
        <p:spPr>
          <a:xfrm>
            <a:off x="2286000" y="128016"/>
            <a:ext cx="9509760" cy="329184"/>
          </a:xfrm>
          <a:prstGeom prst="rect">
            <a:avLst/>
          </a:prstGeom>
          <a:noFill/>
        </p:spPr>
        <p:txBody>
          <a:bodyPr wrap="square" lIns="0" rIns="0" tIns="0" bIns="0" anchor="t"/>
          <a:lstStyle/>
          <a:p>
            <a:pPr algn="l"/>
            <a:r>
              <a:rPr sz="1800" b="1">
                <a:solidFill>
                  <a:srgbClr val="1C1915"/>
                </a:solidFill>
                <a:latin typeface="Calibri"/>
              </a:rPr>
              <a:t>Use cases — actors and the nine use cases</a:t>
            </a:r>
          </a:p>
        </p:txBody>
      </p:sp>
      <p:pic>
        <p:nvPicPr>
          <p:cNvPr id="4" name="Picture 3" descr="usecase.png"/>
          <p:cNvPicPr>
            <a:picLocks noChangeAspect="1"/>
          </p:cNvPicPr>
          <p:nvPr/>
        </p:nvPicPr>
        <p:blipFill>
          <a:blip r:embed="rId2"/>
          <a:stretch>
            <a:fillRect/>
          </a:stretch>
        </p:blipFill>
        <p:spPr>
          <a:xfrm>
            <a:off x="3225599" y="530352"/>
            <a:ext cx="5710321" cy="5623560"/>
          </a:xfrm>
          <a:prstGeom prst="rect">
            <a:avLst/>
          </a:prstGeom>
        </p:spPr>
      </p:pic>
      <p:sp>
        <p:nvSpPr>
          <p:cNvPr id="5" name="TextBox 4"/>
          <p:cNvSpPr txBox="1"/>
          <p:nvPr/>
        </p:nvSpPr>
        <p:spPr>
          <a:xfrm>
            <a:off x="365760" y="6199632"/>
            <a:ext cx="11430000" cy="292608"/>
          </a:xfrm>
          <a:prstGeom prst="rect">
            <a:avLst/>
          </a:prstGeom>
          <a:noFill/>
        </p:spPr>
        <p:txBody>
          <a:bodyPr wrap="square" lIns="0" rIns="0" tIns="0" bIns="0" anchor="t"/>
          <a:lstStyle/>
          <a:p>
            <a:pPr algn="l"/>
            <a:r>
              <a:rPr sz="1200" b="0">
                <a:solidFill>
                  <a:srgbClr val="5E584F"/>
                </a:solidFill>
                <a:latin typeface="Calibri"/>
              </a:rPr>
              <a:t>Source (group access)  </a:t>
            </a:r>
            <a:r>
              <a:rPr sz="1200" b="1" u="sng">
                <a:solidFill>
                  <a:srgbClr val="0F5E5A"/>
                </a:solidFill>
                <a:latin typeface="Calibri"/>
                <a:hlinkClick r:id="rId3"/>
              </a:rPr>
              <a:t>docs/diagrams/usecase.puml</a:t>
            </a:r>
          </a:p>
        </p:txBody>
      </p:sp>
      <p:sp>
        <p:nvSpPr>
          <p:cNvPr id="6" name="TextBox 5"/>
          <p:cNvSpPr txBox="1"/>
          <p:nvPr/>
        </p:nvSpPr>
        <p:spPr>
          <a:xfrm>
            <a:off x="411480" y="6510528"/>
            <a:ext cx="5486400" cy="256032"/>
          </a:xfrm>
          <a:prstGeom prst="rect">
            <a:avLst/>
          </a:prstGeom>
          <a:noFill/>
        </p:spPr>
        <p:txBody>
          <a:bodyPr wrap="square" lIns="0" rIns="0" t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rIns="0" tIns="0" bIns="0" anchor="t"/>
          <a:lstStyle/>
          <a:p>
            <a:pPr algn="r"/>
            <a:r>
              <a:rPr sz="1200" b="0">
                <a:solidFill>
                  <a:srgbClr val="5E584F"/>
                </a:solidFill>
                <a:latin typeface="Calibri"/>
              </a:rPr>
              <a:t>9 / 36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411480" y="256032"/>
            <a:ext cx="3840480" cy="256032"/>
          </a:xfrm>
          <a:prstGeom prst="rect">
            <a:avLst/>
          </a:prstGeom>
          <a:noFill/>
        </p:spPr>
        <p:txBody>
          <a:bodyPr wrap="square" lIns="0" rIns="0" tIns="0" bIns="0" anchor="t"/>
          <a:lstStyle/>
          <a:p>
            <a:pPr algn="l"/>
            <a:r>
              <a:rPr sz="1200" b="1">
                <a:solidFill>
                  <a:srgbClr val="0F5E5A"/>
                </a:solidFill>
                <a:latin typeface="Calibri"/>
              </a:rPr>
              <a:t>MEMBER B</a:t>
            </a:r>
          </a:p>
        </p:txBody>
      </p:sp>
      <p:sp>
        <p:nvSpPr>
          <p:cNvPr id="3" name="Rounded Rectangle 2"/>
          <p:cNvSpPr/>
          <p:nvPr/>
        </p:nvSpPr>
        <p:spPr>
          <a:xfrm>
            <a:off x="4114800" y="237744"/>
            <a:ext cx="2103120" cy="274320"/>
          </a:xfrm>
          <a:prstGeom prst="roundRect">
            <a:avLst>
              <a:gd name="adj" fmla="val 8000"/>
            </a:avLst>
          </a:prstGeom>
          <a:solidFill>
            <a:srgbClr val="F7F4EE"/>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0" y="237744"/>
            <a:ext cx="2103120" cy="274320"/>
          </a:xfrm>
          <a:prstGeom prst="rect">
            <a:avLst/>
          </a:prstGeom>
          <a:noFill/>
        </p:spPr>
        <p:txBody>
          <a:bodyPr wrap="square" lIns="0" rIns="0" tIns="0" bIns="0" anchor="ctr"/>
          <a:lstStyle/>
          <a:p>
            <a:pPr algn="ctr"/>
            <a:r>
              <a:rPr sz="1200" b="0">
                <a:solidFill>
                  <a:srgbClr val="5E584F"/>
                </a:solidFill>
                <a:latin typeface="Calibri"/>
              </a:rPr>
              <a:t>One line</a:t>
            </a:r>
          </a:p>
        </p:txBody>
      </p:sp>
      <p:sp>
        <p:nvSpPr>
          <p:cNvPr id="5" name="TextBox 4"/>
          <p:cNvSpPr txBox="1"/>
          <p:nvPr/>
        </p:nvSpPr>
        <p:spPr>
          <a:xfrm>
            <a:off x="411480" y="621792"/>
            <a:ext cx="11338560" cy="438912"/>
          </a:xfrm>
          <a:prstGeom prst="rect">
            <a:avLst/>
          </a:prstGeom>
          <a:noFill/>
        </p:spPr>
        <p:txBody>
          <a:bodyPr wrap="square" lIns="0" rIns="0" tIns="0" bIns="0" anchor="t"/>
          <a:lstStyle/>
          <a:p>
            <a:pPr algn="l"/>
            <a:r>
              <a:rPr sz="2600" b="1">
                <a:solidFill>
                  <a:srgbClr val="1C1915"/>
                </a:solidFill>
                <a:latin typeface="Calibri"/>
              </a:rPr>
              <a:t>One line: a cutoff error, then a qualified opinion</a:t>
            </a:r>
          </a:p>
        </p:txBody>
      </p:sp>
      <p:sp>
        <p:nvSpPr>
          <p:cNvPr id="6" name="TextBox 5"/>
          <p:cNvSpPr txBox="1"/>
          <p:nvPr/>
        </p:nvSpPr>
        <p:spPr>
          <a:xfrm>
            <a:off x="411480" y="1097280"/>
            <a:ext cx="10972800" cy="292608"/>
          </a:xfrm>
          <a:prstGeom prst="rect">
            <a:avLst/>
          </a:prstGeom>
          <a:noFill/>
        </p:spPr>
        <p:txBody>
          <a:bodyPr wrap="square" lIns="0" rIns="0" tIns="0" bIns="0" anchor="t"/>
          <a:lstStyle/>
          <a:p>
            <a:pPr algn="l"/>
            <a:r>
              <a:rPr sz="1500" b="0">
                <a:solidFill>
                  <a:srgbClr val="5E584F"/>
                </a:solidFill>
                <a:latin typeface="Calibri"/>
              </a:rPr>
              <a:t>A fictional company. Year-end 30 June 2026. Revenue about AUD 12 million.</a:t>
            </a:r>
          </a:p>
        </p:txBody>
      </p:sp>
      <p:sp>
        <p:nvSpPr>
          <p:cNvPr id="7" name="Rounded Rectangle 6"/>
          <p:cNvSpPr/>
          <p:nvPr/>
        </p:nvSpPr>
        <p:spPr>
          <a:xfrm>
            <a:off x="365760" y="1554480"/>
            <a:ext cx="3767328" cy="3794760"/>
          </a:xfrm>
          <a:prstGeom prst="roundRect">
            <a:avLst>
              <a:gd name="adj" fmla="val 8000"/>
            </a:avLst>
          </a:prstGeom>
          <a:solidFill>
            <a:srgbClr val="F8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1691640"/>
            <a:ext cx="3429000" cy="256032"/>
          </a:xfrm>
          <a:prstGeom prst="rect">
            <a:avLst/>
          </a:prstGeom>
          <a:noFill/>
        </p:spPr>
        <p:txBody>
          <a:bodyPr wrap="square" lIns="0" rIns="0" tIns="0" bIns="0" anchor="t"/>
          <a:lstStyle/>
          <a:p>
            <a:pPr algn="l"/>
            <a:r>
              <a:rPr sz="1200" b="1">
                <a:solidFill>
                  <a:srgbClr val="8F2D2D"/>
                </a:solidFill>
                <a:latin typeface="Calibri"/>
              </a:rPr>
              <a:t>SCENE 1 · REVENUE</a:t>
            </a:r>
          </a:p>
        </p:txBody>
      </p:sp>
      <p:sp>
        <p:nvSpPr>
          <p:cNvPr id="9" name="TextBox 8"/>
          <p:cNvSpPr txBox="1"/>
          <p:nvPr/>
        </p:nvSpPr>
        <p:spPr>
          <a:xfrm>
            <a:off x="530352" y="2011680"/>
            <a:ext cx="3429000" cy="365760"/>
          </a:xfrm>
          <a:prstGeom prst="rect">
            <a:avLst/>
          </a:prstGeom>
          <a:noFill/>
        </p:spPr>
        <p:txBody>
          <a:bodyPr wrap="square" lIns="0" rIns="0" tIns="0" bIns="0" anchor="t"/>
          <a:lstStyle/>
          <a:p>
            <a:pPr algn="l"/>
            <a:r>
              <a:rPr sz="2000" b="1">
                <a:solidFill>
                  <a:srgbClr val="1C1915"/>
                </a:solidFill>
                <a:latin typeface="Calibri"/>
              </a:rPr>
              <a:t>Cutoff misstatement</a:t>
            </a:r>
          </a:p>
        </p:txBody>
      </p:sp>
      <p:sp>
        <p:nvSpPr>
          <p:cNvPr id="10" name="TextBox 9"/>
          <p:cNvSpPr txBox="1"/>
          <p:nvPr/>
        </p:nvSpPr>
        <p:spPr>
          <a:xfrm>
            <a:off x="530352" y="2468880"/>
            <a:ext cx="3429000" cy="1554480"/>
          </a:xfrm>
          <a:prstGeom prst="rect">
            <a:avLst/>
          </a:prstGeom>
          <a:noFill/>
        </p:spPr>
        <p:txBody>
          <a:bodyPr wrap="square" lIns="0" rIns="0" tIns="0" bIns="0" anchor="t"/>
          <a:lstStyle/>
          <a:p>
            <a:pPr algn="l"/>
            <a:r>
              <a:rPr sz="1500" b="0">
                <a:solidFill>
                  <a:srgbClr val="1C1915"/>
                </a:solidFill>
                <a:latin typeface="Calibri"/>
              </a:rPr>
              <a:t>An invoice for AUD 142,000 is recorded on 28 June. The delivery note is signed on 3 July. The contract transfers control on signing.</a:t>
            </a:r>
          </a:p>
        </p:txBody>
      </p:sp>
      <p:sp>
        <p:nvSpPr>
          <p:cNvPr id="11" name="TextBox 10"/>
          <p:cNvSpPr txBox="1"/>
          <p:nvPr/>
        </p:nvSpPr>
        <p:spPr>
          <a:xfrm>
            <a:off x="530352" y="4297680"/>
            <a:ext cx="3429000" cy="822960"/>
          </a:xfrm>
          <a:prstGeom prst="rect">
            <a:avLst/>
          </a:prstGeom>
          <a:noFill/>
        </p:spPr>
        <p:txBody>
          <a:bodyPr wrap="square" lIns="0" rIns="0" tIns="0" bIns="0" anchor="t"/>
          <a:lstStyle/>
          <a:p>
            <a:pPr algn="l"/>
            <a:r>
              <a:rPr sz="1500" b="1">
                <a:solidFill>
                  <a:srgbClr val="8F2D2D"/>
                </a:solidFill>
                <a:latin typeface="Calibri"/>
              </a:rPr>
              <a:t>Propose a misstatement. The auditor confirms it.</a:t>
            </a:r>
          </a:p>
        </p:txBody>
      </p:sp>
      <p:sp>
        <p:nvSpPr>
          <p:cNvPr id="12" name="Rounded Rectangle 11"/>
          <p:cNvSpPr/>
          <p:nvPr/>
        </p:nvSpPr>
        <p:spPr>
          <a:xfrm>
            <a:off x="4279392" y="1554480"/>
            <a:ext cx="3767328" cy="3794760"/>
          </a:xfrm>
          <a:prstGeom prst="roundRect">
            <a:avLst>
              <a:gd name="adj" fmla="val 8000"/>
            </a:avLst>
          </a:prstGeom>
          <a:solidFill>
            <a:srgbClr val="E8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3984" y="1691640"/>
            <a:ext cx="3429000" cy="256032"/>
          </a:xfrm>
          <a:prstGeom prst="rect">
            <a:avLst/>
          </a:prstGeom>
          <a:noFill/>
        </p:spPr>
        <p:txBody>
          <a:bodyPr wrap="square" lIns="0" rIns="0" tIns="0" bIns="0" anchor="t"/>
          <a:lstStyle/>
          <a:p>
            <a:pPr algn="l"/>
            <a:r>
              <a:rPr sz="1200" b="1">
                <a:solidFill>
                  <a:srgbClr val="1F6B45"/>
                </a:solidFill>
                <a:latin typeface="Calibri"/>
              </a:rPr>
              <a:t>SCENE 2 · CASH</a:t>
            </a:r>
          </a:p>
        </p:txBody>
      </p:sp>
      <p:sp>
        <p:nvSpPr>
          <p:cNvPr id="14" name="TextBox 13"/>
          <p:cNvSpPr txBox="1"/>
          <p:nvPr/>
        </p:nvSpPr>
        <p:spPr>
          <a:xfrm>
            <a:off x="4443984" y="2011680"/>
            <a:ext cx="3429000" cy="365760"/>
          </a:xfrm>
          <a:prstGeom prst="rect">
            <a:avLst/>
          </a:prstGeom>
          <a:noFill/>
        </p:spPr>
        <p:txBody>
          <a:bodyPr wrap="square" lIns="0" rIns="0" tIns="0" bIns="0" anchor="t"/>
          <a:lstStyle/>
          <a:p>
            <a:pPr algn="l"/>
            <a:r>
              <a:rPr sz="2000" b="1">
                <a:solidFill>
                  <a:srgbClr val="1C1915"/>
                </a:solidFill>
                <a:latin typeface="Calibri"/>
              </a:rPr>
              <a:t>A timing difference</a:t>
            </a:r>
          </a:p>
        </p:txBody>
      </p:sp>
      <p:sp>
        <p:nvSpPr>
          <p:cNvPr id="15" name="TextBox 14"/>
          <p:cNvSpPr txBox="1"/>
          <p:nvPr/>
        </p:nvSpPr>
        <p:spPr>
          <a:xfrm>
            <a:off x="4443984" y="2468880"/>
            <a:ext cx="3429000" cy="1554480"/>
          </a:xfrm>
          <a:prstGeom prst="rect">
            <a:avLst/>
          </a:prstGeom>
          <a:noFill/>
        </p:spPr>
        <p:txBody>
          <a:bodyPr wrap="square" lIns="0" rIns="0" tIns="0" bIns="0" anchor="t"/>
          <a:lstStyle/>
          <a:p>
            <a:pPr algn="l"/>
            <a:r>
              <a:rPr sz="1500" b="0">
                <a:solidFill>
                  <a:srgbClr val="1C1915"/>
                </a:solidFill>
                <a:latin typeface="Calibri"/>
              </a:rPr>
              <a:t>The bank reply is AUD 50,000 below the book. The difference is a deposit in transit, recorded on 30 June and received on 2 July.</a:t>
            </a:r>
          </a:p>
        </p:txBody>
      </p:sp>
      <p:sp>
        <p:nvSpPr>
          <p:cNvPr id="16" name="TextBox 15"/>
          <p:cNvSpPr txBox="1"/>
          <p:nvPr/>
        </p:nvSpPr>
        <p:spPr>
          <a:xfrm>
            <a:off x="4443984" y="4297680"/>
            <a:ext cx="3429000" cy="822960"/>
          </a:xfrm>
          <a:prstGeom prst="rect">
            <a:avLst/>
          </a:prstGeom>
          <a:noFill/>
        </p:spPr>
        <p:txBody>
          <a:bodyPr wrap="square" lIns="0" rIns="0" tIns="0" bIns="0" anchor="t"/>
          <a:lstStyle/>
          <a:p>
            <a:pPr algn="l"/>
            <a:r>
              <a:rPr sz="1500" b="1">
                <a:solidFill>
                  <a:srgbClr val="1F6B45"/>
                </a:solidFill>
                <a:latin typeface="Calibri"/>
              </a:rPr>
              <a:t>Propose that this is not a misstatement. The auditor confirms it.</a:t>
            </a:r>
          </a:p>
        </p:txBody>
      </p:sp>
      <p:sp>
        <p:nvSpPr>
          <p:cNvPr id="17" name="Rounded Rectangle 16"/>
          <p:cNvSpPr/>
          <p:nvPr/>
        </p:nvSpPr>
        <p:spPr>
          <a:xfrm>
            <a:off x="8193024" y="1554480"/>
            <a:ext cx="3767328" cy="3794760"/>
          </a:xfrm>
          <a:prstGeom prst="roundRect">
            <a:avLst>
              <a:gd name="adj" fmla="val 8000"/>
            </a:avLst>
          </a:prstGeom>
          <a:solidFill>
            <a:srgbClr val="1B30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57616" y="1691640"/>
            <a:ext cx="3429000" cy="256032"/>
          </a:xfrm>
          <a:prstGeom prst="rect">
            <a:avLst/>
          </a:prstGeom>
          <a:noFill/>
        </p:spPr>
        <p:txBody>
          <a:bodyPr wrap="square" lIns="0" rIns="0" tIns="0" bIns="0" anchor="t"/>
          <a:lstStyle/>
          <a:p>
            <a:pPr algn="l"/>
            <a:r>
              <a:rPr sz="1200" b="1">
                <a:solidFill>
                  <a:srgbClr val="C4A574"/>
                </a:solidFill>
                <a:latin typeface="Calibri"/>
              </a:rPr>
              <a:t>SCENE 3 · OPINION</a:t>
            </a:r>
          </a:p>
        </p:txBody>
      </p:sp>
      <p:sp>
        <p:nvSpPr>
          <p:cNvPr id="19" name="TextBox 18"/>
          <p:cNvSpPr txBox="1"/>
          <p:nvPr/>
        </p:nvSpPr>
        <p:spPr>
          <a:xfrm>
            <a:off x="8357616" y="2011680"/>
            <a:ext cx="3429000" cy="365760"/>
          </a:xfrm>
          <a:prstGeom prst="rect">
            <a:avLst/>
          </a:prstGeom>
          <a:noFill/>
        </p:spPr>
        <p:txBody>
          <a:bodyPr wrap="square" lIns="0" rIns="0" tIns="0" bIns="0" anchor="t"/>
          <a:lstStyle/>
          <a:p>
            <a:pPr algn="l"/>
            <a:r>
              <a:rPr sz="2000" b="1">
                <a:solidFill>
                  <a:srgbClr val="F4EFE6"/>
                </a:solidFill>
                <a:latin typeface="Calibri"/>
              </a:rPr>
              <a:t>Qualified opinion</a:t>
            </a:r>
          </a:p>
        </p:txBody>
      </p:sp>
      <p:sp>
        <p:nvSpPr>
          <p:cNvPr id="20" name="TextBox 19"/>
          <p:cNvSpPr txBox="1"/>
          <p:nvPr/>
        </p:nvSpPr>
        <p:spPr>
          <a:xfrm>
            <a:off x="8357616" y="2468880"/>
            <a:ext cx="3429000" cy="1554480"/>
          </a:xfrm>
          <a:prstGeom prst="rect">
            <a:avLst/>
          </a:prstGeom>
          <a:noFill/>
        </p:spPr>
        <p:txBody>
          <a:bodyPr wrap="square" lIns="0" rIns="0" tIns="0" bIns="0" anchor="t"/>
          <a:lstStyle/>
          <a:p>
            <a:pPr algn="l"/>
            <a:r>
              <a:rPr sz="1500" b="0">
                <a:solidFill>
                  <a:srgbClr val="F4EFE6"/>
                </a:solidFill>
                <a:latin typeface="Calibri"/>
              </a:rPr>
              <a:t>The overall-materiality range is 60 to 120 thousand. The cutoff misstatement is above the top of that range.</a:t>
            </a:r>
          </a:p>
        </p:txBody>
      </p:sp>
      <p:sp>
        <p:nvSpPr>
          <p:cNvPr id="21" name="TextBox 20"/>
          <p:cNvSpPr txBox="1"/>
          <p:nvPr/>
        </p:nvSpPr>
        <p:spPr>
          <a:xfrm>
            <a:off x="8357616" y="4297680"/>
            <a:ext cx="3429000" cy="822960"/>
          </a:xfrm>
          <a:prstGeom prst="rect">
            <a:avLst/>
          </a:prstGeom>
          <a:noFill/>
        </p:spPr>
        <p:txBody>
          <a:bodyPr wrap="square" lIns="0" rIns="0" tIns="0" bIns="0" anchor="t"/>
          <a:lstStyle/>
          <a:p>
            <a:pPr algn="l"/>
            <a:r>
              <a:rPr sz="1500" b="1">
                <a:solidFill>
                  <a:srgbClr val="C4A574"/>
                </a:solidFill>
                <a:latin typeface="Calibri"/>
              </a:rPr>
              <a:t>The proposed opinion is qualified. Signature waits for confirmation.</a:t>
            </a:r>
          </a:p>
        </p:txBody>
      </p:sp>
      <p:sp>
        <p:nvSpPr>
          <p:cNvPr id="22" name="Rounded Rectangle 21"/>
          <p:cNvSpPr/>
          <p:nvPr/>
        </p:nvSpPr>
        <p:spPr>
          <a:xfrm>
            <a:off x="365760" y="5577840"/>
            <a:ext cx="1874519" cy="36576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5577840"/>
            <a:ext cx="1874519" cy="365760"/>
          </a:xfrm>
          <a:prstGeom prst="rect">
            <a:avLst/>
          </a:prstGeom>
          <a:noFill/>
        </p:spPr>
        <p:txBody>
          <a:bodyPr wrap="square" lIns="0" rIns="0" tIns="0" bIns="0" anchor="ctr"/>
          <a:lstStyle/>
          <a:p>
            <a:pPr algn="ctr"/>
            <a:r>
              <a:rPr sz="1200" b="1">
                <a:solidFill>
                  <a:srgbClr val="1C1915"/>
                </a:solidFill>
                <a:latin typeface="Calibri"/>
              </a:rPr>
              <a:t>Three-way match</a:t>
            </a:r>
          </a:p>
        </p:txBody>
      </p:sp>
      <p:sp>
        <p:nvSpPr>
          <p:cNvPr id="24" name="Rounded Rectangle 23"/>
          <p:cNvSpPr/>
          <p:nvPr/>
        </p:nvSpPr>
        <p:spPr>
          <a:xfrm>
            <a:off x="2331719" y="5577840"/>
            <a:ext cx="1874519" cy="36576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331719" y="5577840"/>
            <a:ext cx="1874519" cy="365760"/>
          </a:xfrm>
          <a:prstGeom prst="rect">
            <a:avLst/>
          </a:prstGeom>
          <a:noFill/>
        </p:spPr>
        <p:txBody>
          <a:bodyPr wrap="square" lIns="0" rIns="0" tIns="0" bIns="0" anchor="ctr"/>
          <a:lstStyle/>
          <a:p>
            <a:pPr algn="ctr"/>
            <a:r>
              <a:rPr sz="1200" b="1">
                <a:solidFill>
                  <a:srgbClr val="1C1915"/>
                </a:solidFill>
                <a:latin typeface="Calibri"/>
              </a:rPr>
              <a:t>Cutoff judgment</a:t>
            </a:r>
          </a:p>
        </p:txBody>
      </p:sp>
      <p:sp>
        <p:nvSpPr>
          <p:cNvPr id="26" name="Rounded Rectangle 25"/>
          <p:cNvSpPr/>
          <p:nvPr/>
        </p:nvSpPr>
        <p:spPr>
          <a:xfrm>
            <a:off x="4297678" y="5577840"/>
            <a:ext cx="1572768" cy="36576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97678" y="5577840"/>
            <a:ext cx="1572768" cy="365760"/>
          </a:xfrm>
          <a:prstGeom prst="rect">
            <a:avLst/>
          </a:prstGeom>
          <a:noFill/>
        </p:spPr>
        <p:txBody>
          <a:bodyPr wrap="square" lIns="0" rIns="0" tIns="0" bIns="0" anchor="ctr"/>
          <a:lstStyle/>
          <a:p>
            <a:pPr algn="ctr"/>
            <a:r>
              <a:rPr sz="1200" b="1">
                <a:solidFill>
                  <a:srgbClr val="1C1915"/>
                </a:solidFill>
                <a:latin typeface="Calibri"/>
              </a:rPr>
              <a:t>Confirmation</a:t>
            </a:r>
          </a:p>
        </p:txBody>
      </p:sp>
      <p:sp>
        <p:nvSpPr>
          <p:cNvPr id="28" name="Rounded Rectangle 27"/>
          <p:cNvSpPr/>
          <p:nvPr/>
        </p:nvSpPr>
        <p:spPr>
          <a:xfrm>
            <a:off x="5961886" y="5577840"/>
            <a:ext cx="1371600" cy="36576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61886" y="5577840"/>
            <a:ext cx="1371600" cy="365760"/>
          </a:xfrm>
          <a:prstGeom prst="rect">
            <a:avLst/>
          </a:prstGeom>
          <a:noFill/>
        </p:spPr>
        <p:txBody>
          <a:bodyPr wrap="square" lIns="0" rIns="0" tIns="0" bIns="0" anchor="ctr"/>
          <a:lstStyle/>
          <a:p>
            <a:pPr algn="ctr"/>
            <a:r>
              <a:rPr sz="1200" b="1">
                <a:solidFill>
                  <a:srgbClr val="1C1915"/>
                </a:solidFill>
                <a:latin typeface="Calibri"/>
              </a:rPr>
              <a:t>Difference</a:t>
            </a:r>
          </a:p>
        </p:txBody>
      </p:sp>
      <p:sp>
        <p:nvSpPr>
          <p:cNvPr id="30" name="Rounded Rectangle 29"/>
          <p:cNvSpPr/>
          <p:nvPr/>
        </p:nvSpPr>
        <p:spPr>
          <a:xfrm>
            <a:off x="7424926" y="5577840"/>
            <a:ext cx="1069848" cy="36576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24926" y="5577840"/>
            <a:ext cx="1069848" cy="365760"/>
          </a:xfrm>
          <a:prstGeom prst="rect">
            <a:avLst/>
          </a:prstGeom>
          <a:noFill/>
        </p:spPr>
        <p:txBody>
          <a:bodyPr wrap="square" lIns="0" rIns="0" tIns="0" bIns="0" anchor="ctr"/>
          <a:lstStyle/>
          <a:p>
            <a:pPr algn="ctr"/>
            <a:r>
              <a:rPr sz="1200" b="1">
                <a:solidFill>
                  <a:srgbClr val="1C1915"/>
                </a:solidFill>
                <a:latin typeface="Calibri"/>
              </a:rPr>
              <a:t>Roll-up</a:t>
            </a:r>
          </a:p>
        </p:txBody>
      </p:sp>
      <p:sp>
        <p:nvSpPr>
          <p:cNvPr id="32" name="Rounded Rectangle 31"/>
          <p:cNvSpPr/>
          <p:nvPr/>
        </p:nvSpPr>
        <p:spPr>
          <a:xfrm>
            <a:off x="8586214" y="5577840"/>
            <a:ext cx="1069848" cy="36576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86214" y="5577840"/>
            <a:ext cx="1069848" cy="365760"/>
          </a:xfrm>
          <a:prstGeom prst="rect">
            <a:avLst/>
          </a:prstGeom>
          <a:noFill/>
        </p:spPr>
        <p:txBody>
          <a:bodyPr wrap="square" lIns="0" rIns="0" tIns="0" bIns="0" anchor="ctr"/>
          <a:lstStyle/>
          <a:p>
            <a:pPr algn="ctr"/>
            <a:r>
              <a:rPr sz="1200" b="1">
                <a:solidFill>
                  <a:srgbClr val="1C1915"/>
                </a:solidFill>
                <a:latin typeface="Calibri"/>
              </a:rPr>
              <a:t>Opinion</a:t>
            </a:r>
          </a:p>
        </p:txBody>
      </p:sp>
      <p:sp>
        <p:nvSpPr>
          <p:cNvPr id="34" name="Rounded Rectangle 33"/>
          <p:cNvSpPr/>
          <p:nvPr/>
        </p:nvSpPr>
        <p:spPr>
          <a:xfrm>
            <a:off x="9747502" y="5577840"/>
            <a:ext cx="1271016" cy="36576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47502" y="5577840"/>
            <a:ext cx="1271016" cy="365760"/>
          </a:xfrm>
          <a:prstGeom prst="rect">
            <a:avLst/>
          </a:prstGeom>
          <a:noFill/>
        </p:spPr>
        <p:txBody>
          <a:bodyPr wrap="square" lIns="0" rIns="0" tIns="0" bIns="0" anchor="ctr"/>
          <a:lstStyle/>
          <a:p>
            <a:pPr algn="ctr"/>
            <a:r>
              <a:rPr sz="1200" b="1">
                <a:solidFill>
                  <a:srgbClr val="1C1915"/>
                </a:solidFill>
                <a:latin typeface="Calibri"/>
              </a:rPr>
              <a:t>Signature</a:t>
            </a:r>
          </a:p>
        </p:txBody>
      </p:sp>
      <p:sp>
        <p:nvSpPr>
          <p:cNvPr id="36" name="TextBox 35"/>
          <p:cNvSpPr txBox="1"/>
          <p:nvPr/>
        </p:nvSpPr>
        <p:spPr>
          <a:xfrm>
            <a:off x="411480" y="6510528"/>
            <a:ext cx="5486400" cy="256032"/>
          </a:xfrm>
          <a:prstGeom prst="rect">
            <a:avLst/>
          </a:prstGeom>
          <a:noFill/>
        </p:spPr>
        <p:txBody>
          <a:bodyPr wrap="square" lIns="0" rIns="0" tIns="0" bIns="0" anchor="t"/>
          <a:lstStyle/>
          <a:p>
            <a:pPr algn="l"/>
            <a:r>
              <a:rPr sz="1200" b="0">
                <a:solidFill>
                  <a:srgbClr val="5E584F"/>
                </a:solidFill>
                <a:latin typeface="Calibri"/>
              </a:rPr>
              <a:t>ELEC5620 · Group 16</a:t>
            </a:r>
          </a:p>
        </p:txBody>
      </p:sp>
      <p:sp>
        <p:nvSpPr>
          <p:cNvPr id="37" name="TextBox 36"/>
          <p:cNvSpPr txBox="1"/>
          <p:nvPr/>
        </p:nvSpPr>
        <p:spPr>
          <a:xfrm>
            <a:off x="9509760" y="6510528"/>
            <a:ext cx="2286000" cy="256032"/>
          </a:xfrm>
          <a:prstGeom prst="rect">
            <a:avLst/>
          </a:prstGeom>
          <a:noFill/>
        </p:spPr>
        <p:txBody>
          <a:bodyPr wrap="square" lIns="0" rIns="0" tIns="0" bIns="0" anchor="t"/>
          <a:lstStyle/>
          <a:p>
            <a:pPr algn="r"/>
            <a:r>
              <a:rPr sz="1200" b="0">
                <a:solidFill>
                  <a:srgbClr val="5E584F"/>
                </a:solidFill>
                <a:latin typeface="Calibri"/>
              </a:rPr>
              <a:t>10 / 36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B3048"/>
        </a:solidFill>
        <a:effectLst/>
      </p:bgPr>
    </p:bg>
    <p:spTree>
      <p:nvGrpSpPr>
        <p:cNvPr id="1" name=""/>
        <p:cNvGrpSpPr/>
        <p:nvPr/>
      </p:nvGrpSpPr>
      <p:grpSpPr/>
      <p:sp>
        <p:nvSpPr>
          <p:cNvPr id="2" name="TextBox 1"/>
          <p:cNvSpPr txBox="1"/>
          <p:nvPr/>
        </p:nvSpPr>
        <p:spPr>
          <a:xfrm>
            <a:off x="457200" y="347472"/>
            <a:ext cx="7315200" cy="274320"/>
          </a:xfrm>
          <a:prstGeom prst="rect">
            <a:avLst/>
          </a:prstGeom>
          <a:noFill/>
        </p:spPr>
        <p:txBody>
          <a:bodyPr wrap="square" lIns="0" rIns="0" tIns="0" bIns="0" anchor="t"/>
          <a:lstStyle/>
          <a:p>
            <a:pPr algn="l"/>
            <a:r>
              <a:rPr sz="1300" b="1">
                <a:solidFill>
                  <a:srgbClr val="C4A574"/>
                </a:solidFill>
                <a:latin typeface="Calibri"/>
              </a:rPr>
              <a:t>MEMBER B  ·  CLOSE</a:t>
            </a:r>
          </a:p>
        </p:txBody>
      </p:sp>
      <p:sp>
        <p:nvSpPr>
          <p:cNvPr id="3" name="TextBox 2"/>
          <p:cNvSpPr txBox="1"/>
          <p:nvPr/>
        </p:nvSpPr>
        <p:spPr>
          <a:xfrm>
            <a:off x="457200" y="777240"/>
            <a:ext cx="10972800" cy="502920"/>
          </a:xfrm>
          <a:prstGeom prst="rect">
            <a:avLst/>
          </a:prstGeom>
          <a:noFill/>
        </p:spPr>
        <p:txBody>
          <a:bodyPr wrap="square" lIns="0" rIns="0" tIns="0" bIns="0" anchor="t"/>
          <a:lstStyle/>
          <a:p>
            <a:pPr algn="l"/>
            <a:r>
              <a:rPr sz="3200" b="1">
                <a:solidFill>
                  <a:srgbClr val="F4EFE6"/>
                </a:solidFill>
                <a:latin typeface="Calibri"/>
              </a:rPr>
              <a:t>Three sentences to take away</a:t>
            </a:r>
          </a:p>
        </p:txBody>
      </p:sp>
      <p:sp>
        <p:nvSpPr>
          <p:cNvPr id="4" name="Rectangle 3"/>
          <p:cNvSpPr/>
          <p:nvPr/>
        </p:nvSpPr>
        <p:spPr>
          <a:xfrm>
            <a:off x="457200" y="1828800"/>
            <a:ext cx="3566160" cy="25400"/>
          </a:xfrm>
          <a:prstGeom prst="rect">
            <a:avLst/>
          </a:prstGeom>
          <a:solidFill>
            <a:srgbClr val="C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0"/>
            <a:ext cx="3566160" cy="320040"/>
          </a:xfrm>
          <a:prstGeom prst="rect">
            <a:avLst/>
          </a:prstGeom>
          <a:noFill/>
        </p:spPr>
        <p:txBody>
          <a:bodyPr wrap="square" lIns="0" rIns="0" tIns="0" bIns="0" anchor="t"/>
          <a:lstStyle/>
          <a:p>
            <a:pPr algn="l"/>
            <a:r>
              <a:rPr sz="1400" b="1">
                <a:solidFill>
                  <a:srgbClr val="C4A574"/>
                </a:solidFill>
                <a:latin typeface="Calibri"/>
              </a:rPr>
              <a:t>01</a:t>
            </a:r>
          </a:p>
        </p:txBody>
      </p:sp>
      <p:sp>
        <p:nvSpPr>
          <p:cNvPr id="6" name="TextBox 5"/>
          <p:cNvSpPr txBox="1"/>
          <p:nvPr/>
        </p:nvSpPr>
        <p:spPr>
          <a:xfrm>
            <a:off x="457200" y="2377440"/>
            <a:ext cx="3566160" cy="1645920"/>
          </a:xfrm>
          <a:prstGeom prst="rect">
            <a:avLst/>
          </a:prstGeom>
          <a:noFill/>
        </p:spPr>
        <p:txBody>
          <a:bodyPr wrap="square" lIns="0" rIns="0" tIns="0" bIns="0" anchor="t"/>
          <a:lstStyle/>
          <a:p>
            <a:pPr algn="l"/>
            <a:r>
              <a:rPr sz="2000" b="0">
                <a:solidFill>
                  <a:srgbClr val="F4EFE6"/>
                </a:solidFill>
                <a:latin typeface="Calibri"/>
              </a:rPr>
              <a:t>The judgment stays with the person. Execution, traceability, and the block stay with the system.</a:t>
            </a:r>
          </a:p>
        </p:txBody>
      </p:sp>
      <p:sp>
        <p:nvSpPr>
          <p:cNvPr id="7" name="Rectangle 6"/>
          <p:cNvSpPr/>
          <p:nvPr/>
        </p:nvSpPr>
        <p:spPr>
          <a:xfrm>
            <a:off x="4297680" y="1828800"/>
            <a:ext cx="3566160" cy="25400"/>
          </a:xfrm>
          <a:prstGeom prst="rect">
            <a:avLst/>
          </a:prstGeom>
          <a:solidFill>
            <a:srgbClr val="C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97680" y="2011680"/>
            <a:ext cx="3566160" cy="320040"/>
          </a:xfrm>
          <a:prstGeom prst="rect">
            <a:avLst/>
          </a:prstGeom>
          <a:noFill/>
        </p:spPr>
        <p:txBody>
          <a:bodyPr wrap="square" lIns="0" rIns="0" tIns="0" bIns="0" anchor="t"/>
          <a:lstStyle/>
          <a:p>
            <a:pPr algn="l"/>
            <a:r>
              <a:rPr sz="1400" b="1">
                <a:solidFill>
                  <a:srgbClr val="C4A574"/>
                </a:solidFill>
                <a:latin typeface="Calibri"/>
              </a:rPr>
              <a:t>02</a:t>
            </a:r>
          </a:p>
        </p:txBody>
      </p:sp>
      <p:sp>
        <p:nvSpPr>
          <p:cNvPr id="9" name="TextBox 8"/>
          <p:cNvSpPr txBox="1"/>
          <p:nvPr/>
        </p:nvSpPr>
        <p:spPr>
          <a:xfrm>
            <a:off x="4297680" y="2377440"/>
            <a:ext cx="3566160" cy="1645920"/>
          </a:xfrm>
          <a:prstGeom prst="rect">
            <a:avLst/>
          </a:prstGeom>
          <a:noFill/>
        </p:spPr>
        <p:txBody>
          <a:bodyPr wrap="square" lIns="0" rIns="0" tIns="0" bIns="0" anchor="t"/>
          <a:lstStyle/>
          <a:p>
            <a:pPr algn="l"/>
            <a:r>
              <a:rPr sz="2000" b="0">
                <a:solidFill>
                  <a:srgbClr val="F4EFE6"/>
                </a:solidFill>
                <a:latin typeface="Calibri"/>
              </a:rPr>
              <a:t>Ten agents collaborate by what they produce. The orchestrator is the only scheduler.</a:t>
            </a:r>
          </a:p>
        </p:txBody>
      </p:sp>
      <p:sp>
        <p:nvSpPr>
          <p:cNvPr id="10" name="Rectangle 9"/>
          <p:cNvSpPr/>
          <p:nvPr/>
        </p:nvSpPr>
        <p:spPr>
          <a:xfrm>
            <a:off x="8138160" y="1828800"/>
            <a:ext cx="3566160" cy="25400"/>
          </a:xfrm>
          <a:prstGeom prst="rect">
            <a:avLst/>
          </a:prstGeom>
          <a:solidFill>
            <a:srgbClr val="C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60" y="2011680"/>
            <a:ext cx="3566160" cy="320040"/>
          </a:xfrm>
          <a:prstGeom prst="rect">
            <a:avLst/>
          </a:prstGeom>
          <a:noFill/>
        </p:spPr>
        <p:txBody>
          <a:bodyPr wrap="square" lIns="0" rIns="0" tIns="0" bIns="0" anchor="t"/>
          <a:lstStyle/>
          <a:p>
            <a:pPr algn="l"/>
            <a:r>
              <a:rPr sz="1400" b="1">
                <a:solidFill>
                  <a:srgbClr val="C4A574"/>
                </a:solidFill>
                <a:latin typeface="Calibri"/>
              </a:rPr>
              <a:t>03</a:t>
            </a:r>
          </a:p>
        </p:txBody>
      </p:sp>
      <p:sp>
        <p:nvSpPr>
          <p:cNvPr id="12" name="TextBox 11"/>
          <p:cNvSpPr txBox="1"/>
          <p:nvPr/>
        </p:nvSpPr>
        <p:spPr>
          <a:xfrm>
            <a:off x="8138160" y="2377440"/>
            <a:ext cx="3566160" cy="1645920"/>
          </a:xfrm>
          <a:prstGeom prst="rect">
            <a:avLst/>
          </a:prstGeom>
          <a:noFill/>
        </p:spPr>
        <p:txBody>
          <a:bodyPr wrap="square" lIns="0" rIns="0" tIns="0" bIns="0" anchor="t"/>
          <a:lstStyle/>
          <a:p>
            <a:pPr algn="l"/>
            <a:r>
              <a:rPr sz="2000" b="0">
                <a:solidFill>
                  <a:srgbClr val="F4EFE6"/>
                </a:solidFill>
                <a:latin typeface="Calibri"/>
              </a:rPr>
              <a:t>The higher the risk, the lower the autonomy. Statutory procedures never move up.</a:t>
            </a:r>
          </a:p>
        </p:txBody>
      </p:sp>
      <p:sp>
        <p:nvSpPr>
          <p:cNvPr id="13" name="TextBox 12"/>
          <p:cNvSpPr txBox="1"/>
          <p:nvPr/>
        </p:nvSpPr>
        <p:spPr>
          <a:xfrm>
            <a:off x="457200" y="4572000"/>
            <a:ext cx="11247120" cy="457200"/>
          </a:xfrm>
          <a:prstGeom prst="rect">
            <a:avLst/>
          </a:prstGeom>
          <a:noFill/>
        </p:spPr>
        <p:txBody>
          <a:bodyPr wrap="square" lIns="0" rIns="0" tIns="0" bIns="0" anchor="t"/>
          <a:lstStyle/>
          <a:p>
            <a:pPr algn="ctr"/>
            <a:r>
              <a:rPr sz="2000" b="0">
                <a:solidFill>
                  <a:srgbClr val="DDD4C6"/>
                </a:solidFill>
                <a:latin typeface="Calibri"/>
              </a:rPr>
              <a:t>Thank you. Questions welcome.</a:t>
            </a:r>
          </a:p>
        </p:txBody>
      </p:sp>
      <p:sp>
        <p:nvSpPr>
          <p:cNvPr id="14" name="TextBox 13"/>
          <p:cNvSpPr txBox="1"/>
          <p:nvPr/>
        </p:nvSpPr>
        <p:spPr>
          <a:xfrm>
            <a:off x="411480" y="6510528"/>
            <a:ext cx="5486400" cy="256032"/>
          </a:xfrm>
          <a:prstGeom prst="rect">
            <a:avLst/>
          </a:prstGeom>
          <a:noFill/>
        </p:spPr>
        <p:txBody>
          <a:bodyPr wrap="square" lIns="0" rIns="0" tIns="0" bIns="0" anchor="t"/>
          <a:lstStyle/>
          <a:p>
            <a:pPr algn="l"/>
            <a:r>
              <a:rPr sz="1200" b="0">
                <a:solidFill>
                  <a:srgbClr val="B7AD9F"/>
                </a:solidFill>
                <a:latin typeface="Calibri"/>
              </a:rPr>
              <a:t>ELEC5620 · Group 16</a:t>
            </a:r>
          </a:p>
        </p:txBody>
      </p:sp>
      <p:sp>
        <p:nvSpPr>
          <p:cNvPr id="15" name="TextBox 14"/>
          <p:cNvSpPr txBox="1"/>
          <p:nvPr/>
        </p:nvSpPr>
        <p:spPr>
          <a:xfrm>
            <a:off x="9509760" y="6510528"/>
            <a:ext cx="2286000" cy="256032"/>
          </a:xfrm>
          <a:prstGeom prst="rect">
            <a:avLst/>
          </a:prstGeom>
          <a:noFill/>
        </p:spPr>
        <p:txBody>
          <a:bodyPr wrap="square" lIns="0" rIns="0" tIns="0" bIns="0" anchor="t"/>
          <a:lstStyle/>
          <a:p>
            <a:pPr algn="r"/>
            <a:r>
              <a:rPr sz="1200" b="0">
                <a:solidFill>
                  <a:srgbClr val="B7AD9F"/>
                </a:solidFill>
                <a:latin typeface="Calibri"/>
              </a:rPr>
              <a:t>11 / 36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3048"/>
        </a:solidFill>
        <a:effectLst/>
      </p:bgPr>
    </p:bg>
    <p:spTree>
      <p:nvGrpSpPr>
        <p:cNvPr id="1" name=""/>
        <p:cNvGrpSpPr/>
        <p:nvPr/>
      </p:nvGrpSpPr>
      <p:grpSpPr/>
      <p:sp>
        <p:nvSpPr>
          <p:cNvPr id="2" name="TextBox 1"/>
          <p:cNvSpPr txBox="1"/>
          <p:nvPr/>
        </p:nvSpPr>
        <p:spPr>
          <a:xfrm>
            <a:off x="457200" y="2194560"/>
            <a:ext cx="11247120" cy="365760"/>
          </a:xfrm>
          <a:prstGeom prst="rect">
            <a:avLst/>
          </a:prstGeom>
          <a:noFill/>
        </p:spPr>
        <p:txBody>
          <a:bodyPr wrap="square" lIns="0" rIns="0" tIns="0" bIns="0" anchor="t"/>
          <a:lstStyle/>
          <a:p>
            <a:pPr algn="ctr"/>
            <a:r>
              <a:rPr sz="1400" b="1">
                <a:solidFill>
                  <a:srgbClr val="C4A574"/>
                </a:solidFill>
                <a:latin typeface="Calibri"/>
              </a:rPr>
              <a:t>APPENDIX</a:t>
            </a:r>
          </a:p>
        </p:txBody>
      </p:sp>
      <p:sp>
        <p:nvSpPr>
          <p:cNvPr id="3" name="TextBox 2"/>
          <p:cNvSpPr txBox="1"/>
          <p:nvPr/>
        </p:nvSpPr>
        <p:spPr>
          <a:xfrm>
            <a:off x="457200" y="2606040"/>
            <a:ext cx="11247120" cy="640080"/>
          </a:xfrm>
          <a:prstGeom prst="rect">
            <a:avLst/>
          </a:prstGeom>
          <a:noFill/>
        </p:spPr>
        <p:txBody>
          <a:bodyPr wrap="square" lIns="0" rIns="0" tIns="0" bIns="0" anchor="t"/>
          <a:lstStyle/>
          <a:p>
            <a:pPr algn="ctr"/>
            <a:r>
              <a:rPr sz="4000" b="1">
                <a:solidFill>
                  <a:srgbClr val="F4EFE6"/>
                </a:solidFill>
                <a:latin typeface="Calibri"/>
              </a:rPr>
              <a:t>Design figures</a:t>
            </a:r>
          </a:p>
        </p:txBody>
      </p:sp>
      <p:sp>
        <p:nvSpPr>
          <p:cNvPr id="4" name="TextBox 3"/>
          <p:cNvSpPr txBox="1"/>
          <p:nvPr/>
        </p:nvSpPr>
        <p:spPr>
          <a:xfrm>
            <a:off x="1371600" y="3383280"/>
            <a:ext cx="9418320" cy="731520"/>
          </a:xfrm>
          <a:prstGeom prst="rect">
            <a:avLst/>
          </a:prstGeom>
          <a:noFill/>
        </p:spPr>
        <p:txBody>
          <a:bodyPr wrap="square" lIns="0" rIns="0" tIns="0" bIns="0" anchor="t"/>
          <a:lstStyle/>
          <a:p>
            <a:pPr algn="ctr"/>
            <a:r>
              <a:rPr sz="1800" b="0">
                <a:solidFill>
                  <a:srgbClr val="DDD4C6"/>
                </a:solidFill>
                <a:latin typeface="Calibri"/>
              </a:rPr>
              <a:t>Not spoken. One slide per figure in docs/diagrams. Open the linked .puml to read labels that are small on the slide.</a:t>
            </a:r>
          </a:p>
        </p:txBody>
      </p:sp>
      <p:sp>
        <p:nvSpPr>
          <p:cNvPr id="5" name="TextBox 4"/>
          <p:cNvSpPr txBox="1"/>
          <p:nvPr/>
        </p:nvSpPr>
        <p:spPr>
          <a:xfrm>
            <a:off x="411480" y="6510528"/>
            <a:ext cx="5486400" cy="256032"/>
          </a:xfrm>
          <a:prstGeom prst="rect">
            <a:avLst/>
          </a:prstGeom>
          <a:noFill/>
        </p:spPr>
        <p:txBody>
          <a:bodyPr wrap="square" lIns="0" rIns="0" tIns="0" bIns="0" anchor="t"/>
          <a:lstStyle/>
          <a:p>
            <a:pPr algn="l"/>
            <a:r>
              <a:rPr sz="1200" b="0">
                <a:solidFill>
                  <a:srgbClr val="B7AD9F"/>
                </a:solidFill>
                <a:latin typeface="Calibri"/>
              </a:rPr>
              <a:t>ELEC5620 · Group 16</a:t>
            </a:r>
          </a:p>
        </p:txBody>
      </p:sp>
      <p:sp>
        <p:nvSpPr>
          <p:cNvPr id="6" name="TextBox 5"/>
          <p:cNvSpPr txBox="1"/>
          <p:nvPr/>
        </p:nvSpPr>
        <p:spPr>
          <a:xfrm>
            <a:off x="9509760" y="6510528"/>
            <a:ext cx="2286000" cy="256032"/>
          </a:xfrm>
          <a:prstGeom prst="rect">
            <a:avLst/>
          </a:prstGeom>
          <a:noFill/>
        </p:spPr>
        <p:txBody>
          <a:bodyPr wrap="square" lIns="0" rIns="0" tIns="0" bIns="0" anchor="t"/>
          <a:lstStyle/>
          <a:p>
            <a:pPr algn="r"/>
            <a:r>
              <a:rPr sz="1200" b="0">
                <a:solidFill>
                  <a:srgbClr val="B7AD9F"/>
                </a:solidFill>
                <a:latin typeface="Calibri"/>
              </a:rPr>
              <a:t>12 / 36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365760" y="164592"/>
            <a:ext cx="2011680" cy="256032"/>
          </a:xfrm>
          <a:prstGeom prst="rect">
            <a:avLst/>
          </a:prstGeom>
          <a:noFill/>
        </p:spPr>
        <p:txBody>
          <a:bodyPr wrap="square" lIns="0" rIns="0" tIns="0" bIns="0" anchor="t"/>
          <a:lstStyle/>
          <a:p>
            <a:pPr algn="l"/>
            <a:r>
              <a:rPr sz="1200" b="1">
                <a:solidFill>
                  <a:srgbClr val="0F5E5A"/>
                </a:solidFill>
                <a:latin typeface="Calibri"/>
              </a:rPr>
              <a:t>FIGURE 1A</a:t>
            </a:r>
          </a:p>
        </p:txBody>
      </p:sp>
      <p:sp>
        <p:nvSpPr>
          <p:cNvPr id="3" name="TextBox 2"/>
          <p:cNvSpPr txBox="1"/>
          <p:nvPr/>
        </p:nvSpPr>
        <p:spPr>
          <a:xfrm>
            <a:off x="2286000" y="128016"/>
            <a:ext cx="9509760" cy="329184"/>
          </a:xfrm>
          <a:prstGeom prst="rect">
            <a:avLst/>
          </a:prstGeom>
          <a:noFill/>
        </p:spPr>
        <p:txBody>
          <a:bodyPr wrap="square" lIns="0" rIns="0" tIns="0" bIns="0" anchor="t"/>
          <a:lstStyle/>
          <a:p>
            <a:pPr algn="l"/>
            <a:r>
              <a:rPr sz="1800" b="1">
                <a:solidFill>
                  <a:srgbClr val="1C1915"/>
                </a:solidFill>
                <a:latin typeface="Calibri"/>
              </a:rPr>
              <a:t>Class diagram — domain model</a:t>
            </a:r>
          </a:p>
        </p:txBody>
      </p:sp>
      <p:pic>
        <p:nvPicPr>
          <p:cNvPr id="4" name="Picture 3" descr="class_domain.png"/>
          <p:cNvPicPr>
            <a:picLocks noChangeAspect="1"/>
          </p:cNvPicPr>
          <p:nvPr/>
        </p:nvPicPr>
        <p:blipFill>
          <a:blip r:embed="rId2"/>
          <a:stretch>
            <a:fillRect/>
          </a:stretch>
        </p:blipFill>
        <p:spPr>
          <a:xfrm>
            <a:off x="3056258" y="530352"/>
            <a:ext cx="6049004" cy="5623560"/>
          </a:xfrm>
          <a:prstGeom prst="rect">
            <a:avLst/>
          </a:prstGeom>
        </p:spPr>
      </p:pic>
      <p:sp>
        <p:nvSpPr>
          <p:cNvPr id="5" name="TextBox 4"/>
          <p:cNvSpPr txBox="1"/>
          <p:nvPr/>
        </p:nvSpPr>
        <p:spPr>
          <a:xfrm>
            <a:off x="365760" y="6199632"/>
            <a:ext cx="11430000" cy="292608"/>
          </a:xfrm>
          <a:prstGeom prst="rect">
            <a:avLst/>
          </a:prstGeom>
          <a:noFill/>
        </p:spPr>
        <p:txBody>
          <a:bodyPr wrap="square" lIns="0" rIns="0" tIns="0" bIns="0" anchor="t"/>
          <a:lstStyle/>
          <a:p>
            <a:pPr algn="l"/>
            <a:r>
              <a:rPr sz="1200" b="0">
                <a:solidFill>
                  <a:srgbClr val="5E584F"/>
                </a:solidFill>
                <a:latin typeface="Calibri"/>
              </a:rPr>
              <a:t>Source (group access)  </a:t>
            </a:r>
            <a:r>
              <a:rPr sz="1200" b="1" u="sng">
                <a:solidFill>
                  <a:srgbClr val="0F5E5A"/>
                </a:solidFill>
                <a:latin typeface="Calibri"/>
                <a:hlinkClick r:id="rId3"/>
              </a:rPr>
              <a:t>docs/diagrams/class_domain.puml</a:t>
            </a:r>
          </a:p>
        </p:txBody>
      </p:sp>
      <p:sp>
        <p:nvSpPr>
          <p:cNvPr id="6" name="TextBox 5"/>
          <p:cNvSpPr txBox="1"/>
          <p:nvPr/>
        </p:nvSpPr>
        <p:spPr>
          <a:xfrm>
            <a:off x="411480" y="6510528"/>
            <a:ext cx="5486400" cy="256032"/>
          </a:xfrm>
          <a:prstGeom prst="rect">
            <a:avLst/>
          </a:prstGeom>
          <a:noFill/>
        </p:spPr>
        <p:txBody>
          <a:bodyPr wrap="square" lIns="0" rIns="0" t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rIns="0" tIns="0" bIns="0" anchor="t"/>
          <a:lstStyle/>
          <a:p>
            <a:pPr algn="r"/>
            <a:r>
              <a:rPr sz="1200" b="0">
                <a:solidFill>
                  <a:srgbClr val="5E584F"/>
                </a:solidFill>
                <a:latin typeface="Calibri"/>
              </a:rPr>
              <a:t>13 / 36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365760" y="164592"/>
            <a:ext cx="2011680" cy="256032"/>
          </a:xfrm>
          <a:prstGeom prst="rect">
            <a:avLst/>
          </a:prstGeom>
          <a:noFill/>
        </p:spPr>
        <p:txBody>
          <a:bodyPr wrap="square" lIns="0" rIns="0" tIns="0" bIns="0" anchor="t"/>
          <a:lstStyle/>
          <a:p>
            <a:pPr algn="l"/>
            <a:r>
              <a:rPr sz="1200" b="1">
                <a:solidFill>
                  <a:srgbClr val="0F5E5A"/>
                </a:solidFill>
                <a:latin typeface="Calibri"/>
              </a:rPr>
              <a:t>FIGURE 1B</a:t>
            </a:r>
          </a:p>
        </p:txBody>
      </p:sp>
      <p:sp>
        <p:nvSpPr>
          <p:cNvPr id="3" name="TextBox 2"/>
          <p:cNvSpPr txBox="1"/>
          <p:nvPr/>
        </p:nvSpPr>
        <p:spPr>
          <a:xfrm>
            <a:off x="2286000" y="128016"/>
            <a:ext cx="9509760" cy="329184"/>
          </a:xfrm>
          <a:prstGeom prst="rect">
            <a:avLst/>
          </a:prstGeom>
          <a:noFill/>
        </p:spPr>
        <p:txBody>
          <a:bodyPr wrap="square" lIns="0" rIns="0" tIns="0" bIns="0" anchor="t"/>
          <a:lstStyle/>
          <a:p>
            <a:pPr algn="l"/>
            <a:r>
              <a:rPr sz="1800" b="1">
                <a:solidFill>
                  <a:srgbClr val="1C1915"/>
                </a:solidFill>
                <a:latin typeface="Calibri"/>
              </a:rPr>
              <a:t>Class diagram — agents, services, and contracts</a:t>
            </a:r>
          </a:p>
        </p:txBody>
      </p:sp>
      <p:pic>
        <p:nvPicPr>
          <p:cNvPr id="4" name="Picture 3" descr="class_agents.png"/>
          <p:cNvPicPr>
            <a:picLocks noChangeAspect="1"/>
          </p:cNvPicPr>
          <p:nvPr/>
        </p:nvPicPr>
        <p:blipFill>
          <a:blip r:embed="rId2"/>
          <a:stretch>
            <a:fillRect/>
          </a:stretch>
        </p:blipFill>
        <p:spPr>
          <a:xfrm>
            <a:off x="3136194" y="530352"/>
            <a:ext cx="5889131" cy="5623560"/>
          </a:xfrm>
          <a:prstGeom prst="rect">
            <a:avLst/>
          </a:prstGeom>
        </p:spPr>
      </p:pic>
      <p:sp>
        <p:nvSpPr>
          <p:cNvPr id="5" name="TextBox 4"/>
          <p:cNvSpPr txBox="1"/>
          <p:nvPr/>
        </p:nvSpPr>
        <p:spPr>
          <a:xfrm>
            <a:off x="365760" y="6199632"/>
            <a:ext cx="11430000" cy="292608"/>
          </a:xfrm>
          <a:prstGeom prst="rect">
            <a:avLst/>
          </a:prstGeom>
          <a:noFill/>
        </p:spPr>
        <p:txBody>
          <a:bodyPr wrap="square" lIns="0" rIns="0" tIns="0" bIns="0" anchor="t"/>
          <a:lstStyle/>
          <a:p>
            <a:pPr algn="l"/>
            <a:r>
              <a:rPr sz="1200" b="0">
                <a:solidFill>
                  <a:srgbClr val="5E584F"/>
                </a:solidFill>
                <a:latin typeface="Calibri"/>
              </a:rPr>
              <a:t>Source (group access)  </a:t>
            </a:r>
            <a:r>
              <a:rPr sz="1200" b="1" u="sng">
                <a:solidFill>
                  <a:srgbClr val="0F5E5A"/>
                </a:solidFill>
                <a:latin typeface="Calibri"/>
                <a:hlinkClick r:id="rId3"/>
              </a:rPr>
              <a:t>docs/diagrams/class_agents.puml</a:t>
            </a:r>
          </a:p>
        </p:txBody>
      </p:sp>
      <p:sp>
        <p:nvSpPr>
          <p:cNvPr id="6" name="TextBox 5"/>
          <p:cNvSpPr txBox="1"/>
          <p:nvPr/>
        </p:nvSpPr>
        <p:spPr>
          <a:xfrm>
            <a:off x="411480" y="6510528"/>
            <a:ext cx="5486400" cy="256032"/>
          </a:xfrm>
          <a:prstGeom prst="rect">
            <a:avLst/>
          </a:prstGeom>
          <a:noFill/>
        </p:spPr>
        <p:txBody>
          <a:bodyPr wrap="square" lIns="0" rIns="0" t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rIns="0" tIns="0" bIns="0" anchor="t"/>
          <a:lstStyle/>
          <a:p>
            <a:pPr algn="r"/>
            <a:r>
              <a:rPr sz="1200" b="0">
                <a:solidFill>
                  <a:srgbClr val="5E584F"/>
                </a:solidFill>
                <a:latin typeface="Calibri"/>
              </a:rPr>
              <a:t>14 / 36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365760" y="164592"/>
            <a:ext cx="2011680" cy="256032"/>
          </a:xfrm>
          <a:prstGeom prst="rect">
            <a:avLst/>
          </a:prstGeom>
          <a:noFill/>
        </p:spPr>
        <p:txBody>
          <a:bodyPr wrap="square" lIns="0" rIns="0" tIns="0" bIns="0" anchor="t"/>
          <a:lstStyle/>
          <a:p>
            <a:pPr algn="l"/>
            <a:r>
              <a:rPr sz="1200" b="1">
                <a:solidFill>
                  <a:srgbClr val="0F5E5A"/>
                </a:solidFill>
                <a:latin typeface="Calibri"/>
              </a:rPr>
              <a:t>FIGURE 2</a:t>
            </a:r>
          </a:p>
        </p:txBody>
      </p:sp>
      <p:sp>
        <p:nvSpPr>
          <p:cNvPr id="3" name="TextBox 2"/>
          <p:cNvSpPr txBox="1"/>
          <p:nvPr/>
        </p:nvSpPr>
        <p:spPr>
          <a:xfrm>
            <a:off x="2286000" y="128016"/>
            <a:ext cx="9509760" cy="329184"/>
          </a:xfrm>
          <a:prstGeom prst="rect">
            <a:avLst/>
          </a:prstGeom>
          <a:noFill/>
        </p:spPr>
        <p:txBody>
          <a:bodyPr wrap="square" lIns="0" rIns="0" tIns="0" bIns="0" anchor="t"/>
          <a:lstStyle/>
          <a:p>
            <a:pPr algn="l"/>
            <a:r>
              <a:rPr sz="1800" b="1">
                <a:solidFill>
                  <a:srgbClr val="1C1915"/>
                </a:solidFill>
                <a:latin typeface="Calibri"/>
              </a:rPr>
              <a:t>Package diagram — modules and contracts</a:t>
            </a:r>
          </a:p>
        </p:txBody>
      </p:sp>
      <p:pic>
        <p:nvPicPr>
          <p:cNvPr id="4" name="Picture 3" descr="package.png"/>
          <p:cNvPicPr>
            <a:picLocks noChangeAspect="1"/>
          </p:cNvPicPr>
          <p:nvPr/>
        </p:nvPicPr>
        <p:blipFill>
          <a:blip r:embed="rId2"/>
          <a:stretch>
            <a:fillRect/>
          </a:stretch>
        </p:blipFill>
        <p:spPr>
          <a:xfrm>
            <a:off x="2462023" y="530352"/>
            <a:ext cx="7237474" cy="5623560"/>
          </a:xfrm>
          <a:prstGeom prst="rect">
            <a:avLst/>
          </a:prstGeom>
        </p:spPr>
      </p:pic>
      <p:sp>
        <p:nvSpPr>
          <p:cNvPr id="5" name="TextBox 4"/>
          <p:cNvSpPr txBox="1"/>
          <p:nvPr/>
        </p:nvSpPr>
        <p:spPr>
          <a:xfrm>
            <a:off x="365760" y="6199632"/>
            <a:ext cx="11430000" cy="292608"/>
          </a:xfrm>
          <a:prstGeom prst="rect">
            <a:avLst/>
          </a:prstGeom>
          <a:noFill/>
        </p:spPr>
        <p:txBody>
          <a:bodyPr wrap="square" lIns="0" rIns="0" tIns="0" bIns="0" anchor="t"/>
          <a:lstStyle/>
          <a:p>
            <a:pPr algn="l"/>
            <a:r>
              <a:rPr sz="1200" b="0">
                <a:solidFill>
                  <a:srgbClr val="5E584F"/>
                </a:solidFill>
                <a:latin typeface="Calibri"/>
              </a:rPr>
              <a:t>Source (group access)  </a:t>
            </a:r>
            <a:r>
              <a:rPr sz="1200" b="1" u="sng">
                <a:solidFill>
                  <a:srgbClr val="0F5E5A"/>
                </a:solidFill>
                <a:latin typeface="Calibri"/>
                <a:hlinkClick r:id="rId3"/>
              </a:rPr>
              <a:t>docs/diagrams/package.puml</a:t>
            </a:r>
          </a:p>
        </p:txBody>
      </p:sp>
      <p:sp>
        <p:nvSpPr>
          <p:cNvPr id="6" name="TextBox 5"/>
          <p:cNvSpPr txBox="1"/>
          <p:nvPr/>
        </p:nvSpPr>
        <p:spPr>
          <a:xfrm>
            <a:off x="411480" y="6510528"/>
            <a:ext cx="5486400" cy="256032"/>
          </a:xfrm>
          <a:prstGeom prst="rect">
            <a:avLst/>
          </a:prstGeom>
          <a:noFill/>
        </p:spPr>
        <p:txBody>
          <a:bodyPr wrap="square" lIns="0" rIns="0" t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rIns="0" tIns="0" bIns="0" anchor="t"/>
          <a:lstStyle/>
          <a:p>
            <a:pPr algn="r"/>
            <a:r>
              <a:rPr sz="1200" b="0">
                <a:solidFill>
                  <a:srgbClr val="5E584F"/>
                </a:solidFill>
                <a:latin typeface="Calibri"/>
              </a:rPr>
              <a:t>15 / 36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365760" y="164592"/>
            <a:ext cx="2011680" cy="256032"/>
          </a:xfrm>
          <a:prstGeom prst="rect">
            <a:avLst/>
          </a:prstGeom>
          <a:noFill/>
        </p:spPr>
        <p:txBody>
          <a:bodyPr wrap="square" lIns="0" rIns="0" tIns="0" bIns="0" anchor="t"/>
          <a:lstStyle/>
          <a:p>
            <a:pPr algn="l"/>
            <a:r>
              <a:rPr sz="1200" b="1">
                <a:solidFill>
                  <a:srgbClr val="0F5E5A"/>
                </a:solidFill>
                <a:latin typeface="Calibri"/>
              </a:rPr>
              <a:t>FIGURE 3A</a:t>
            </a:r>
          </a:p>
        </p:txBody>
      </p:sp>
      <p:sp>
        <p:nvSpPr>
          <p:cNvPr id="3" name="TextBox 2"/>
          <p:cNvSpPr txBox="1"/>
          <p:nvPr/>
        </p:nvSpPr>
        <p:spPr>
          <a:xfrm>
            <a:off x="2286000" y="128016"/>
            <a:ext cx="9509760" cy="329184"/>
          </a:xfrm>
          <a:prstGeom prst="rect">
            <a:avLst/>
          </a:prstGeom>
          <a:noFill/>
        </p:spPr>
        <p:txBody>
          <a:bodyPr wrap="square" lIns="0" rIns="0" tIns="0" bIns="0" anchor="t"/>
          <a:lstStyle/>
          <a:p>
            <a:pPr algn="l"/>
            <a:r>
              <a:rPr sz="1800" b="1">
                <a:solidFill>
                  <a:srgbClr val="1C1915"/>
                </a:solidFill>
                <a:latin typeface="Calibri"/>
              </a:rPr>
              <a:t>State machine — engagement lifecycle</a:t>
            </a:r>
          </a:p>
        </p:txBody>
      </p:sp>
      <p:pic>
        <p:nvPicPr>
          <p:cNvPr id="4" name="Picture 3" descr="state_main.png"/>
          <p:cNvPicPr>
            <a:picLocks noChangeAspect="1"/>
          </p:cNvPicPr>
          <p:nvPr/>
        </p:nvPicPr>
        <p:blipFill>
          <a:blip r:embed="rId2"/>
          <a:stretch>
            <a:fillRect/>
          </a:stretch>
        </p:blipFill>
        <p:spPr>
          <a:xfrm>
            <a:off x="1351925" y="530352"/>
            <a:ext cx="9457670" cy="5623560"/>
          </a:xfrm>
          <a:prstGeom prst="rect">
            <a:avLst/>
          </a:prstGeom>
        </p:spPr>
      </p:pic>
      <p:sp>
        <p:nvSpPr>
          <p:cNvPr id="5" name="TextBox 4"/>
          <p:cNvSpPr txBox="1"/>
          <p:nvPr/>
        </p:nvSpPr>
        <p:spPr>
          <a:xfrm>
            <a:off x="365760" y="6199632"/>
            <a:ext cx="11430000" cy="292608"/>
          </a:xfrm>
          <a:prstGeom prst="rect">
            <a:avLst/>
          </a:prstGeom>
          <a:noFill/>
        </p:spPr>
        <p:txBody>
          <a:bodyPr wrap="square" lIns="0" rIns="0" tIns="0" bIns="0" anchor="t"/>
          <a:lstStyle/>
          <a:p>
            <a:pPr algn="l"/>
            <a:r>
              <a:rPr sz="1200" b="0">
                <a:solidFill>
                  <a:srgbClr val="5E584F"/>
                </a:solidFill>
                <a:latin typeface="Calibri"/>
              </a:rPr>
              <a:t>Source (group access)  </a:t>
            </a:r>
            <a:r>
              <a:rPr sz="1200" b="1" u="sng">
                <a:solidFill>
                  <a:srgbClr val="0F5E5A"/>
                </a:solidFill>
                <a:latin typeface="Calibri"/>
                <a:hlinkClick r:id="rId3"/>
              </a:rPr>
              <a:t>docs/diagrams/state_main.puml</a:t>
            </a:r>
          </a:p>
        </p:txBody>
      </p:sp>
      <p:sp>
        <p:nvSpPr>
          <p:cNvPr id="6" name="TextBox 5"/>
          <p:cNvSpPr txBox="1"/>
          <p:nvPr/>
        </p:nvSpPr>
        <p:spPr>
          <a:xfrm>
            <a:off x="411480" y="6510528"/>
            <a:ext cx="5486400" cy="256032"/>
          </a:xfrm>
          <a:prstGeom prst="rect">
            <a:avLst/>
          </a:prstGeom>
          <a:noFill/>
        </p:spPr>
        <p:txBody>
          <a:bodyPr wrap="square" lIns="0" rIns="0" t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rIns="0" tIns="0" bIns="0" anchor="t"/>
          <a:lstStyle/>
          <a:p>
            <a:pPr algn="r"/>
            <a:r>
              <a:rPr sz="1200" b="0">
                <a:solidFill>
                  <a:srgbClr val="5E584F"/>
                </a:solidFill>
                <a:latin typeface="Calibri"/>
              </a:rPr>
              <a:t>16 / 36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365760" y="164592"/>
            <a:ext cx="2011680" cy="256032"/>
          </a:xfrm>
          <a:prstGeom prst="rect">
            <a:avLst/>
          </a:prstGeom>
          <a:noFill/>
        </p:spPr>
        <p:txBody>
          <a:bodyPr wrap="square" lIns="0" rIns="0" tIns="0" bIns="0" anchor="t"/>
          <a:lstStyle/>
          <a:p>
            <a:pPr algn="l"/>
            <a:r>
              <a:rPr sz="1200" b="1">
                <a:solidFill>
                  <a:srgbClr val="0F5E5A"/>
                </a:solidFill>
                <a:latin typeface="Calibri"/>
              </a:rPr>
              <a:t>FIGURE 3B</a:t>
            </a:r>
          </a:p>
        </p:txBody>
      </p:sp>
      <p:sp>
        <p:nvSpPr>
          <p:cNvPr id="3" name="TextBox 2"/>
          <p:cNvSpPr txBox="1"/>
          <p:nvPr/>
        </p:nvSpPr>
        <p:spPr>
          <a:xfrm>
            <a:off x="2286000" y="128016"/>
            <a:ext cx="9509760" cy="329184"/>
          </a:xfrm>
          <a:prstGeom prst="rect">
            <a:avLst/>
          </a:prstGeom>
          <a:noFill/>
        </p:spPr>
        <p:txBody>
          <a:bodyPr wrap="square" lIns="0" rIns="0" tIns="0" bIns="0" anchor="t"/>
          <a:lstStyle/>
          <a:p>
            <a:pPr algn="l"/>
            <a:r>
              <a:rPr sz="1800" b="1">
                <a:solidFill>
                  <a:srgbClr val="1C1915"/>
                </a:solidFill>
                <a:latin typeface="Calibri"/>
              </a:rPr>
              <a:t>Object state machines</a:t>
            </a:r>
          </a:p>
        </p:txBody>
      </p:sp>
      <p:pic>
        <p:nvPicPr>
          <p:cNvPr id="4" name="Picture 3" descr="state_objects.png"/>
          <p:cNvPicPr>
            <a:picLocks noChangeAspect="1"/>
          </p:cNvPicPr>
          <p:nvPr/>
        </p:nvPicPr>
        <p:blipFill>
          <a:blip r:embed="rId2"/>
          <a:stretch>
            <a:fillRect/>
          </a:stretch>
        </p:blipFill>
        <p:spPr>
          <a:xfrm>
            <a:off x="1848188" y="530352"/>
            <a:ext cx="8465143" cy="5623560"/>
          </a:xfrm>
          <a:prstGeom prst="rect">
            <a:avLst/>
          </a:prstGeom>
        </p:spPr>
      </p:pic>
      <p:sp>
        <p:nvSpPr>
          <p:cNvPr id="5" name="TextBox 4"/>
          <p:cNvSpPr txBox="1"/>
          <p:nvPr/>
        </p:nvSpPr>
        <p:spPr>
          <a:xfrm>
            <a:off x="365760" y="6199632"/>
            <a:ext cx="11430000" cy="292608"/>
          </a:xfrm>
          <a:prstGeom prst="rect">
            <a:avLst/>
          </a:prstGeom>
          <a:noFill/>
        </p:spPr>
        <p:txBody>
          <a:bodyPr wrap="square" lIns="0" rIns="0" tIns="0" bIns="0" anchor="t"/>
          <a:lstStyle/>
          <a:p>
            <a:pPr algn="l"/>
            <a:r>
              <a:rPr sz="1200" b="0">
                <a:solidFill>
                  <a:srgbClr val="5E584F"/>
                </a:solidFill>
                <a:latin typeface="Calibri"/>
              </a:rPr>
              <a:t>Source (group access)  </a:t>
            </a:r>
            <a:r>
              <a:rPr sz="1200" b="1" u="sng">
                <a:solidFill>
                  <a:srgbClr val="0F5E5A"/>
                </a:solidFill>
                <a:latin typeface="Calibri"/>
                <a:hlinkClick r:id="rId3"/>
              </a:rPr>
              <a:t>docs/diagrams/state_objects.puml</a:t>
            </a:r>
          </a:p>
        </p:txBody>
      </p:sp>
      <p:sp>
        <p:nvSpPr>
          <p:cNvPr id="6" name="TextBox 5"/>
          <p:cNvSpPr txBox="1"/>
          <p:nvPr/>
        </p:nvSpPr>
        <p:spPr>
          <a:xfrm>
            <a:off x="411480" y="6510528"/>
            <a:ext cx="5486400" cy="256032"/>
          </a:xfrm>
          <a:prstGeom prst="rect">
            <a:avLst/>
          </a:prstGeom>
          <a:noFill/>
        </p:spPr>
        <p:txBody>
          <a:bodyPr wrap="square" lIns="0" rIns="0" t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rIns="0" tIns="0" bIns="0" anchor="t"/>
          <a:lstStyle/>
          <a:p>
            <a:pPr algn="r"/>
            <a:r>
              <a:rPr sz="1200" b="0">
                <a:solidFill>
                  <a:srgbClr val="5E584F"/>
                </a:solidFill>
                <a:latin typeface="Calibri"/>
              </a:rPr>
              <a:t>17 / 36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365760" y="164592"/>
            <a:ext cx="2011680" cy="256032"/>
          </a:xfrm>
          <a:prstGeom prst="rect">
            <a:avLst/>
          </a:prstGeom>
          <a:noFill/>
        </p:spPr>
        <p:txBody>
          <a:bodyPr wrap="square" lIns="0" rIns="0" tIns="0" bIns="0" anchor="t"/>
          <a:lstStyle/>
          <a:p>
            <a:pPr algn="l"/>
            <a:r>
              <a:rPr sz="1200" b="1">
                <a:solidFill>
                  <a:srgbClr val="0F5E5A"/>
                </a:solidFill>
                <a:latin typeface="Calibri"/>
              </a:rPr>
              <a:t>FIGURE 3B-1</a:t>
            </a:r>
          </a:p>
        </p:txBody>
      </p:sp>
      <p:sp>
        <p:nvSpPr>
          <p:cNvPr id="3" name="TextBox 2"/>
          <p:cNvSpPr txBox="1"/>
          <p:nvPr/>
        </p:nvSpPr>
        <p:spPr>
          <a:xfrm>
            <a:off x="2286000" y="128016"/>
            <a:ext cx="9509760" cy="329184"/>
          </a:xfrm>
          <a:prstGeom prst="rect">
            <a:avLst/>
          </a:prstGeom>
          <a:noFill/>
        </p:spPr>
        <p:txBody>
          <a:bodyPr wrap="square" lIns="0" rIns="0" tIns="0" bIns="0" anchor="t"/>
          <a:lstStyle/>
          <a:p>
            <a:pPr algn="l"/>
            <a:r>
              <a:rPr sz="1800" b="1">
                <a:solidFill>
                  <a:srgbClr val="1C1915"/>
                </a:solidFill>
                <a:latin typeface="Calibri"/>
              </a:rPr>
              <a:t>Object states — risk, procedure, run</a:t>
            </a:r>
          </a:p>
        </p:txBody>
      </p:sp>
      <p:pic>
        <p:nvPicPr>
          <p:cNvPr id="4" name="Picture 3" descr="state_objects_member_b.png"/>
          <p:cNvPicPr>
            <a:picLocks noChangeAspect="1"/>
          </p:cNvPicPr>
          <p:nvPr/>
        </p:nvPicPr>
        <p:blipFill>
          <a:blip r:embed="rId2"/>
          <a:stretch>
            <a:fillRect/>
          </a:stretch>
        </p:blipFill>
        <p:spPr>
          <a:xfrm>
            <a:off x="320040" y="1102626"/>
            <a:ext cx="11521440" cy="4479012"/>
          </a:xfrm>
          <a:prstGeom prst="rect">
            <a:avLst/>
          </a:prstGeom>
        </p:spPr>
      </p:pic>
      <p:sp>
        <p:nvSpPr>
          <p:cNvPr id="5" name="TextBox 4"/>
          <p:cNvSpPr txBox="1"/>
          <p:nvPr/>
        </p:nvSpPr>
        <p:spPr>
          <a:xfrm>
            <a:off x="365760" y="6199632"/>
            <a:ext cx="11430000" cy="292608"/>
          </a:xfrm>
          <a:prstGeom prst="rect">
            <a:avLst/>
          </a:prstGeom>
          <a:noFill/>
        </p:spPr>
        <p:txBody>
          <a:bodyPr wrap="square" lIns="0" rIns="0" tIns="0" bIns="0" anchor="t"/>
          <a:lstStyle/>
          <a:p>
            <a:pPr algn="l"/>
            <a:r>
              <a:rPr sz="1200" b="0">
                <a:solidFill>
                  <a:srgbClr val="5E584F"/>
                </a:solidFill>
                <a:latin typeface="Calibri"/>
              </a:rPr>
              <a:t>Source (group access)  </a:t>
            </a:r>
            <a:r>
              <a:rPr sz="1200" b="1" u="sng">
                <a:solidFill>
                  <a:srgbClr val="0F5E5A"/>
                </a:solidFill>
                <a:latin typeface="Calibri"/>
                <a:hlinkClick r:id="rId3"/>
              </a:rPr>
              <a:t>docs/diagrams/state_objects_member_b.puml</a:t>
            </a:r>
          </a:p>
        </p:txBody>
      </p:sp>
      <p:sp>
        <p:nvSpPr>
          <p:cNvPr id="6" name="TextBox 5"/>
          <p:cNvSpPr txBox="1"/>
          <p:nvPr/>
        </p:nvSpPr>
        <p:spPr>
          <a:xfrm>
            <a:off x="411480" y="6510528"/>
            <a:ext cx="5486400" cy="256032"/>
          </a:xfrm>
          <a:prstGeom prst="rect">
            <a:avLst/>
          </a:prstGeom>
          <a:noFill/>
        </p:spPr>
        <p:txBody>
          <a:bodyPr wrap="square" lIns="0" rIns="0" t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rIns="0" tIns="0" bIns="0" anchor="t"/>
          <a:lstStyle/>
          <a:p>
            <a:pPr algn="r"/>
            <a:r>
              <a:rPr sz="1200" b="0">
                <a:solidFill>
                  <a:srgbClr val="5E584F"/>
                </a:solidFill>
                <a:latin typeface="Calibri"/>
              </a:rPr>
              <a:t>18 / 36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365760" y="164592"/>
            <a:ext cx="2011680" cy="256032"/>
          </a:xfrm>
          <a:prstGeom prst="rect">
            <a:avLst/>
          </a:prstGeom>
          <a:noFill/>
        </p:spPr>
        <p:txBody>
          <a:bodyPr wrap="square" lIns="0" rIns="0" tIns="0" bIns="0" anchor="t"/>
          <a:lstStyle/>
          <a:p>
            <a:pPr algn="l"/>
            <a:r>
              <a:rPr sz="1200" b="1">
                <a:solidFill>
                  <a:srgbClr val="0F5E5A"/>
                </a:solidFill>
                <a:latin typeface="Calibri"/>
              </a:rPr>
              <a:t>FIGURE 3B-2</a:t>
            </a:r>
          </a:p>
        </p:txBody>
      </p:sp>
      <p:sp>
        <p:nvSpPr>
          <p:cNvPr id="3" name="TextBox 2"/>
          <p:cNvSpPr txBox="1"/>
          <p:nvPr/>
        </p:nvSpPr>
        <p:spPr>
          <a:xfrm>
            <a:off x="2286000" y="128016"/>
            <a:ext cx="9509760" cy="329184"/>
          </a:xfrm>
          <a:prstGeom prst="rect">
            <a:avLst/>
          </a:prstGeom>
          <a:noFill/>
        </p:spPr>
        <p:txBody>
          <a:bodyPr wrap="square" lIns="0" rIns="0" tIns="0" bIns="0" anchor="t"/>
          <a:lstStyle/>
          <a:p>
            <a:pPr algn="l"/>
            <a:r>
              <a:rPr sz="1800" b="1">
                <a:solidFill>
                  <a:srgbClr val="1C1915"/>
                </a:solidFill>
                <a:latin typeface="Calibri"/>
              </a:rPr>
              <a:t>Object states — misstatement, statutory report, document</a:t>
            </a:r>
          </a:p>
        </p:txBody>
      </p:sp>
      <p:pic>
        <p:nvPicPr>
          <p:cNvPr id="4" name="Picture 3" descr="state_objects_member_c.png"/>
          <p:cNvPicPr>
            <a:picLocks noChangeAspect="1"/>
          </p:cNvPicPr>
          <p:nvPr/>
        </p:nvPicPr>
        <p:blipFill>
          <a:blip r:embed="rId2"/>
          <a:stretch>
            <a:fillRect/>
          </a:stretch>
        </p:blipFill>
        <p:spPr>
          <a:xfrm>
            <a:off x="707896" y="530352"/>
            <a:ext cx="10745728" cy="5623560"/>
          </a:xfrm>
          <a:prstGeom prst="rect">
            <a:avLst/>
          </a:prstGeom>
        </p:spPr>
      </p:pic>
      <p:sp>
        <p:nvSpPr>
          <p:cNvPr id="5" name="TextBox 4"/>
          <p:cNvSpPr txBox="1"/>
          <p:nvPr/>
        </p:nvSpPr>
        <p:spPr>
          <a:xfrm>
            <a:off x="365760" y="6199632"/>
            <a:ext cx="11430000" cy="292608"/>
          </a:xfrm>
          <a:prstGeom prst="rect">
            <a:avLst/>
          </a:prstGeom>
          <a:noFill/>
        </p:spPr>
        <p:txBody>
          <a:bodyPr wrap="square" lIns="0" rIns="0" tIns="0" bIns="0" anchor="t"/>
          <a:lstStyle/>
          <a:p>
            <a:pPr algn="l"/>
            <a:r>
              <a:rPr sz="1200" b="0">
                <a:solidFill>
                  <a:srgbClr val="5E584F"/>
                </a:solidFill>
                <a:latin typeface="Calibri"/>
              </a:rPr>
              <a:t>Source (group access)  </a:t>
            </a:r>
            <a:r>
              <a:rPr sz="1200" b="1" u="sng">
                <a:solidFill>
                  <a:srgbClr val="0F5E5A"/>
                </a:solidFill>
                <a:latin typeface="Calibri"/>
                <a:hlinkClick r:id="rId3"/>
              </a:rPr>
              <a:t>docs/diagrams/state_objects_member_c.puml</a:t>
            </a:r>
          </a:p>
        </p:txBody>
      </p:sp>
      <p:sp>
        <p:nvSpPr>
          <p:cNvPr id="6" name="TextBox 5"/>
          <p:cNvSpPr txBox="1"/>
          <p:nvPr/>
        </p:nvSpPr>
        <p:spPr>
          <a:xfrm>
            <a:off x="411480" y="6510528"/>
            <a:ext cx="5486400" cy="256032"/>
          </a:xfrm>
          <a:prstGeom prst="rect">
            <a:avLst/>
          </a:prstGeom>
          <a:noFill/>
        </p:spPr>
        <p:txBody>
          <a:bodyPr wrap="square" lIns="0" rIns="0" t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rIns="0" tIns="0" bIns="0" anchor="t"/>
          <a:lstStyle/>
          <a:p>
            <a:pPr algn="r"/>
            <a:r>
              <a:rPr sz="1200" b="0">
                <a:solidFill>
                  <a:srgbClr val="5E584F"/>
                </a:solidFill>
                <a:latin typeface="Calibri"/>
              </a:rPr>
              <a:t>19 / 36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365760" y="164592"/>
            <a:ext cx="2011680" cy="256032"/>
          </a:xfrm>
          <a:prstGeom prst="rect">
            <a:avLst/>
          </a:prstGeom>
          <a:noFill/>
        </p:spPr>
        <p:txBody>
          <a:bodyPr wrap="square" lIns="0" rIns="0" tIns="0" bIns="0" anchor="t"/>
          <a:lstStyle/>
          <a:p>
            <a:pPr algn="l"/>
            <a:r>
              <a:rPr sz="1200" b="1">
                <a:solidFill>
                  <a:srgbClr val="0F5E5A"/>
                </a:solidFill>
                <a:latin typeface="Calibri"/>
              </a:rPr>
              <a:t>FIGURE 4A</a:t>
            </a:r>
          </a:p>
        </p:txBody>
      </p:sp>
      <p:sp>
        <p:nvSpPr>
          <p:cNvPr id="3" name="TextBox 2"/>
          <p:cNvSpPr txBox="1"/>
          <p:nvPr/>
        </p:nvSpPr>
        <p:spPr>
          <a:xfrm>
            <a:off x="2286000" y="128016"/>
            <a:ext cx="9509760" cy="329184"/>
          </a:xfrm>
          <a:prstGeom prst="rect">
            <a:avLst/>
          </a:prstGeom>
          <a:noFill/>
        </p:spPr>
        <p:txBody>
          <a:bodyPr wrap="square" lIns="0" rIns="0" tIns="0" bIns="0" anchor="t"/>
          <a:lstStyle/>
          <a:p>
            <a:pPr algn="l"/>
            <a:r>
              <a:rPr sz="1800" b="1">
                <a:solidFill>
                  <a:srgbClr val="1C1915"/>
                </a:solidFill>
                <a:latin typeface="Calibri"/>
              </a:rPr>
              <a:t>Activity — pack assembly and fieldwork</a:t>
            </a:r>
          </a:p>
        </p:txBody>
      </p:sp>
      <p:pic>
        <p:nvPicPr>
          <p:cNvPr id="4" name="Picture 3" descr="activity_fieldwork.png"/>
          <p:cNvPicPr>
            <a:picLocks noChangeAspect="1"/>
          </p:cNvPicPr>
          <p:nvPr/>
        </p:nvPicPr>
        <p:blipFill>
          <a:blip r:embed="rId2"/>
          <a:stretch>
            <a:fillRect/>
          </a:stretch>
        </p:blipFill>
        <p:spPr>
          <a:xfrm>
            <a:off x="3043954" y="530352"/>
            <a:ext cx="6073612" cy="5623560"/>
          </a:xfrm>
          <a:prstGeom prst="rect">
            <a:avLst/>
          </a:prstGeom>
        </p:spPr>
      </p:pic>
      <p:sp>
        <p:nvSpPr>
          <p:cNvPr id="5" name="TextBox 4"/>
          <p:cNvSpPr txBox="1"/>
          <p:nvPr/>
        </p:nvSpPr>
        <p:spPr>
          <a:xfrm>
            <a:off x="365760" y="6199632"/>
            <a:ext cx="11430000" cy="292608"/>
          </a:xfrm>
          <a:prstGeom prst="rect">
            <a:avLst/>
          </a:prstGeom>
          <a:noFill/>
        </p:spPr>
        <p:txBody>
          <a:bodyPr wrap="square" lIns="0" rIns="0" tIns="0" bIns="0" anchor="t"/>
          <a:lstStyle/>
          <a:p>
            <a:pPr algn="l"/>
            <a:r>
              <a:rPr sz="1200" b="0">
                <a:solidFill>
                  <a:srgbClr val="5E584F"/>
                </a:solidFill>
                <a:latin typeface="Calibri"/>
              </a:rPr>
              <a:t>Source (group access)  </a:t>
            </a:r>
            <a:r>
              <a:rPr sz="1200" b="1" u="sng">
                <a:solidFill>
                  <a:srgbClr val="0F5E5A"/>
                </a:solidFill>
                <a:latin typeface="Calibri"/>
                <a:hlinkClick r:id="rId3"/>
              </a:rPr>
              <a:t>docs/diagrams/activity_fieldwork.puml</a:t>
            </a:r>
          </a:p>
        </p:txBody>
      </p:sp>
      <p:sp>
        <p:nvSpPr>
          <p:cNvPr id="6" name="TextBox 5"/>
          <p:cNvSpPr txBox="1"/>
          <p:nvPr/>
        </p:nvSpPr>
        <p:spPr>
          <a:xfrm>
            <a:off x="411480" y="6510528"/>
            <a:ext cx="5486400" cy="256032"/>
          </a:xfrm>
          <a:prstGeom prst="rect">
            <a:avLst/>
          </a:prstGeom>
          <a:noFill/>
        </p:spPr>
        <p:txBody>
          <a:bodyPr wrap="square" lIns="0" rIns="0" t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rIns="0" tIns="0" bIns="0" anchor="t"/>
          <a:lstStyle/>
          <a:p>
            <a:pPr algn="r"/>
            <a:r>
              <a:rPr sz="1200" b="0">
                <a:solidFill>
                  <a:srgbClr val="5E584F"/>
                </a:solidFill>
                <a:latin typeface="Calibri"/>
              </a:rPr>
              <a:t>20 / 36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365760" y="164592"/>
            <a:ext cx="2011680" cy="256032"/>
          </a:xfrm>
          <a:prstGeom prst="rect">
            <a:avLst/>
          </a:prstGeom>
          <a:noFill/>
        </p:spPr>
        <p:txBody>
          <a:bodyPr wrap="square" lIns="0" rIns="0" tIns="0" bIns="0" anchor="t"/>
          <a:lstStyle/>
          <a:p>
            <a:pPr algn="l"/>
            <a:r>
              <a:rPr sz="1200" b="1">
                <a:solidFill>
                  <a:srgbClr val="0F5E5A"/>
                </a:solidFill>
                <a:latin typeface="Calibri"/>
              </a:rPr>
              <a:t>FIGURE 4A-1</a:t>
            </a:r>
          </a:p>
        </p:txBody>
      </p:sp>
      <p:sp>
        <p:nvSpPr>
          <p:cNvPr id="3" name="TextBox 2"/>
          <p:cNvSpPr txBox="1"/>
          <p:nvPr/>
        </p:nvSpPr>
        <p:spPr>
          <a:xfrm>
            <a:off x="2286000" y="128016"/>
            <a:ext cx="9509760" cy="329184"/>
          </a:xfrm>
          <a:prstGeom prst="rect">
            <a:avLst/>
          </a:prstGeom>
          <a:noFill/>
        </p:spPr>
        <p:txBody>
          <a:bodyPr wrap="square" lIns="0" rIns="0" tIns="0" bIns="0" anchor="t"/>
          <a:lstStyle/>
          <a:p>
            <a:pPr algn="l"/>
            <a:r>
              <a:rPr sz="1800" b="1">
                <a:solidFill>
                  <a:srgbClr val="1C1915"/>
                </a:solidFill>
                <a:latin typeface="Calibri"/>
              </a:rPr>
              <a:t>Activity — pack assembly and plan approval</a:t>
            </a:r>
          </a:p>
        </p:txBody>
      </p:sp>
      <p:pic>
        <p:nvPicPr>
          <p:cNvPr id="4" name="Picture 3" descr="activity_planning.png"/>
          <p:cNvPicPr>
            <a:picLocks noChangeAspect="1"/>
          </p:cNvPicPr>
          <p:nvPr/>
        </p:nvPicPr>
        <p:blipFill>
          <a:blip r:embed="rId2"/>
          <a:stretch>
            <a:fillRect/>
          </a:stretch>
        </p:blipFill>
        <p:spPr>
          <a:xfrm>
            <a:off x="2156008" y="530352"/>
            <a:ext cx="7849503" cy="5623560"/>
          </a:xfrm>
          <a:prstGeom prst="rect">
            <a:avLst/>
          </a:prstGeom>
        </p:spPr>
      </p:pic>
      <p:sp>
        <p:nvSpPr>
          <p:cNvPr id="5" name="TextBox 4"/>
          <p:cNvSpPr txBox="1"/>
          <p:nvPr/>
        </p:nvSpPr>
        <p:spPr>
          <a:xfrm>
            <a:off x="365760" y="6199632"/>
            <a:ext cx="11430000" cy="292608"/>
          </a:xfrm>
          <a:prstGeom prst="rect">
            <a:avLst/>
          </a:prstGeom>
          <a:noFill/>
        </p:spPr>
        <p:txBody>
          <a:bodyPr wrap="square" lIns="0" rIns="0" tIns="0" bIns="0" anchor="t"/>
          <a:lstStyle/>
          <a:p>
            <a:pPr algn="l"/>
            <a:r>
              <a:rPr sz="1200" b="0">
                <a:solidFill>
                  <a:srgbClr val="5E584F"/>
                </a:solidFill>
                <a:latin typeface="Calibri"/>
              </a:rPr>
              <a:t>Source (group access)  </a:t>
            </a:r>
            <a:r>
              <a:rPr sz="1200" b="1" u="sng">
                <a:solidFill>
                  <a:srgbClr val="0F5E5A"/>
                </a:solidFill>
                <a:latin typeface="Calibri"/>
                <a:hlinkClick r:id="rId3"/>
              </a:rPr>
              <a:t>docs/diagrams/activity_planning.puml</a:t>
            </a:r>
          </a:p>
        </p:txBody>
      </p:sp>
      <p:sp>
        <p:nvSpPr>
          <p:cNvPr id="6" name="TextBox 5"/>
          <p:cNvSpPr txBox="1"/>
          <p:nvPr/>
        </p:nvSpPr>
        <p:spPr>
          <a:xfrm>
            <a:off x="411480" y="6510528"/>
            <a:ext cx="5486400" cy="256032"/>
          </a:xfrm>
          <a:prstGeom prst="rect">
            <a:avLst/>
          </a:prstGeom>
          <a:noFill/>
        </p:spPr>
        <p:txBody>
          <a:bodyPr wrap="square" lIns="0" rIns="0" t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rIns="0" tIns="0" bIns="0" anchor="t"/>
          <a:lstStyle/>
          <a:p>
            <a:pPr algn="r"/>
            <a:r>
              <a:rPr sz="1200" b="0">
                <a:solidFill>
                  <a:srgbClr val="5E584F"/>
                </a:solidFill>
                <a:latin typeface="Calibri"/>
              </a:rPr>
              <a:t>21 / 36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365760" y="164592"/>
            <a:ext cx="2011680" cy="256032"/>
          </a:xfrm>
          <a:prstGeom prst="rect">
            <a:avLst/>
          </a:prstGeom>
          <a:noFill/>
        </p:spPr>
        <p:txBody>
          <a:bodyPr wrap="square" lIns="0" rIns="0" tIns="0" bIns="0" anchor="t"/>
          <a:lstStyle/>
          <a:p>
            <a:pPr algn="l"/>
            <a:r>
              <a:rPr sz="1200" b="1">
                <a:solidFill>
                  <a:srgbClr val="0F5E5A"/>
                </a:solidFill>
                <a:latin typeface="Calibri"/>
              </a:rPr>
              <a:t>FIGURE 4A-2</a:t>
            </a:r>
          </a:p>
        </p:txBody>
      </p:sp>
      <p:sp>
        <p:nvSpPr>
          <p:cNvPr id="3" name="TextBox 2"/>
          <p:cNvSpPr txBox="1"/>
          <p:nvPr/>
        </p:nvSpPr>
        <p:spPr>
          <a:xfrm>
            <a:off x="2286000" y="128016"/>
            <a:ext cx="9509760" cy="329184"/>
          </a:xfrm>
          <a:prstGeom prst="rect">
            <a:avLst/>
          </a:prstGeom>
          <a:noFill/>
        </p:spPr>
        <p:txBody>
          <a:bodyPr wrap="square" lIns="0" rIns="0" tIns="0" bIns="0" anchor="t"/>
          <a:lstStyle/>
          <a:p>
            <a:pPr algn="l"/>
            <a:r>
              <a:rPr sz="1800" b="1">
                <a:solidFill>
                  <a:srgbClr val="1C1915"/>
                </a:solidFill>
                <a:latin typeface="Calibri"/>
              </a:rPr>
              <a:t>Activity — fieldwork execution and feedback loops</a:t>
            </a:r>
          </a:p>
        </p:txBody>
      </p:sp>
      <p:pic>
        <p:nvPicPr>
          <p:cNvPr id="4" name="Picture 3" descr="activity_execution.png"/>
          <p:cNvPicPr>
            <a:picLocks noChangeAspect="1"/>
          </p:cNvPicPr>
          <p:nvPr/>
        </p:nvPicPr>
        <p:blipFill>
          <a:blip r:embed="rId2"/>
          <a:stretch>
            <a:fillRect/>
          </a:stretch>
        </p:blipFill>
        <p:spPr>
          <a:xfrm>
            <a:off x="1309315" y="530352"/>
            <a:ext cx="9542889" cy="5623560"/>
          </a:xfrm>
          <a:prstGeom prst="rect">
            <a:avLst/>
          </a:prstGeom>
        </p:spPr>
      </p:pic>
      <p:sp>
        <p:nvSpPr>
          <p:cNvPr id="5" name="TextBox 4"/>
          <p:cNvSpPr txBox="1"/>
          <p:nvPr/>
        </p:nvSpPr>
        <p:spPr>
          <a:xfrm>
            <a:off x="365760" y="6199632"/>
            <a:ext cx="11430000" cy="292608"/>
          </a:xfrm>
          <a:prstGeom prst="rect">
            <a:avLst/>
          </a:prstGeom>
          <a:noFill/>
        </p:spPr>
        <p:txBody>
          <a:bodyPr wrap="square" lIns="0" rIns="0" tIns="0" bIns="0" anchor="t"/>
          <a:lstStyle/>
          <a:p>
            <a:pPr algn="l"/>
            <a:r>
              <a:rPr sz="1200" b="0">
                <a:solidFill>
                  <a:srgbClr val="5E584F"/>
                </a:solidFill>
                <a:latin typeface="Calibri"/>
              </a:rPr>
              <a:t>Source (group access)  </a:t>
            </a:r>
            <a:r>
              <a:rPr sz="1200" b="1" u="sng">
                <a:solidFill>
                  <a:srgbClr val="0F5E5A"/>
                </a:solidFill>
                <a:latin typeface="Calibri"/>
                <a:hlinkClick r:id="rId3"/>
              </a:rPr>
              <a:t>docs/diagrams/activity_execution.puml</a:t>
            </a:r>
          </a:p>
        </p:txBody>
      </p:sp>
      <p:sp>
        <p:nvSpPr>
          <p:cNvPr id="6" name="TextBox 5"/>
          <p:cNvSpPr txBox="1"/>
          <p:nvPr/>
        </p:nvSpPr>
        <p:spPr>
          <a:xfrm>
            <a:off x="411480" y="6510528"/>
            <a:ext cx="5486400" cy="256032"/>
          </a:xfrm>
          <a:prstGeom prst="rect">
            <a:avLst/>
          </a:prstGeom>
          <a:noFill/>
        </p:spPr>
        <p:txBody>
          <a:bodyPr wrap="square" lIns="0" rIns="0" t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rIns="0" tIns="0" bIns="0" anchor="t"/>
          <a:lstStyle/>
          <a:p>
            <a:pPr algn="r"/>
            <a:r>
              <a:rPr sz="1200" b="0">
                <a:solidFill>
                  <a:srgbClr val="5E584F"/>
                </a:solidFill>
                <a:latin typeface="Calibri"/>
              </a:rPr>
              <a:t>22 / 36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365760" y="164592"/>
            <a:ext cx="2011680" cy="256032"/>
          </a:xfrm>
          <a:prstGeom prst="rect">
            <a:avLst/>
          </a:prstGeom>
          <a:noFill/>
        </p:spPr>
        <p:txBody>
          <a:bodyPr wrap="square" lIns="0" rIns="0" tIns="0" bIns="0" anchor="t"/>
          <a:lstStyle/>
          <a:p>
            <a:pPr algn="l"/>
            <a:r>
              <a:rPr sz="1200" b="1">
                <a:solidFill>
                  <a:srgbClr val="0F5E5A"/>
                </a:solidFill>
                <a:latin typeface="Calibri"/>
              </a:rPr>
              <a:t>FIGURE 4B</a:t>
            </a:r>
          </a:p>
        </p:txBody>
      </p:sp>
      <p:sp>
        <p:nvSpPr>
          <p:cNvPr id="3" name="TextBox 2"/>
          <p:cNvSpPr txBox="1"/>
          <p:nvPr/>
        </p:nvSpPr>
        <p:spPr>
          <a:xfrm>
            <a:off x="2286000" y="128016"/>
            <a:ext cx="9509760" cy="329184"/>
          </a:xfrm>
          <a:prstGeom prst="rect">
            <a:avLst/>
          </a:prstGeom>
          <a:noFill/>
        </p:spPr>
        <p:txBody>
          <a:bodyPr wrap="square" lIns="0" rIns="0" tIns="0" bIns="0" anchor="t"/>
          <a:lstStyle/>
          <a:p>
            <a:pPr algn="l"/>
            <a:r>
              <a:rPr sz="1800" b="1">
                <a:solidFill>
                  <a:srgbClr val="1C1915"/>
                </a:solidFill>
                <a:latin typeface="Calibri"/>
              </a:rPr>
              <a:t>Activity — one procedure inside an A6 instance</a:t>
            </a:r>
          </a:p>
        </p:txBody>
      </p:sp>
      <p:pic>
        <p:nvPicPr>
          <p:cNvPr id="4" name="Picture 3" descr="activity_procedure.png"/>
          <p:cNvPicPr>
            <a:picLocks noChangeAspect="1"/>
          </p:cNvPicPr>
          <p:nvPr/>
        </p:nvPicPr>
        <p:blipFill>
          <a:blip r:embed="rId2"/>
          <a:stretch>
            <a:fillRect/>
          </a:stretch>
        </p:blipFill>
        <p:spPr>
          <a:xfrm>
            <a:off x="1286541" y="530352"/>
            <a:ext cx="9588437" cy="5623560"/>
          </a:xfrm>
          <a:prstGeom prst="rect">
            <a:avLst/>
          </a:prstGeom>
        </p:spPr>
      </p:pic>
      <p:sp>
        <p:nvSpPr>
          <p:cNvPr id="5" name="TextBox 4"/>
          <p:cNvSpPr txBox="1"/>
          <p:nvPr/>
        </p:nvSpPr>
        <p:spPr>
          <a:xfrm>
            <a:off x="365760" y="6199632"/>
            <a:ext cx="11430000" cy="292608"/>
          </a:xfrm>
          <a:prstGeom prst="rect">
            <a:avLst/>
          </a:prstGeom>
          <a:noFill/>
        </p:spPr>
        <p:txBody>
          <a:bodyPr wrap="square" lIns="0" rIns="0" tIns="0" bIns="0" anchor="t"/>
          <a:lstStyle/>
          <a:p>
            <a:pPr algn="l"/>
            <a:r>
              <a:rPr sz="1200" b="0">
                <a:solidFill>
                  <a:srgbClr val="5E584F"/>
                </a:solidFill>
                <a:latin typeface="Calibri"/>
              </a:rPr>
              <a:t>Source (group access)  </a:t>
            </a:r>
            <a:r>
              <a:rPr sz="1200" b="1" u="sng">
                <a:solidFill>
                  <a:srgbClr val="0F5E5A"/>
                </a:solidFill>
                <a:latin typeface="Calibri"/>
                <a:hlinkClick r:id="rId3"/>
              </a:rPr>
              <a:t>docs/diagrams/activity_procedure.puml</a:t>
            </a:r>
          </a:p>
        </p:txBody>
      </p:sp>
      <p:sp>
        <p:nvSpPr>
          <p:cNvPr id="6" name="TextBox 5"/>
          <p:cNvSpPr txBox="1"/>
          <p:nvPr/>
        </p:nvSpPr>
        <p:spPr>
          <a:xfrm>
            <a:off x="411480" y="6510528"/>
            <a:ext cx="5486400" cy="256032"/>
          </a:xfrm>
          <a:prstGeom prst="rect">
            <a:avLst/>
          </a:prstGeom>
          <a:noFill/>
        </p:spPr>
        <p:txBody>
          <a:bodyPr wrap="square" lIns="0" rIns="0" t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rIns="0" tIns="0" bIns="0" anchor="t"/>
          <a:lstStyle/>
          <a:p>
            <a:pPr algn="r"/>
            <a:r>
              <a:rPr sz="1200" b="0">
                <a:solidFill>
                  <a:srgbClr val="5E584F"/>
                </a:solidFill>
                <a:latin typeface="Calibri"/>
              </a:rPr>
              <a:t>23 / 36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365760" y="164592"/>
            <a:ext cx="2011680" cy="256032"/>
          </a:xfrm>
          <a:prstGeom prst="rect">
            <a:avLst/>
          </a:prstGeom>
          <a:noFill/>
        </p:spPr>
        <p:txBody>
          <a:bodyPr wrap="square" lIns="0" rIns="0" tIns="0" bIns="0" anchor="t"/>
          <a:lstStyle/>
          <a:p>
            <a:pPr algn="l"/>
            <a:r>
              <a:rPr sz="1200" b="1">
                <a:solidFill>
                  <a:srgbClr val="0F5E5A"/>
                </a:solidFill>
                <a:latin typeface="Calibri"/>
              </a:rPr>
              <a:t>FIGURE 5A</a:t>
            </a:r>
          </a:p>
        </p:txBody>
      </p:sp>
      <p:sp>
        <p:nvSpPr>
          <p:cNvPr id="3" name="TextBox 2"/>
          <p:cNvSpPr txBox="1"/>
          <p:nvPr/>
        </p:nvSpPr>
        <p:spPr>
          <a:xfrm>
            <a:off x="2286000" y="128016"/>
            <a:ext cx="9509760" cy="329184"/>
          </a:xfrm>
          <a:prstGeom prst="rect">
            <a:avLst/>
          </a:prstGeom>
          <a:noFill/>
        </p:spPr>
        <p:txBody>
          <a:bodyPr wrap="square" lIns="0" rIns="0" tIns="0" bIns="0" anchor="t"/>
          <a:lstStyle/>
          <a:p>
            <a:pPr algn="l"/>
            <a:r>
              <a:rPr sz="1800" b="1">
                <a:solidFill>
                  <a:srgbClr val="1C1915"/>
                </a:solidFill>
                <a:latin typeface="Calibri"/>
              </a:rPr>
              <a:t>Sequence — assertion-level risk reasoning</a:t>
            </a:r>
          </a:p>
        </p:txBody>
      </p:sp>
      <p:pic>
        <p:nvPicPr>
          <p:cNvPr id="4" name="Picture 3" descr="sequence_risk_assessment.png"/>
          <p:cNvPicPr>
            <a:picLocks noChangeAspect="1"/>
          </p:cNvPicPr>
          <p:nvPr/>
        </p:nvPicPr>
        <p:blipFill>
          <a:blip r:embed="rId2"/>
          <a:stretch>
            <a:fillRect/>
          </a:stretch>
        </p:blipFill>
        <p:spPr>
          <a:xfrm>
            <a:off x="4236123" y="530352"/>
            <a:ext cx="3689274" cy="5623560"/>
          </a:xfrm>
          <a:prstGeom prst="rect">
            <a:avLst/>
          </a:prstGeom>
        </p:spPr>
      </p:pic>
      <p:sp>
        <p:nvSpPr>
          <p:cNvPr id="5" name="TextBox 4"/>
          <p:cNvSpPr txBox="1"/>
          <p:nvPr/>
        </p:nvSpPr>
        <p:spPr>
          <a:xfrm>
            <a:off x="365760" y="6199632"/>
            <a:ext cx="11430000" cy="292608"/>
          </a:xfrm>
          <a:prstGeom prst="rect">
            <a:avLst/>
          </a:prstGeom>
          <a:noFill/>
        </p:spPr>
        <p:txBody>
          <a:bodyPr wrap="square" lIns="0" rIns="0" tIns="0" bIns="0" anchor="t"/>
          <a:lstStyle/>
          <a:p>
            <a:pPr algn="l"/>
            <a:r>
              <a:rPr sz="1200" b="0">
                <a:solidFill>
                  <a:srgbClr val="5E584F"/>
                </a:solidFill>
                <a:latin typeface="Calibri"/>
              </a:rPr>
              <a:t>Source (group access)  </a:t>
            </a:r>
            <a:r>
              <a:rPr sz="1200" b="1" u="sng">
                <a:solidFill>
                  <a:srgbClr val="0F5E5A"/>
                </a:solidFill>
                <a:latin typeface="Calibri"/>
                <a:hlinkClick r:id="rId3"/>
              </a:rPr>
              <a:t>docs/diagrams/sequence_risk_assessment.puml</a:t>
            </a:r>
          </a:p>
        </p:txBody>
      </p:sp>
      <p:sp>
        <p:nvSpPr>
          <p:cNvPr id="6" name="TextBox 5"/>
          <p:cNvSpPr txBox="1"/>
          <p:nvPr/>
        </p:nvSpPr>
        <p:spPr>
          <a:xfrm>
            <a:off x="411480" y="6510528"/>
            <a:ext cx="5486400" cy="256032"/>
          </a:xfrm>
          <a:prstGeom prst="rect">
            <a:avLst/>
          </a:prstGeom>
          <a:noFill/>
        </p:spPr>
        <p:txBody>
          <a:bodyPr wrap="square" lIns="0" rIns="0" t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rIns="0" tIns="0" bIns="0" anchor="t"/>
          <a:lstStyle/>
          <a:p>
            <a:pPr algn="r"/>
            <a:r>
              <a:rPr sz="1200" b="0">
                <a:solidFill>
                  <a:srgbClr val="5E584F"/>
                </a:solidFill>
                <a:latin typeface="Calibri"/>
              </a:rPr>
              <a:t>24 / 36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365760" y="164592"/>
            <a:ext cx="2011680" cy="256032"/>
          </a:xfrm>
          <a:prstGeom prst="rect">
            <a:avLst/>
          </a:prstGeom>
          <a:noFill/>
        </p:spPr>
        <p:txBody>
          <a:bodyPr wrap="square" lIns="0" rIns="0" tIns="0" bIns="0" anchor="t"/>
          <a:lstStyle/>
          <a:p>
            <a:pPr algn="l"/>
            <a:r>
              <a:rPr sz="1200" b="1">
                <a:solidFill>
                  <a:srgbClr val="0F5E5A"/>
                </a:solidFill>
                <a:latin typeface="Calibri"/>
              </a:rPr>
              <a:t>FIGURE 5B</a:t>
            </a:r>
          </a:p>
        </p:txBody>
      </p:sp>
      <p:sp>
        <p:nvSpPr>
          <p:cNvPr id="3" name="TextBox 2"/>
          <p:cNvSpPr txBox="1"/>
          <p:nvPr/>
        </p:nvSpPr>
        <p:spPr>
          <a:xfrm>
            <a:off x="2286000" y="128016"/>
            <a:ext cx="9509760" cy="329184"/>
          </a:xfrm>
          <a:prstGeom prst="rect">
            <a:avLst/>
          </a:prstGeom>
          <a:noFill/>
        </p:spPr>
        <p:txBody>
          <a:bodyPr wrap="square" lIns="0" rIns="0" tIns="0" bIns="0" anchor="t"/>
          <a:lstStyle/>
          <a:p>
            <a:pPr algn="l"/>
            <a:r>
              <a:rPr sz="1800" b="1">
                <a:solidFill>
                  <a:srgbClr val="1C1915"/>
                </a:solidFill>
                <a:latin typeface="Calibri"/>
              </a:rPr>
              <a:t>Sequence — failure paths of a journal-exception attribution</a:t>
            </a:r>
          </a:p>
        </p:txBody>
      </p:sp>
      <p:pic>
        <p:nvPicPr>
          <p:cNvPr id="4" name="Picture 3" descr="sequence_failure_paths.png"/>
          <p:cNvPicPr>
            <a:picLocks noChangeAspect="1"/>
          </p:cNvPicPr>
          <p:nvPr/>
        </p:nvPicPr>
        <p:blipFill>
          <a:blip r:embed="rId2"/>
          <a:stretch>
            <a:fillRect/>
          </a:stretch>
        </p:blipFill>
        <p:spPr>
          <a:xfrm>
            <a:off x="4276410" y="530352"/>
            <a:ext cx="3608699" cy="5623560"/>
          </a:xfrm>
          <a:prstGeom prst="rect">
            <a:avLst/>
          </a:prstGeom>
        </p:spPr>
      </p:pic>
      <p:sp>
        <p:nvSpPr>
          <p:cNvPr id="5" name="TextBox 4"/>
          <p:cNvSpPr txBox="1"/>
          <p:nvPr/>
        </p:nvSpPr>
        <p:spPr>
          <a:xfrm>
            <a:off x="365760" y="6199632"/>
            <a:ext cx="11430000" cy="292608"/>
          </a:xfrm>
          <a:prstGeom prst="rect">
            <a:avLst/>
          </a:prstGeom>
          <a:noFill/>
        </p:spPr>
        <p:txBody>
          <a:bodyPr wrap="square" lIns="0" rIns="0" tIns="0" bIns="0" anchor="t"/>
          <a:lstStyle/>
          <a:p>
            <a:pPr algn="l"/>
            <a:r>
              <a:rPr sz="1200" b="0">
                <a:solidFill>
                  <a:srgbClr val="5E584F"/>
                </a:solidFill>
                <a:latin typeface="Calibri"/>
              </a:rPr>
              <a:t>Source (group access)  </a:t>
            </a:r>
            <a:r>
              <a:rPr sz="1200" b="1" u="sng">
                <a:solidFill>
                  <a:srgbClr val="0F5E5A"/>
                </a:solidFill>
                <a:latin typeface="Calibri"/>
                <a:hlinkClick r:id="rId3"/>
              </a:rPr>
              <a:t>docs/diagrams/sequence_failure_paths.puml</a:t>
            </a:r>
          </a:p>
        </p:txBody>
      </p:sp>
      <p:sp>
        <p:nvSpPr>
          <p:cNvPr id="6" name="TextBox 5"/>
          <p:cNvSpPr txBox="1"/>
          <p:nvPr/>
        </p:nvSpPr>
        <p:spPr>
          <a:xfrm>
            <a:off x="411480" y="6510528"/>
            <a:ext cx="5486400" cy="256032"/>
          </a:xfrm>
          <a:prstGeom prst="rect">
            <a:avLst/>
          </a:prstGeom>
          <a:noFill/>
        </p:spPr>
        <p:txBody>
          <a:bodyPr wrap="square" lIns="0" rIns="0" t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rIns="0" tIns="0" bIns="0" anchor="t"/>
          <a:lstStyle/>
          <a:p>
            <a:pPr algn="r"/>
            <a:r>
              <a:rPr sz="1200" b="0">
                <a:solidFill>
                  <a:srgbClr val="5E584F"/>
                </a:solidFill>
                <a:latin typeface="Calibri"/>
              </a:rPr>
              <a:t>25 / 36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365760" y="164592"/>
            <a:ext cx="2011680" cy="256032"/>
          </a:xfrm>
          <a:prstGeom prst="rect">
            <a:avLst/>
          </a:prstGeom>
          <a:noFill/>
        </p:spPr>
        <p:txBody>
          <a:bodyPr wrap="square" lIns="0" rIns="0" tIns="0" bIns="0" anchor="t"/>
          <a:lstStyle/>
          <a:p>
            <a:pPr algn="l"/>
            <a:r>
              <a:rPr sz="1200" b="1">
                <a:solidFill>
                  <a:srgbClr val="0F5E5A"/>
                </a:solidFill>
                <a:latin typeface="Calibri"/>
              </a:rPr>
              <a:t>FIGURE 6</a:t>
            </a:r>
          </a:p>
        </p:txBody>
      </p:sp>
      <p:sp>
        <p:nvSpPr>
          <p:cNvPr id="3" name="TextBox 2"/>
          <p:cNvSpPr txBox="1"/>
          <p:nvPr/>
        </p:nvSpPr>
        <p:spPr>
          <a:xfrm>
            <a:off x="2286000" y="128016"/>
            <a:ext cx="9509760" cy="329184"/>
          </a:xfrm>
          <a:prstGeom prst="rect">
            <a:avLst/>
          </a:prstGeom>
          <a:noFill/>
        </p:spPr>
        <p:txBody>
          <a:bodyPr wrap="square" lIns="0" rIns="0" tIns="0" bIns="0" anchor="t"/>
          <a:lstStyle/>
          <a:p>
            <a:pPr algn="l"/>
            <a:r>
              <a:rPr sz="1800" b="1">
                <a:solidFill>
                  <a:srgbClr val="1C1915"/>
                </a:solidFill>
                <a:latin typeface="Calibri"/>
              </a:rPr>
              <a:t>Use cases — actors and the nine use cases</a:t>
            </a:r>
          </a:p>
        </p:txBody>
      </p:sp>
      <p:pic>
        <p:nvPicPr>
          <p:cNvPr id="4" name="Picture 3" descr="usecase.png"/>
          <p:cNvPicPr>
            <a:picLocks noChangeAspect="1"/>
          </p:cNvPicPr>
          <p:nvPr/>
        </p:nvPicPr>
        <p:blipFill>
          <a:blip r:embed="rId2"/>
          <a:stretch>
            <a:fillRect/>
          </a:stretch>
        </p:blipFill>
        <p:spPr>
          <a:xfrm>
            <a:off x="3225599" y="530352"/>
            <a:ext cx="5710321" cy="5623560"/>
          </a:xfrm>
          <a:prstGeom prst="rect">
            <a:avLst/>
          </a:prstGeom>
        </p:spPr>
      </p:pic>
      <p:sp>
        <p:nvSpPr>
          <p:cNvPr id="5" name="TextBox 4"/>
          <p:cNvSpPr txBox="1"/>
          <p:nvPr/>
        </p:nvSpPr>
        <p:spPr>
          <a:xfrm>
            <a:off x="365760" y="6199632"/>
            <a:ext cx="11430000" cy="292608"/>
          </a:xfrm>
          <a:prstGeom prst="rect">
            <a:avLst/>
          </a:prstGeom>
          <a:noFill/>
        </p:spPr>
        <p:txBody>
          <a:bodyPr wrap="square" lIns="0" rIns="0" tIns="0" bIns="0" anchor="t"/>
          <a:lstStyle/>
          <a:p>
            <a:pPr algn="l"/>
            <a:r>
              <a:rPr sz="1200" b="0">
                <a:solidFill>
                  <a:srgbClr val="5E584F"/>
                </a:solidFill>
                <a:latin typeface="Calibri"/>
              </a:rPr>
              <a:t>Source (group access)  </a:t>
            </a:r>
            <a:r>
              <a:rPr sz="1200" b="1" u="sng">
                <a:solidFill>
                  <a:srgbClr val="0F5E5A"/>
                </a:solidFill>
                <a:latin typeface="Calibri"/>
                <a:hlinkClick r:id="rId3"/>
              </a:rPr>
              <a:t>docs/diagrams/usecase.puml</a:t>
            </a:r>
          </a:p>
        </p:txBody>
      </p:sp>
      <p:sp>
        <p:nvSpPr>
          <p:cNvPr id="6" name="TextBox 5"/>
          <p:cNvSpPr txBox="1"/>
          <p:nvPr/>
        </p:nvSpPr>
        <p:spPr>
          <a:xfrm>
            <a:off x="411480" y="6510528"/>
            <a:ext cx="5486400" cy="256032"/>
          </a:xfrm>
          <a:prstGeom prst="rect">
            <a:avLst/>
          </a:prstGeom>
          <a:noFill/>
        </p:spPr>
        <p:txBody>
          <a:bodyPr wrap="square" lIns="0" rIns="0" t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rIns="0" tIns="0" bIns="0" anchor="t"/>
          <a:lstStyle/>
          <a:p>
            <a:pPr algn="r"/>
            <a:r>
              <a:rPr sz="1200" b="0">
                <a:solidFill>
                  <a:srgbClr val="5E584F"/>
                </a:solidFill>
                <a:latin typeface="Calibri"/>
              </a:rPr>
              <a:t>26 / 36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365760" y="164592"/>
            <a:ext cx="2011680" cy="256032"/>
          </a:xfrm>
          <a:prstGeom prst="rect">
            <a:avLst/>
          </a:prstGeom>
          <a:noFill/>
        </p:spPr>
        <p:txBody>
          <a:bodyPr wrap="square" lIns="0" rIns="0" tIns="0" bIns="0" anchor="t"/>
          <a:lstStyle/>
          <a:p>
            <a:pPr algn="l"/>
            <a:r>
              <a:rPr sz="1200" b="1">
                <a:solidFill>
                  <a:srgbClr val="0F5E5A"/>
                </a:solidFill>
                <a:latin typeface="Calibri"/>
              </a:rPr>
              <a:t>FIGURE 6A</a:t>
            </a:r>
          </a:p>
        </p:txBody>
      </p:sp>
      <p:sp>
        <p:nvSpPr>
          <p:cNvPr id="3" name="TextBox 2"/>
          <p:cNvSpPr txBox="1"/>
          <p:nvPr/>
        </p:nvSpPr>
        <p:spPr>
          <a:xfrm>
            <a:off x="2286000" y="128016"/>
            <a:ext cx="9509760" cy="329184"/>
          </a:xfrm>
          <a:prstGeom prst="rect">
            <a:avLst/>
          </a:prstGeom>
          <a:noFill/>
        </p:spPr>
        <p:txBody>
          <a:bodyPr wrap="square" lIns="0" rIns="0" tIns="0" bIns="0" anchor="t"/>
          <a:lstStyle/>
          <a:p>
            <a:pPr algn="l"/>
            <a:r>
              <a:rPr sz="1800" b="1">
                <a:solidFill>
                  <a:srgbClr val="1C1915"/>
                </a:solidFill>
                <a:latin typeface="Calibri"/>
              </a:rPr>
              <a:t>Use case specification — UC-01 to UC-03</a:t>
            </a:r>
          </a:p>
        </p:txBody>
      </p:sp>
      <p:pic>
        <p:nvPicPr>
          <p:cNvPr id="4" name="Picture 3" descr="usecase_spec_member_a.png"/>
          <p:cNvPicPr>
            <a:picLocks noChangeAspect="1"/>
          </p:cNvPicPr>
          <p:nvPr/>
        </p:nvPicPr>
        <p:blipFill>
          <a:blip r:embed="rId2"/>
          <a:stretch>
            <a:fillRect/>
          </a:stretch>
        </p:blipFill>
        <p:spPr>
          <a:xfrm>
            <a:off x="2581979" y="530352"/>
            <a:ext cx="6997562" cy="5623560"/>
          </a:xfrm>
          <a:prstGeom prst="rect">
            <a:avLst/>
          </a:prstGeom>
        </p:spPr>
      </p:pic>
      <p:sp>
        <p:nvSpPr>
          <p:cNvPr id="5" name="TextBox 4"/>
          <p:cNvSpPr txBox="1"/>
          <p:nvPr/>
        </p:nvSpPr>
        <p:spPr>
          <a:xfrm>
            <a:off x="365760" y="6199632"/>
            <a:ext cx="11430000" cy="292608"/>
          </a:xfrm>
          <a:prstGeom prst="rect">
            <a:avLst/>
          </a:prstGeom>
          <a:noFill/>
        </p:spPr>
        <p:txBody>
          <a:bodyPr wrap="square" lIns="0" rIns="0" tIns="0" bIns="0" anchor="t"/>
          <a:lstStyle/>
          <a:p>
            <a:pPr algn="l"/>
            <a:r>
              <a:rPr sz="1200" b="0">
                <a:solidFill>
                  <a:srgbClr val="5E584F"/>
                </a:solidFill>
                <a:latin typeface="Calibri"/>
              </a:rPr>
              <a:t>Source (group access)  </a:t>
            </a:r>
            <a:r>
              <a:rPr sz="1200" b="1" u="sng">
                <a:solidFill>
                  <a:srgbClr val="0F5E5A"/>
                </a:solidFill>
                <a:latin typeface="Calibri"/>
                <a:hlinkClick r:id="rId3"/>
              </a:rPr>
              <a:t>docs/diagrams/usecase_spec_member_a.puml</a:t>
            </a:r>
          </a:p>
        </p:txBody>
      </p:sp>
      <p:sp>
        <p:nvSpPr>
          <p:cNvPr id="6" name="TextBox 5"/>
          <p:cNvSpPr txBox="1"/>
          <p:nvPr/>
        </p:nvSpPr>
        <p:spPr>
          <a:xfrm>
            <a:off x="411480" y="6510528"/>
            <a:ext cx="5486400" cy="256032"/>
          </a:xfrm>
          <a:prstGeom prst="rect">
            <a:avLst/>
          </a:prstGeom>
          <a:noFill/>
        </p:spPr>
        <p:txBody>
          <a:bodyPr wrap="square" lIns="0" rIns="0" t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rIns="0" tIns="0" bIns="0" anchor="t"/>
          <a:lstStyle/>
          <a:p>
            <a:pPr algn="r"/>
            <a:r>
              <a:rPr sz="1200" b="0">
                <a:solidFill>
                  <a:srgbClr val="5E584F"/>
                </a:solidFill>
                <a:latin typeface="Calibri"/>
              </a:rPr>
              <a:t>27 / 36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365760" y="164592"/>
            <a:ext cx="2011680" cy="256032"/>
          </a:xfrm>
          <a:prstGeom prst="rect">
            <a:avLst/>
          </a:prstGeom>
          <a:noFill/>
        </p:spPr>
        <p:txBody>
          <a:bodyPr wrap="square" lIns="0" rIns="0" tIns="0" bIns="0" anchor="t"/>
          <a:lstStyle/>
          <a:p>
            <a:pPr algn="l"/>
            <a:r>
              <a:rPr sz="1200" b="1">
                <a:solidFill>
                  <a:srgbClr val="0F5E5A"/>
                </a:solidFill>
                <a:latin typeface="Calibri"/>
              </a:rPr>
              <a:t>FIGURE 6B</a:t>
            </a:r>
          </a:p>
        </p:txBody>
      </p:sp>
      <p:sp>
        <p:nvSpPr>
          <p:cNvPr id="3" name="TextBox 2"/>
          <p:cNvSpPr txBox="1"/>
          <p:nvPr/>
        </p:nvSpPr>
        <p:spPr>
          <a:xfrm>
            <a:off x="2286000" y="128016"/>
            <a:ext cx="9509760" cy="329184"/>
          </a:xfrm>
          <a:prstGeom prst="rect">
            <a:avLst/>
          </a:prstGeom>
          <a:noFill/>
        </p:spPr>
        <p:txBody>
          <a:bodyPr wrap="square" lIns="0" rIns="0" tIns="0" bIns="0" anchor="t"/>
          <a:lstStyle/>
          <a:p>
            <a:pPr algn="l"/>
            <a:r>
              <a:rPr sz="1800" b="1">
                <a:solidFill>
                  <a:srgbClr val="1C1915"/>
                </a:solidFill>
                <a:latin typeface="Calibri"/>
              </a:rPr>
              <a:t>Use case specification — UC-04 to UC-06</a:t>
            </a:r>
          </a:p>
        </p:txBody>
      </p:sp>
      <p:pic>
        <p:nvPicPr>
          <p:cNvPr id="4" name="Picture 3" descr="usecase_spec_member_b.png"/>
          <p:cNvPicPr>
            <a:picLocks noChangeAspect="1"/>
          </p:cNvPicPr>
          <p:nvPr/>
        </p:nvPicPr>
        <p:blipFill>
          <a:blip r:embed="rId2"/>
          <a:stretch>
            <a:fillRect/>
          </a:stretch>
        </p:blipFill>
        <p:spPr>
          <a:xfrm>
            <a:off x="3170262" y="530352"/>
            <a:ext cx="5820995" cy="5623560"/>
          </a:xfrm>
          <a:prstGeom prst="rect">
            <a:avLst/>
          </a:prstGeom>
        </p:spPr>
      </p:pic>
      <p:sp>
        <p:nvSpPr>
          <p:cNvPr id="5" name="TextBox 4"/>
          <p:cNvSpPr txBox="1"/>
          <p:nvPr/>
        </p:nvSpPr>
        <p:spPr>
          <a:xfrm>
            <a:off x="365760" y="6199632"/>
            <a:ext cx="11430000" cy="292608"/>
          </a:xfrm>
          <a:prstGeom prst="rect">
            <a:avLst/>
          </a:prstGeom>
          <a:noFill/>
        </p:spPr>
        <p:txBody>
          <a:bodyPr wrap="square" lIns="0" rIns="0" tIns="0" bIns="0" anchor="t"/>
          <a:lstStyle/>
          <a:p>
            <a:pPr algn="l"/>
            <a:r>
              <a:rPr sz="1200" b="0">
                <a:solidFill>
                  <a:srgbClr val="5E584F"/>
                </a:solidFill>
                <a:latin typeface="Calibri"/>
              </a:rPr>
              <a:t>Source (group access)  </a:t>
            </a:r>
            <a:r>
              <a:rPr sz="1200" b="1" u="sng">
                <a:solidFill>
                  <a:srgbClr val="0F5E5A"/>
                </a:solidFill>
                <a:latin typeface="Calibri"/>
                <a:hlinkClick r:id="rId3"/>
              </a:rPr>
              <a:t>docs/diagrams/usecase_spec_member_b.puml</a:t>
            </a:r>
          </a:p>
        </p:txBody>
      </p:sp>
      <p:sp>
        <p:nvSpPr>
          <p:cNvPr id="6" name="TextBox 5"/>
          <p:cNvSpPr txBox="1"/>
          <p:nvPr/>
        </p:nvSpPr>
        <p:spPr>
          <a:xfrm>
            <a:off x="411480" y="6510528"/>
            <a:ext cx="5486400" cy="256032"/>
          </a:xfrm>
          <a:prstGeom prst="rect">
            <a:avLst/>
          </a:prstGeom>
          <a:noFill/>
        </p:spPr>
        <p:txBody>
          <a:bodyPr wrap="square" lIns="0" rIns="0" t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rIns="0" tIns="0" bIns="0" anchor="t"/>
          <a:lstStyle/>
          <a:p>
            <a:pPr algn="r"/>
            <a:r>
              <a:rPr sz="1200" b="0">
                <a:solidFill>
                  <a:srgbClr val="5E584F"/>
                </a:solidFill>
                <a:latin typeface="Calibri"/>
              </a:rPr>
              <a:t>28 / 36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365760" y="164592"/>
            <a:ext cx="2011680" cy="256032"/>
          </a:xfrm>
          <a:prstGeom prst="rect">
            <a:avLst/>
          </a:prstGeom>
          <a:noFill/>
        </p:spPr>
        <p:txBody>
          <a:bodyPr wrap="square" lIns="0" rIns="0" tIns="0" bIns="0" anchor="t"/>
          <a:lstStyle/>
          <a:p>
            <a:pPr algn="l"/>
            <a:r>
              <a:rPr sz="1200" b="1">
                <a:solidFill>
                  <a:srgbClr val="0F5E5A"/>
                </a:solidFill>
                <a:latin typeface="Calibri"/>
              </a:rPr>
              <a:t>FIGURE 6C</a:t>
            </a:r>
          </a:p>
        </p:txBody>
      </p:sp>
      <p:sp>
        <p:nvSpPr>
          <p:cNvPr id="3" name="TextBox 2"/>
          <p:cNvSpPr txBox="1"/>
          <p:nvPr/>
        </p:nvSpPr>
        <p:spPr>
          <a:xfrm>
            <a:off x="2286000" y="128016"/>
            <a:ext cx="9509760" cy="329184"/>
          </a:xfrm>
          <a:prstGeom prst="rect">
            <a:avLst/>
          </a:prstGeom>
          <a:noFill/>
        </p:spPr>
        <p:txBody>
          <a:bodyPr wrap="square" lIns="0" rIns="0" tIns="0" bIns="0" anchor="t"/>
          <a:lstStyle/>
          <a:p>
            <a:pPr algn="l"/>
            <a:r>
              <a:rPr sz="1800" b="1">
                <a:solidFill>
                  <a:srgbClr val="1C1915"/>
                </a:solidFill>
                <a:latin typeface="Calibri"/>
              </a:rPr>
              <a:t>Use case specification — UC-07 to UC-09</a:t>
            </a:r>
          </a:p>
        </p:txBody>
      </p:sp>
      <p:pic>
        <p:nvPicPr>
          <p:cNvPr id="4" name="Picture 3" descr="usecase_spec_member_c.png"/>
          <p:cNvPicPr>
            <a:picLocks noChangeAspect="1"/>
          </p:cNvPicPr>
          <p:nvPr/>
        </p:nvPicPr>
        <p:blipFill>
          <a:blip r:embed="rId2"/>
          <a:stretch>
            <a:fillRect/>
          </a:stretch>
        </p:blipFill>
        <p:spPr>
          <a:xfrm>
            <a:off x="3082992" y="530352"/>
            <a:ext cx="5995535" cy="5623560"/>
          </a:xfrm>
          <a:prstGeom prst="rect">
            <a:avLst/>
          </a:prstGeom>
        </p:spPr>
      </p:pic>
      <p:sp>
        <p:nvSpPr>
          <p:cNvPr id="5" name="TextBox 4"/>
          <p:cNvSpPr txBox="1"/>
          <p:nvPr/>
        </p:nvSpPr>
        <p:spPr>
          <a:xfrm>
            <a:off x="365760" y="6199632"/>
            <a:ext cx="11430000" cy="292608"/>
          </a:xfrm>
          <a:prstGeom prst="rect">
            <a:avLst/>
          </a:prstGeom>
          <a:noFill/>
        </p:spPr>
        <p:txBody>
          <a:bodyPr wrap="square" lIns="0" rIns="0" tIns="0" bIns="0" anchor="t"/>
          <a:lstStyle/>
          <a:p>
            <a:pPr algn="l"/>
            <a:r>
              <a:rPr sz="1200" b="0">
                <a:solidFill>
                  <a:srgbClr val="5E584F"/>
                </a:solidFill>
                <a:latin typeface="Calibri"/>
              </a:rPr>
              <a:t>Source (group access)  </a:t>
            </a:r>
            <a:r>
              <a:rPr sz="1200" b="1" u="sng">
                <a:solidFill>
                  <a:srgbClr val="0F5E5A"/>
                </a:solidFill>
                <a:latin typeface="Calibri"/>
                <a:hlinkClick r:id="rId3"/>
              </a:rPr>
              <a:t>docs/diagrams/usecase_spec_member_c.puml</a:t>
            </a:r>
          </a:p>
        </p:txBody>
      </p:sp>
      <p:sp>
        <p:nvSpPr>
          <p:cNvPr id="6" name="TextBox 5"/>
          <p:cNvSpPr txBox="1"/>
          <p:nvPr/>
        </p:nvSpPr>
        <p:spPr>
          <a:xfrm>
            <a:off x="411480" y="6510528"/>
            <a:ext cx="5486400" cy="256032"/>
          </a:xfrm>
          <a:prstGeom prst="rect">
            <a:avLst/>
          </a:prstGeom>
          <a:noFill/>
        </p:spPr>
        <p:txBody>
          <a:bodyPr wrap="square" lIns="0" rIns="0" t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rIns="0" tIns="0" bIns="0" anchor="t"/>
          <a:lstStyle/>
          <a:p>
            <a:pPr algn="r"/>
            <a:r>
              <a:rPr sz="1200" b="0">
                <a:solidFill>
                  <a:srgbClr val="5E584F"/>
                </a:solidFill>
                <a:latin typeface="Calibri"/>
              </a:rPr>
              <a:t>29 / 36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365760" y="164592"/>
            <a:ext cx="2011680" cy="256032"/>
          </a:xfrm>
          <a:prstGeom prst="rect">
            <a:avLst/>
          </a:prstGeom>
          <a:noFill/>
        </p:spPr>
        <p:txBody>
          <a:bodyPr wrap="square" lIns="0" rIns="0" tIns="0" bIns="0" anchor="t"/>
          <a:lstStyle/>
          <a:p>
            <a:pPr algn="l"/>
            <a:r>
              <a:rPr sz="1200" b="1">
                <a:solidFill>
                  <a:srgbClr val="0F5E5A"/>
                </a:solidFill>
                <a:latin typeface="Calibri"/>
              </a:rPr>
              <a:t>FIGURE 7</a:t>
            </a:r>
          </a:p>
        </p:txBody>
      </p:sp>
      <p:sp>
        <p:nvSpPr>
          <p:cNvPr id="3" name="TextBox 2"/>
          <p:cNvSpPr txBox="1"/>
          <p:nvPr/>
        </p:nvSpPr>
        <p:spPr>
          <a:xfrm>
            <a:off x="2286000" y="128016"/>
            <a:ext cx="9509760" cy="329184"/>
          </a:xfrm>
          <a:prstGeom prst="rect">
            <a:avLst/>
          </a:prstGeom>
          <a:noFill/>
        </p:spPr>
        <p:txBody>
          <a:bodyPr wrap="square" lIns="0" rIns="0" tIns="0" bIns="0" anchor="t"/>
          <a:lstStyle/>
          <a:p>
            <a:pPr algn="l"/>
            <a:r>
              <a:rPr sz="1800" b="1">
                <a:solidFill>
                  <a:srgbClr val="1C1915"/>
                </a:solidFill>
                <a:latin typeface="Calibri"/>
              </a:rPr>
              <a:t>Requirements — mandatory and optional</a:t>
            </a:r>
          </a:p>
        </p:txBody>
      </p:sp>
      <p:pic>
        <p:nvPicPr>
          <p:cNvPr id="4" name="Picture 3" descr="requirements.png"/>
          <p:cNvPicPr>
            <a:picLocks noChangeAspect="1"/>
          </p:cNvPicPr>
          <p:nvPr/>
        </p:nvPicPr>
        <p:blipFill>
          <a:blip r:embed="rId2"/>
          <a:stretch>
            <a:fillRect/>
          </a:stretch>
        </p:blipFill>
        <p:spPr>
          <a:xfrm>
            <a:off x="320040" y="1662160"/>
            <a:ext cx="11521440" cy="3359943"/>
          </a:xfrm>
          <a:prstGeom prst="rect">
            <a:avLst/>
          </a:prstGeom>
        </p:spPr>
      </p:pic>
      <p:sp>
        <p:nvSpPr>
          <p:cNvPr id="5" name="TextBox 4"/>
          <p:cNvSpPr txBox="1"/>
          <p:nvPr/>
        </p:nvSpPr>
        <p:spPr>
          <a:xfrm>
            <a:off x="365760" y="6199632"/>
            <a:ext cx="11430000" cy="292608"/>
          </a:xfrm>
          <a:prstGeom prst="rect">
            <a:avLst/>
          </a:prstGeom>
          <a:noFill/>
        </p:spPr>
        <p:txBody>
          <a:bodyPr wrap="square" lIns="0" rIns="0" tIns="0" bIns="0" anchor="t"/>
          <a:lstStyle/>
          <a:p>
            <a:pPr algn="l"/>
            <a:r>
              <a:rPr sz="1200" b="0">
                <a:solidFill>
                  <a:srgbClr val="5E584F"/>
                </a:solidFill>
                <a:latin typeface="Calibri"/>
              </a:rPr>
              <a:t>Source (group access)  </a:t>
            </a:r>
            <a:r>
              <a:rPr sz="1200" b="1" u="sng">
                <a:solidFill>
                  <a:srgbClr val="0F5E5A"/>
                </a:solidFill>
                <a:latin typeface="Calibri"/>
                <a:hlinkClick r:id="rId3"/>
              </a:rPr>
              <a:t>docs/diagrams/requirements.puml</a:t>
            </a:r>
          </a:p>
        </p:txBody>
      </p:sp>
      <p:sp>
        <p:nvSpPr>
          <p:cNvPr id="6" name="TextBox 5"/>
          <p:cNvSpPr txBox="1"/>
          <p:nvPr/>
        </p:nvSpPr>
        <p:spPr>
          <a:xfrm>
            <a:off x="411480" y="6510528"/>
            <a:ext cx="5486400" cy="256032"/>
          </a:xfrm>
          <a:prstGeom prst="rect">
            <a:avLst/>
          </a:prstGeom>
          <a:noFill/>
        </p:spPr>
        <p:txBody>
          <a:bodyPr wrap="square" lIns="0" rIns="0" t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rIns="0" tIns="0" bIns="0" anchor="t"/>
          <a:lstStyle/>
          <a:p>
            <a:pPr algn="r"/>
            <a:r>
              <a:rPr sz="1200" b="0">
                <a:solidFill>
                  <a:srgbClr val="5E584F"/>
                </a:solidFill>
                <a:latin typeface="Calibri"/>
              </a:rPr>
              <a:t>30 / 36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365760" y="164592"/>
            <a:ext cx="2011680" cy="256032"/>
          </a:xfrm>
          <a:prstGeom prst="rect">
            <a:avLst/>
          </a:prstGeom>
          <a:noFill/>
        </p:spPr>
        <p:txBody>
          <a:bodyPr wrap="square" lIns="0" rIns="0" tIns="0" bIns="0" anchor="t"/>
          <a:lstStyle/>
          <a:p>
            <a:pPr algn="l"/>
            <a:r>
              <a:rPr sz="1200" b="1">
                <a:solidFill>
                  <a:srgbClr val="0F5E5A"/>
                </a:solidFill>
                <a:latin typeface="Calibri"/>
              </a:rPr>
              <a:t>FIGURE 7A</a:t>
            </a:r>
          </a:p>
        </p:txBody>
      </p:sp>
      <p:sp>
        <p:nvSpPr>
          <p:cNvPr id="3" name="TextBox 2"/>
          <p:cNvSpPr txBox="1"/>
          <p:nvPr/>
        </p:nvSpPr>
        <p:spPr>
          <a:xfrm>
            <a:off x="2286000" y="128016"/>
            <a:ext cx="9509760" cy="329184"/>
          </a:xfrm>
          <a:prstGeom prst="rect">
            <a:avLst/>
          </a:prstGeom>
          <a:noFill/>
        </p:spPr>
        <p:txBody>
          <a:bodyPr wrap="square" lIns="0" rIns="0" tIns="0" bIns="0" anchor="t"/>
          <a:lstStyle/>
          <a:p>
            <a:pPr algn="l"/>
            <a:r>
              <a:rPr sz="1800" b="1">
                <a:solidFill>
                  <a:srgbClr val="1C1915"/>
                </a:solidFill>
                <a:latin typeface="Calibri"/>
              </a:rPr>
              <a:t>Requirements — execution and evidence</a:t>
            </a:r>
          </a:p>
        </p:txBody>
      </p:sp>
      <p:pic>
        <p:nvPicPr>
          <p:cNvPr id="4" name="Picture 3" descr="requirements_member_a.png"/>
          <p:cNvPicPr>
            <a:picLocks noChangeAspect="1"/>
          </p:cNvPicPr>
          <p:nvPr/>
        </p:nvPicPr>
        <p:blipFill>
          <a:blip r:embed="rId2"/>
          <a:stretch>
            <a:fillRect/>
          </a:stretch>
        </p:blipFill>
        <p:spPr>
          <a:xfrm>
            <a:off x="320040" y="1209174"/>
            <a:ext cx="11521440" cy="4265915"/>
          </a:xfrm>
          <a:prstGeom prst="rect">
            <a:avLst/>
          </a:prstGeom>
        </p:spPr>
      </p:pic>
      <p:sp>
        <p:nvSpPr>
          <p:cNvPr id="5" name="TextBox 4"/>
          <p:cNvSpPr txBox="1"/>
          <p:nvPr/>
        </p:nvSpPr>
        <p:spPr>
          <a:xfrm>
            <a:off x="365760" y="6199632"/>
            <a:ext cx="11430000" cy="292608"/>
          </a:xfrm>
          <a:prstGeom prst="rect">
            <a:avLst/>
          </a:prstGeom>
          <a:noFill/>
        </p:spPr>
        <p:txBody>
          <a:bodyPr wrap="square" lIns="0" rIns="0" tIns="0" bIns="0" anchor="t"/>
          <a:lstStyle/>
          <a:p>
            <a:pPr algn="l"/>
            <a:r>
              <a:rPr sz="1200" b="0">
                <a:solidFill>
                  <a:srgbClr val="5E584F"/>
                </a:solidFill>
                <a:latin typeface="Calibri"/>
              </a:rPr>
              <a:t>Source (group access)  </a:t>
            </a:r>
            <a:r>
              <a:rPr sz="1200" b="1" u="sng">
                <a:solidFill>
                  <a:srgbClr val="0F5E5A"/>
                </a:solidFill>
                <a:latin typeface="Calibri"/>
                <a:hlinkClick r:id="rId3"/>
              </a:rPr>
              <a:t>docs/diagrams/requirements_member_a.puml</a:t>
            </a:r>
          </a:p>
        </p:txBody>
      </p:sp>
      <p:sp>
        <p:nvSpPr>
          <p:cNvPr id="6" name="TextBox 5"/>
          <p:cNvSpPr txBox="1"/>
          <p:nvPr/>
        </p:nvSpPr>
        <p:spPr>
          <a:xfrm>
            <a:off x="411480" y="6510528"/>
            <a:ext cx="5486400" cy="256032"/>
          </a:xfrm>
          <a:prstGeom prst="rect">
            <a:avLst/>
          </a:prstGeom>
          <a:noFill/>
        </p:spPr>
        <p:txBody>
          <a:bodyPr wrap="square" lIns="0" rIns="0" t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rIns="0" tIns="0" bIns="0" anchor="t"/>
          <a:lstStyle/>
          <a:p>
            <a:pPr algn="r"/>
            <a:r>
              <a:rPr sz="1200" b="0">
                <a:solidFill>
                  <a:srgbClr val="5E584F"/>
                </a:solidFill>
                <a:latin typeface="Calibri"/>
              </a:rPr>
              <a:t>31 / 36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365760" y="164592"/>
            <a:ext cx="2011680" cy="256032"/>
          </a:xfrm>
          <a:prstGeom prst="rect">
            <a:avLst/>
          </a:prstGeom>
          <a:noFill/>
        </p:spPr>
        <p:txBody>
          <a:bodyPr wrap="square" lIns="0" rIns="0" tIns="0" bIns="0" anchor="t"/>
          <a:lstStyle/>
          <a:p>
            <a:pPr algn="l"/>
            <a:r>
              <a:rPr sz="1200" b="1">
                <a:solidFill>
                  <a:srgbClr val="0F5E5A"/>
                </a:solidFill>
                <a:latin typeface="Calibri"/>
              </a:rPr>
              <a:t>FIGURE 7B</a:t>
            </a:r>
          </a:p>
        </p:txBody>
      </p:sp>
      <p:sp>
        <p:nvSpPr>
          <p:cNvPr id="3" name="TextBox 2"/>
          <p:cNvSpPr txBox="1"/>
          <p:nvPr/>
        </p:nvSpPr>
        <p:spPr>
          <a:xfrm>
            <a:off x="2286000" y="128016"/>
            <a:ext cx="9509760" cy="329184"/>
          </a:xfrm>
          <a:prstGeom prst="rect">
            <a:avLst/>
          </a:prstGeom>
          <a:noFill/>
        </p:spPr>
        <p:txBody>
          <a:bodyPr wrap="square" lIns="0" rIns="0" tIns="0" bIns="0" anchor="t"/>
          <a:lstStyle/>
          <a:p>
            <a:pPr algn="l"/>
            <a:r>
              <a:rPr sz="1800" b="1">
                <a:solidFill>
                  <a:srgbClr val="1C1915"/>
                </a:solidFill>
                <a:latin typeface="Calibri"/>
              </a:rPr>
              <a:t>Requirements — human judgement and interaction</a:t>
            </a:r>
          </a:p>
        </p:txBody>
      </p:sp>
      <p:pic>
        <p:nvPicPr>
          <p:cNvPr id="4" name="Picture 3" descr="requirements_member_b.png"/>
          <p:cNvPicPr>
            <a:picLocks noChangeAspect="1"/>
          </p:cNvPicPr>
          <p:nvPr/>
        </p:nvPicPr>
        <p:blipFill>
          <a:blip r:embed="rId2"/>
          <a:stretch>
            <a:fillRect/>
          </a:stretch>
        </p:blipFill>
        <p:spPr>
          <a:xfrm>
            <a:off x="320040" y="1576764"/>
            <a:ext cx="11521440" cy="3530735"/>
          </a:xfrm>
          <a:prstGeom prst="rect">
            <a:avLst/>
          </a:prstGeom>
        </p:spPr>
      </p:pic>
      <p:sp>
        <p:nvSpPr>
          <p:cNvPr id="5" name="TextBox 4"/>
          <p:cNvSpPr txBox="1"/>
          <p:nvPr/>
        </p:nvSpPr>
        <p:spPr>
          <a:xfrm>
            <a:off x="365760" y="6199632"/>
            <a:ext cx="11430000" cy="292608"/>
          </a:xfrm>
          <a:prstGeom prst="rect">
            <a:avLst/>
          </a:prstGeom>
          <a:noFill/>
        </p:spPr>
        <p:txBody>
          <a:bodyPr wrap="square" lIns="0" rIns="0" tIns="0" bIns="0" anchor="t"/>
          <a:lstStyle/>
          <a:p>
            <a:pPr algn="l"/>
            <a:r>
              <a:rPr sz="1200" b="0">
                <a:solidFill>
                  <a:srgbClr val="5E584F"/>
                </a:solidFill>
                <a:latin typeface="Calibri"/>
              </a:rPr>
              <a:t>Source (group access)  </a:t>
            </a:r>
            <a:r>
              <a:rPr sz="1200" b="1" u="sng">
                <a:solidFill>
                  <a:srgbClr val="0F5E5A"/>
                </a:solidFill>
                <a:latin typeface="Calibri"/>
                <a:hlinkClick r:id="rId3"/>
              </a:rPr>
              <a:t>docs/diagrams/requirements_member_b.puml</a:t>
            </a:r>
          </a:p>
        </p:txBody>
      </p:sp>
      <p:sp>
        <p:nvSpPr>
          <p:cNvPr id="6" name="TextBox 5"/>
          <p:cNvSpPr txBox="1"/>
          <p:nvPr/>
        </p:nvSpPr>
        <p:spPr>
          <a:xfrm>
            <a:off x="411480" y="6510528"/>
            <a:ext cx="5486400" cy="256032"/>
          </a:xfrm>
          <a:prstGeom prst="rect">
            <a:avLst/>
          </a:prstGeom>
          <a:noFill/>
        </p:spPr>
        <p:txBody>
          <a:bodyPr wrap="square" lIns="0" rIns="0" t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rIns="0" tIns="0" bIns="0" anchor="t"/>
          <a:lstStyle/>
          <a:p>
            <a:pPr algn="r"/>
            <a:r>
              <a:rPr sz="1200" b="0">
                <a:solidFill>
                  <a:srgbClr val="5E584F"/>
                </a:solidFill>
                <a:latin typeface="Calibri"/>
              </a:rPr>
              <a:t>32 / 36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365760" y="164592"/>
            <a:ext cx="2011680" cy="256032"/>
          </a:xfrm>
          <a:prstGeom prst="rect">
            <a:avLst/>
          </a:prstGeom>
          <a:noFill/>
        </p:spPr>
        <p:txBody>
          <a:bodyPr wrap="square" lIns="0" rIns="0" tIns="0" bIns="0" anchor="t"/>
          <a:lstStyle/>
          <a:p>
            <a:pPr algn="l"/>
            <a:r>
              <a:rPr sz="1200" b="1">
                <a:solidFill>
                  <a:srgbClr val="0F5E5A"/>
                </a:solidFill>
                <a:latin typeface="Calibri"/>
              </a:rPr>
              <a:t>FIGURE 7C</a:t>
            </a:r>
          </a:p>
        </p:txBody>
      </p:sp>
      <p:sp>
        <p:nvSpPr>
          <p:cNvPr id="3" name="TextBox 2"/>
          <p:cNvSpPr txBox="1"/>
          <p:nvPr/>
        </p:nvSpPr>
        <p:spPr>
          <a:xfrm>
            <a:off x="2286000" y="128016"/>
            <a:ext cx="9509760" cy="329184"/>
          </a:xfrm>
          <a:prstGeom prst="rect">
            <a:avLst/>
          </a:prstGeom>
          <a:noFill/>
        </p:spPr>
        <p:txBody>
          <a:bodyPr wrap="square" lIns="0" rIns="0" tIns="0" bIns="0" anchor="t"/>
          <a:lstStyle/>
          <a:p>
            <a:pPr algn="l"/>
            <a:r>
              <a:rPr sz="1800" b="1">
                <a:solidFill>
                  <a:srgbClr val="1C1915"/>
                </a:solidFill>
                <a:latin typeface="Calibri"/>
              </a:rPr>
              <a:t>Requirements — statutory obligations</a:t>
            </a:r>
          </a:p>
        </p:txBody>
      </p:sp>
      <p:pic>
        <p:nvPicPr>
          <p:cNvPr id="4" name="Picture 3" descr="requirements_member_c.png"/>
          <p:cNvPicPr>
            <a:picLocks noChangeAspect="1"/>
          </p:cNvPicPr>
          <p:nvPr/>
        </p:nvPicPr>
        <p:blipFill>
          <a:blip r:embed="rId2"/>
          <a:stretch>
            <a:fillRect/>
          </a:stretch>
        </p:blipFill>
        <p:spPr>
          <a:xfrm>
            <a:off x="320040" y="1174273"/>
            <a:ext cx="11521440" cy="4335718"/>
          </a:xfrm>
          <a:prstGeom prst="rect">
            <a:avLst/>
          </a:prstGeom>
        </p:spPr>
      </p:pic>
      <p:sp>
        <p:nvSpPr>
          <p:cNvPr id="5" name="TextBox 4"/>
          <p:cNvSpPr txBox="1"/>
          <p:nvPr/>
        </p:nvSpPr>
        <p:spPr>
          <a:xfrm>
            <a:off x="365760" y="6199632"/>
            <a:ext cx="11430000" cy="292608"/>
          </a:xfrm>
          <a:prstGeom prst="rect">
            <a:avLst/>
          </a:prstGeom>
          <a:noFill/>
        </p:spPr>
        <p:txBody>
          <a:bodyPr wrap="square" lIns="0" rIns="0" tIns="0" bIns="0" anchor="t"/>
          <a:lstStyle/>
          <a:p>
            <a:pPr algn="l"/>
            <a:r>
              <a:rPr sz="1200" b="0">
                <a:solidFill>
                  <a:srgbClr val="5E584F"/>
                </a:solidFill>
                <a:latin typeface="Calibri"/>
              </a:rPr>
              <a:t>Source (group access)  </a:t>
            </a:r>
            <a:r>
              <a:rPr sz="1200" b="1" u="sng">
                <a:solidFill>
                  <a:srgbClr val="0F5E5A"/>
                </a:solidFill>
                <a:latin typeface="Calibri"/>
                <a:hlinkClick r:id="rId3"/>
              </a:rPr>
              <a:t>docs/diagrams/requirements_member_c.puml</a:t>
            </a:r>
          </a:p>
        </p:txBody>
      </p:sp>
      <p:sp>
        <p:nvSpPr>
          <p:cNvPr id="6" name="TextBox 5"/>
          <p:cNvSpPr txBox="1"/>
          <p:nvPr/>
        </p:nvSpPr>
        <p:spPr>
          <a:xfrm>
            <a:off x="411480" y="6510528"/>
            <a:ext cx="5486400" cy="256032"/>
          </a:xfrm>
          <a:prstGeom prst="rect">
            <a:avLst/>
          </a:prstGeom>
          <a:noFill/>
        </p:spPr>
        <p:txBody>
          <a:bodyPr wrap="square" lIns="0" rIns="0" t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rIns="0" tIns="0" bIns="0" anchor="t"/>
          <a:lstStyle/>
          <a:p>
            <a:pPr algn="r"/>
            <a:r>
              <a:rPr sz="1200" b="0">
                <a:solidFill>
                  <a:srgbClr val="5E584F"/>
                </a:solidFill>
                <a:latin typeface="Calibri"/>
              </a:rPr>
              <a:t>33 / 36</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365760" y="164592"/>
            <a:ext cx="2011680" cy="256032"/>
          </a:xfrm>
          <a:prstGeom prst="rect">
            <a:avLst/>
          </a:prstGeom>
          <a:noFill/>
        </p:spPr>
        <p:txBody>
          <a:bodyPr wrap="square" lIns="0" rIns="0" tIns="0" bIns="0" anchor="t"/>
          <a:lstStyle/>
          <a:p>
            <a:pPr algn="l"/>
            <a:r>
              <a:rPr sz="1200" b="1">
                <a:solidFill>
                  <a:srgbClr val="0F5E5A"/>
                </a:solidFill>
                <a:latin typeface="Calibri"/>
              </a:rPr>
              <a:t>FIGURE 8</a:t>
            </a:r>
          </a:p>
        </p:txBody>
      </p:sp>
      <p:sp>
        <p:nvSpPr>
          <p:cNvPr id="3" name="TextBox 2"/>
          <p:cNvSpPr txBox="1"/>
          <p:nvPr/>
        </p:nvSpPr>
        <p:spPr>
          <a:xfrm>
            <a:off x="2286000" y="128016"/>
            <a:ext cx="9509760" cy="329184"/>
          </a:xfrm>
          <a:prstGeom prst="rect">
            <a:avLst/>
          </a:prstGeom>
          <a:noFill/>
        </p:spPr>
        <p:txBody>
          <a:bodyPr wrap="square" lIns="0" rIns="0" tIns="0" bIns="0" anchor="t"/>
          <a:lstStyle/>
          <a:p>
            <a:pPr algn="l"/>
            <a:r>
              <a:rPr sz="1800" b="1">
                <a:solidFill>
                  <a:srgbClr val="1C1915"/>
                </a:solidFill>
                <a:latin typeface="Calibri"/>
              </a:rPr>
              <a:t>Feature diagram — audit support system</a:t>
            </a:r>
          </a:p>
        </p:txBody>
      </p:sp>
      <p:pic>
        <p:nvPicPr>
          <p:cNvPr id="4" name="Picture 3" descr="feature.png"/>
          <p:cNvPicPr>
            <a:picLocks noChangeAspect="1"/>
          </p:cNvPicPr>
          <p:nvPr/>
        </p:nvPicPr>
        <p:blipFill>
          <a:blip r:embed="rId2"/>
          <a:stretch>
            <a:fillRect/>
          </a:stretch>
        </p:blipFill>
        <p:spPr>
          <a:xfrm>
            <a:off x="320040" y="1810466"/>
            <a:ext cx="11521440" cy="3063332"/>
          </a:xfrm>
          <a:prstGeom prst="rect">
            <a:avLst/>
          </a:prstGeom>
        </p:spPr>
      </p:pic>
      <p:sp>
        <p:nvSpPr>
          <p:cNvPr id="5" name="TextBox 4"/>
          <p:cNvSpPr txBox="1"/>
          <p:nvPr/>
        </p:nvSpPr>
        <p:spPr>
          <a:xfrm>
            <a:off x="365760" y="6199632"/>
            <a:ext cx="11430000" cy="292608"/>
          </a:xfrm>
          <a:prstGeom prst="rect">
            <a:avLst/>
          </a:prstGeom>
          <a:noFill/>
        </p:spPr>
        <p:txBody>
          <a:bodyPr wrap="square" lIns="0" rIns="0" tIns="0" bIns="0" anchor="t"/>
          <a:lstStyle/>
          <a:p>
            <a:pPr algn="l"/>
            <a:r>
              <a:rPr sz="1200" b="0">
                <a:solidFill>
                  <a:srgbClr val="5E584F"/>
                </a:solidFill>
                <a:latin typeface="Calibri"/>
              </a:rPr>
              <a:t>Source (group access)  </a:t>
            </a:r>
            <a:r>
              <a:rPr sz="1200" b="1" u="sng">
                <a:solidFill>
                  <a:srgbClr val="0F5E5A"/>
                </a:solidFill>
                <a:latin typeface="Calibri"/>
                <a:hlinkClick r:id="rId3"/>
              </a:rPr>
              <a:t>docs/diagrams/feature.puml</a:t>
            </a:r>
          </a:p>
        </p:txBody>
      </p:sp>
      <p:sp>
        <p:nvSpPr>
          <p:cNvPr id="6" name="TextBox 5"/>
          <p:cNvSpPr txBox="1"/>
          <p:nvPr/>
        </p:nvSpPr>
        <p:spPr>
          <a:xfrm>
            <a:off x="411480" y="6510528"/>
            <a:ext cx="5486400" cy="256032"/>
          </a:xfrm>
          <a:prstGeom prst="rect">
            <a:avLst/>
          </a:prstGeom>
          <a:noFill/>
        </p:spPr>
        <p:txBody>
          <a:bodyPr wrap="square" lIns="0" rIns="0" t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rIns="0" tIns="0" bIns="0" anchor="t"/>
          <a:lstStyle/>
          <a:p>
            <a:pPr algn="r"/>
            <a:r>
              <a:rPr sz="1200" b="0">
                <a:solidFill>
                  <a:srgbClr val="5E584F"/>
                </a:solidFill>
                <a:latin typeface="Calibri"/>
              </a:rPr>
              <a:t>34 / 36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365760" y="164592"/>
            <a:ext cx="2011680" cy="256032"/>
          </a:xfrm>
          <a:prstGeom prst="rect">
            <a:avLst/>
          </a:prstGeom>
          <a:noFill/>
        </p:spPr>
        <p:txBody>
          <a:bodyPr wrap="square" lIns="0" rIns="0" tIns="0" bIns="0" anchor="t"/>
          <a:lstStyle/>
          <a:p>
            <a:pPr algn="l"/>
            <a:r>
              <a:rPr sz="1200" b="1">
                <a:solidFill>
                  <a:srgbClr val="0F5E5A"/>
                </a:solidFill>
                <a:latin typeface="Calibri"/>
              </a:rPr>
              <a:t>FIGURE 9</a:t>
            </a:r>
          </a:p>
        </p:txBody>
      </p:sp>
      <p:sp>
        <p:nvSpPr>
          <p:cNvPr id="3" name="TextBox 2"/>
          <p:cNvSpPr txBox="1"/>
          <p:nvPr/>
        </p:nvSpPr>
        <p:spPr>
          <a:xfrm>
            <a:off x="2286000" y="128016"/>
            <a:ext cx="9509760" cy="329184"/>
          </a:xfrm>
          <a:prstGeom prst="rect">
            <a:avLst/>
          </a:prstGeom>
          <a:noFill/>
        </p:spPr>
        <p:txBody>
          <a:bodyPr wrap="square" lIns="0" rIns="0" tIns="0" bIns="0" anchor="t"/>
          <a:lstStyle/>
          <a:p>
            <a:pPr algn="l"/>
            <a:r>
              <a:rPr sz="1800" b="1">
                <a:solidFill>
                  <a:srgbClr val="1C1915"/>
                </a:solidFill>
                <a:latin typeface="Calibri"/>
              </a:rPr>
              <a:t>Structured class — A1 Orchestrator</a:t>
            </a:r>
          </a:p>
        </p:txBody>
      </p:sp>
      <p:pic>
        <p:nvPicPr>
          <p:cNvPr id="4" name="Picture 3" descr="structured_class_a1.png"/>
          <p:cNvPicPr>
            <a:picLocks noChangeAspect="1"/>
          </p:cNvPicPr>
          <p:nvPr/>
        </p:nvPicPr>
        <p:blipFill>
          <a:blip r:embed="rId2"/>
          <a:stretch>
            <a:fillRect/>
          </a:stretch>
        </p:blipFill>
        <p:spPr>
          <a:xfrm>
            <a:off x="3139995" y="530352"/>
            <a:ext cx="5881530" cy="5623560"/>
          </a:xfrm>
          <a:prstGeom prst="rect">
            <a:avLst/>
          </a:prstGeom>
        </p:spPr>
      </p:pic>
      <p:sp>
        <p:nvSpPr>
          <p:cNvPr id="5" name="TextBox 4"/>
          <p:cNvSpPr txBox="1"/>
          <p:nvPr/>
        </p:nvSpPr>
        <p:spPr>
          <a:xfrm>
            <a:off x="365760" y="6199632"/>
            <a:ext cx="11430000" cy="292608"/>
          </a:xfrm>
          <a:prstGeom prst="rect">
            <a:avLst/>
          </a:prstGeom>
          <a:noFill/>
        </p:spPr>
        <p:txBody>
          <a:bodyPr wrap="square" lIns="0" rIns="0" tIns="0" bIns="0" anchor="t"/>
          <a:lstStyle/>
          <a:p>
            <a:pPr algn="l"/>
            <a:r>
              <a:rPr sz="1200" b="0">
                <a:solidFill>
                  <a:srgbClr val="5E584F"/>
                </a:solidFill>
                <a:latin typeface="Calibri"/>
              </a:rPr>
              <a:t>Source (group access)  </a:t>
            </a:r>
            <a:r>
              <a:rPr sz="1200" b="1" u="sng">
                <a:solidFill>
                  <a:srgbClr val="0F5E5A"/>
                </a:solidFill>
                <a:latin typeface="Calibri"/>
                <a:hlinkClick r:id="rId3"/>
              </a:rPr>
              <a:t>docs/diagrams/structured_class_a1.puml</a:t>
            </a:r>
          </a:p>
        </p:txBody>
      </p:sp>
      <p:sp>
        <p:nvSpPr>
          <p:cNvPr id="6" name="TextBox 5"/>
          <p:cNvSpPr txBox="1"/>
          <p:nvPr/>
        </p:nvSpPr>
        <p:spPr>
          <a:xfrm>
            <a:off x="411480" y="6510528"/>
            <a:ext cx="5486400" cy="256032"/>
          </a:xfrm>
          <a:prstGeom prst="rect">
            <a:avLst/>
          </a:prstGeom>
          <a:noFill/>
        </p:spPr>
        <p:txBody>
          <a:bodyPr wrap="square" lIns="0" rIns="0" t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rIns="0" tIns="0" bIns="0" anchor="t"/>
          <a:lstStyle/>
          <a:p>
            <a:pPr algn="r"/>
            <a:r>
              <a:rPr sz="1200" b="0">
                <a:solidFill>
                  <a:srgbClr val="5E584F"/>
                </a:solidFill>
                <a:latin typeface="Calibri"/>
              </a:rPr>
              <a:t>35 / 36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365760" y="164592"/>
            <a:ext cx="2011680" cy="256032"/>
          </a:xfrm>
          <a:prstGeom prst="rect">
            <a:avLst/>
          </a:prstGeom>
          <a:noFill/>
        </p:spPr>
        <p:txBody>
          <a:bodyPr wrap="square" lIns="0" rIns="0" tIns="0" bIns="0" anchor="t"/>
          <a:lstStyle/>
          <a:p>
            <a:pPr algn="l"/>
            <a:r>
              <a:rPr sz="1200" b="1">
                <a:solidFill>
                  <a:srgbClr val="0F5E5A"/>
                </a:solidFill>
                <a:latin typeface="Calibri"/>
              </a:rPr>
              <a:t>FIGURE 10</a:t>
            </a:r>
          </a:p>
        </p:txBody>
      </p:sp>
      <p:sp>
        <p:nvSpPr>
          <p:cNvPr id="3" name="TextBox 2"/>
          <p:cNvSpPr txBox="1"/>
          <p:nvPr/>
        </p:nvSpPr>
        <p:spPr>
          <a:xfrm>
            <a:off x="2286000" y="128016"/>
            <a:ext cx="9509760" cy="329184"/>
          </a:xfrm>
          <a:prstGeom prst="rect">
            <a:avLst/>
          </a:prstGeom>
          <a:noFill/>
        </p:spPr>
        <p:txBody>
          <a:bodyPr wrap="square" lIns="0" rIns="0" tIns="0" bIns="0" anchor="t"/>
          <a:lstStyle/>
          <a:p>
            <a:pPr algn="l"/>
            <a:r>
              <a:rPr sz="1800" b="1">
                <a:solidFill>
                  <a:srgbClr val="1C1915"/>
                </a:solidFill>
                <a:latin typeface="Calibri"/>
              </a:rPr>
              <a:t>Collaboration — one exception review</a:t>
            </a:r>
          </a:p>
        </p:txBody>
      </p:sp>
      <p:pic>
        <p:nvPicPr>
          <p:cNvPr id="4" name="Picture 3" descr="collaboration_review.png"/>
          <p:cNvPicPr>
            <a:picLocks noChangeAspect="1"/>
          </p:cNvPicPr>
          <p:nvPr/>
        </p:nvPicPr>
        <p:blipFill>
          <a:blip r:embed="rId2"/>
          <a:stretch>
            <a:fillRect/>
          </a:stretch>
        </p:blipFill>
        <p:spPr>
          <a:xfrm>
            <a:off x="320040" y="772925"/>
            <a:ext cx="11521440" cy="5138413"/>
          </a:xfrm>
          <a:prstGeom prst="rect">
            <a:avLst/>
          </a:prstGeom>
        </p:spPr>
      </p:pic>
      <p:sp>
        <p:nvSpPr>
          <p:cNvPr id="5" name="TextBox 4"/>
          <p:cNvSpPr txBox="1"/>
          <p:nvPr/>
        </p:nvSpPr>
        <p:spPr>
          <a:xfrm>
            <a:off x="365760" y="6199632"/>
            <a:ext cx="11430000" cy="292608"/>
          </a:xfrm>
          <a:prstGeom prst="rect">
            <a:avLst/>
          </a:prstGeom>
          <a:noFill/>
        </p:spPr>
        <p:txBody>
          <a:bodyPr wrap="square" lIns="0" rIns="0" tIns="0" bIns="0" anchor="t"/>
          <a:lstStyle/>
          <a:p>
            <a:pPr algn="l"/>
            <a:r>
              <a:rPr sz="1200" b="0">
                <a:solidFill>
                  <a:srgbClr val="5E584F"/>
                </a:solidFill>
                <a:latin typeface="Calibri"/>
              </a:rPr>
              <a:t>Source (group access)  </a:t>
            </a:r>
            <a:r>
              <a:rPr sz="1200" b="1" u="sng">
                <a:solidFill>
                  <a:srgbClr val="0F5E5A"/>
                </a:solidFill>
                <a:latin typeface="Calibri"/>
                <a:hlinkClick r:id="rId3"/>
              </a:rPr>
              <a:t>docs/diagrams/collaboration_review.puml</a:t>
            </a:r>
          </a:p>
        </p:txBody>
      </p:sp>
      <p:sp>
        <p:nvSpPr>
          <p:cNvPr id="6" name="TextBox 5"/>
          <p:cNvSpPr txBox="1"/>
          <p:nvPr/>
        </p:nvSpPr>
        <p:spPr>
          <a:xfrm>
            <a:off x="411480" y="6510528"/>
            <a:ext cx="5486400" cy="256032"/>
          </a:xfrm>
          <a:prstGeom prst="rect">
            <a:avLst/>
          </a:prstGeom>
          <a:noFill/>
        </p:spPr>
        <p:txBody>
          <a:bodyPr wrap="square" lIns="0" rIns="0" t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rIns="0" tIns="0" bIns="0" anchor="t"/>
          <a:lstStyle/>
          <a:p>
            <a:pPr algn="r"/>
            <a:r>
              <a:rPr sz="1200" b="0">
                <a:solidFill>
                  <a:srgbClr val="5E584F"/>
                </a:solidFill>
                <a:latin typeface="Calibri"/>
              </a:rPr>
              <a:t>36 / 36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Multi-agent audit support system — 8 minute introduction</dc:title>
  <dc:subject>ELEC5620 Group 16</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