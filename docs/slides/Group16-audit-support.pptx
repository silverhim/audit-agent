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22" d="100"/>
          <a:sy n="122" d="100"/>
        </p:scale>
        <p:origin x="96" y="42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823511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Hello, we are Group 16. This system helps one Australian registered company auditor complete a statutory audit. I will cover positioning and functions. The next speaker covers the agents and the design models. The last speaker walks one full case, from a cutoff error to the opinion.</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user is a sole-practitioner registered company auditor. The setting is Australia: the auditing standards ASA, the accounting standards AASB, and the Corporations Act. This is audit support. The opinion and the signature have to be the auditor's own. Agents check registrations, run procedures, read evidence, and produce a preliminary judgment. Four statutory decisions stop and wait. Every judgment has to trace back to the original evidence.</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work runs in five phases. Acceptance checks the ABN and ASIC, and the auditor decides whether to take the engagement. Planning sets materiality, confirms the risk list, and assembles the procedure pack. Execution runs substantive procedures in parallel. In this prototype the two main lines are revenue cutoff and bank confirmation. Completion adds up uncorrected misstatements, and the auditor confirms the opinion type. Reporting drafts the report. The auditor can send it back with comments, or sign and archive it. A state machine drives the flow, and it can resume from a checkpoint. The specification has 161 procedures. This prototype runs 17. That is my part.</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ten agents are split by what they produce, not by account area, so the procedure library can grow without adding roles. A1 is the orchestrator: the state machine, the gates, and the schedule. It does not call a language model. Acceptance and planning are A2, A3, and A4. Execution is A5 and A6, and A6 can run as several instances. The dashed cards, A7 and A8, are in the specification and are not wired into this prototype. A9 does the rule-based roll-up. A10 is the only door. The next slide says what each one produces.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map named the ten roles. This is what each one produces. A1 does not run procedures. It only advances the state machine. The other nine share the 161 procedures in the specification. A2, A3, and A4 cover acceptance and planning. A5 sends confirmations and does not call a model. A6 does the substantive work. Most of the procedures sit there, and it can run as several instances. A7 reads the evidence again on a different model, so a model does not review itself. A8 writes the workpapers. Both are specification only. A9 is rules: the roll-up and the completeness checks. A10 is the only door. It presents the item and drafts the report. It records the auditor's decision as given. It does not decide.</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Take one agent, and one procedure it actually owns. A6 is Fieldwork. REV-02 is the revenue cutoff judgment. A1 does not start it until the three-way match and the contract judgment are already in the state. A rule then selects the invoices: inside the cutoff window, and large enough, or already flagged as a cutoff exception. The model judges one invoice at a time. It sees that invoice, the delivery note, the contract, and two paragraphs of AASB 15. It does not see the whole ledger. What comes back is a judgment: a conclusion, a reasoning chain, a counter-argument, and pointers to the page. Because this procedure is level 2, the item waits. The auditor confirms it, overrides it, or records the misstatement. On the synthetic file, invoice SI-2026-0612 was posted on 28 June and signed on 3 July. A6 proposes a misstatement of 142,000. It does not record that misstatement itself.</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collaboration model, simplified from Figure 1b. Agents do not call each other. A1 hands each one the engagement state and merges the patch that comes back, after four checks. The dashed cards are specification only. The one exception is A7: A6 calls it before the merge, on a different model, and only with the evidence. The auditor comes in through A10.</a:t>
            </a:r>
          </a:p>
          <a:p>
            <a:endParaRPr/>
          </a:p>
          <a:p>
            <a:r>
              <a:t>https://github.sydney.edu.au/ELEC5620-Wed-14-16-Group-16/ELEC5620-demo/blob/main/docs/diagrams/class_agents.puml</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There are three constraints. First, bounded autonomy. The macro flow is a state machine. A gate does not move until the auditor makes an explicit decision. In execution, procedures run in dependency layers, in parallel within a layer. After the merge the flow continues, waits for a person, or enters completion. Second, four autonomy levels: the person decides, the person reviews each item, the person sees only exceptions, or the person samples afterwards. A significant risk, an amount above performance materiality, or low confidence moves the level down. Thirty-two statutory procedures stay at level one and never move up. Third, a judgment is a conclusion, a reasoning chain, a counter-argument, a confidence score, and evidence pointers. Four checks: syntax, structure, references, and semantics. A fact has to point at a document. A standard has to point at a fragment in the knowledge base. That is my part.</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engagement state machine, simplified from Figure 3a. Five phases run in order. The gold bars are the human gates: accept or decline, approve the plan, confirm the opinion, and sign or send the report back. Execution has no gate of its own. When the pack settles, completion starts. A risk flag can send execution back to planning. Decline and withdrawal are the two ways out. Hand over to the next speaker.</a:t>
            </a:r>
          </a:p>
          <a:p>
            <a:endParaRPr/>
          </a:p>
          <a:p>
            <a:r>
              <a:t>https://github.sydney.edu.au/ELEC5620-Wed-14-16-Group-16/ELEC5620-demo/blob/main/docs/diagrams/state_main.puml</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There are nine use cases, and they sit on those five phases. The first seven follow the phases: acceptance, planning, execution, exception review, risk re-assessment, completion and the report, then archiving. The last two can cut in at any phase: asking where the work is and where a figure came from, and statutory notification or withdrawal. Besides the auditor, the actors are the client, external data sources, and the engagement quality reviewer before signature. Risk re-assessment can pull an engagement that has already started execution back into planning.</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Figure 6, redrawn so the room can read it. The registered company auditor joins every use case. The client supplies the letter, the file, and the replies. External data covers the registers, the accounting system, and confirmations. The engagement quality reviewer comes in before signature, and afterwards can only read the archive. Risk re-assessment can pull execution back to planning. Statutory notice or withdrawal can cut in at any phase.</a:t>
            </a:r>
          </a:p>
          <a:p>
            <a:endParaRPr/>
          </a:p>
          <a:p>
            <a:r>
              <a:t>https://github.sydney.edu.au/ELEC5620-Wed-14-16-Group-16/ELEC5620-demo/blob/main/docs/diagrams/usecase.puml</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path this prototype actually runs, not the full specification. A1 schedules execution in three layers. In the first layer, A6 matches the invoice to the delivery note and reads the contract, while A5 sends the bank confirmation and A6 compares the balances. A1 merges those results. In the next layer, A6 makes the cutoff judgment: the invoice was recorded on 28 June and signed for on 3 July, so it proposes a misstatement of 142,000. A3 reads the bank reply. In the last layer, A6 explains the 50,000 gap as a deposit in transit. The auditor confirms both items on the review queue. A9 rolls the cutoff above materiality, and A10 drafts the report. The next page is the same case, told as three scenes.</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One line through the synthetic data. The company is fictional. Year-end 30 June 2026, revenue about 12 million Australian dollars. An invoice for 142,000 is recorded on 28 June, and the goods are signed for on 3 July. Control transfers on signing, so three-way matching flags the cutoff. The judgment proposes a misstatement, and the auditor confirms it. The bank reply is 50,000 below the book. That difference is a deposit in transit, recorded on 30 June and received on 2 July, so the system proposes that it is not a misstatement. The auditor confirms that too. The cutoff amount sits above the top of the overall-materiality range, 60 to 120 thousand, so completion proposes a qualified opinion. The signature waits until the auditor confirms the opinion type. The invoice, the delivery note, and the reply open from the judgment.</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Three sentences. The judgment stays with the person. Execution, traceability, and the block stay with the system. Ten agents collaborate by what they produce, and the orchestrator is the only scheduler. The higher the risk, the lower the autonomy. Thank you. Questions welcome. Do not present the appendix unless someone asks for a figure.</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Not spoken. Stop the talk on the previous slide unless a question asks for a figure.</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Not spoken. Class diagram — domain model</a:t>
            </a:r>
          </a:p>
          <a:p>
            <a:endParaRPr/>
          </a:p>
          <a:p>
            <a:r>
              <a:t>https://github.sydney.edu.au/ELEC5620-Wed-14-16-Group-16/ELEC5620-demo/blob/main/docs/diagrams/class_domain.puml</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Not spoken. Class diagram — agents, services, and contracts</a:t>
            </a:r>
          </a:p>
          <a:p>
            <a:endParaRPr/>
          </a:p>
          <a:p>
            <a:r>
              <a:t>https://github.sydney.edu.au/ELEC5620-Wed-14-16-Group-16/ELEC5620-demo/blob/main/docs/diagrams/class_agents.puml</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Not spoken. Package diagram — modules and contracts</a:t>
            </a:r>
          </a:p>
          <a:p>
            <a:endParaRPr/>
          </a:p>
          <a:p>
            <a:r>
              <a:t>https://github.sydney.edu.au/ELEC5620-Wed-14-16-Group-16/ELEC5620-demo/blob/main/docs/diagrams/package.puml</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Not spoken. State machine — engagement lifecycle</a:t>
            </a:r>
          </a:p>
          <a:p>
            <a:endParaRPr/>
          </a:p>
          <a:p>
            <a:r>
              <a:t>https://github.sydney.edu.au/ELEC5620-Wed-14-16-Group-16/ELEC5620-demo/blob/main/docs/diagrams/state_main.puml</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Not spoken. Object state machines</a:t>
            </a:r>
          </a:p>
          <a:p>
            <a:endParaRPr/>
          </a:p>
          <a:p>
            <a:r>
              <a:t>https://github.sydney.edu.au/ELEC5620-Wed-14-16-Group-16/ELEC5620-demo/blob/main/docs/diagrams/state_objects.puml</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Not spoken. Object states — risk, procedure, run</a:t>
            </a:r>
          </a:p>
          <a:p>
            <a:endParaRPr/>
          </a:p>
          <a:p>
            <a:r>
              <a:t>https://github.sydney.edu.au/ELEC5620-Wed-14-16-Group-16/ELEC5620-demo/blob/main/docs/diagrams/state_objects_member_b.puml</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Not spoken. Object states — misstatement, statutory report, document</a:t>
            </a:r>
          </a:p>
          <a:p>
            <a:endParaRPr/>
          </a:p>
          <a:p>
            <a:r>
              <a:t>https://github.sydney.edu.au/ELEC5620-Wed-14-16-Group-16/ELEC5620-demo/blob/main/docs/diagrams/state_objects_member_c.puml</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Not spoken. Activity — pack assembly and fieldwork</a:t>
            </a:r>
          </a:p>
          <a:p>
            <a:endParaRPr/>
          </a:p>
          <a:p>
            <a:r>
              <a:t>https://github.sydney.edu.au/ELEC5620-Wed-14-16-Group-16/ELEC5620-demo/blob/main/docs/diagrams/activity_fieldwork.puml</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Not spoken. Activity — pack assembly and plan approval</a:t>
            </a:r>
          </a:p>
          <a:p>
            <a:endParaRPr/>
          </a:p>
          <a:p>
            <a:r>
              <a:t>https://github.sydney.edu.au/ELEC5620-Wed-14-16-Group-16/ELEC5620-demo/blob/main/docs/diagrams/activity_planning.puml</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Not spoken. Activity — fieldwork execution and feedback loops</a:t>
            </a:r>
          </a:p>
          <a:p>
            <a:endParaRPr/>
          </a:p>
          <a:p>
            <a:r>
              <a:t>https://github.sydney.edu.au/ELEC5620-Wed-14-16-Group-16/ELEC5620-demo/blob/main/docs/diagrams/activity_execution.puml</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Not spoken. Activity — one procedure inside an A6 instance</a:t>
            </a:r>
          </a:p>
          <a:p>
            <a:endParaRPr/>
          </a:p>
          <a:p>
            <a:r>
              <a:t>https://github.sydney.edu.au/ELEC5620-Wed-14-16-Group-16/ELEC5620-demo/blob/main/docs/diagrams/activity_procedure.puml</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Not spoken. Sequence — assertion-level risk reasoning</a:t>
            </a:r>
          </a:p>
          <a:p>
            <a:endParaRPr/>
          </a:p>
          <a:p>
            <a:r>
              <a:t>https://github.sydney.edu.au/ELEC5620-Wed-14-16-Group-16/ELEC5620-demo/blob/main/docs/diagrams/sequence_risk_assessment.puml</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Not spoken. Sequence — failure paths of a journal-exception attribution</a:t>
            </a:r>
          </a:p>
          <a:p>
            <a:endParaRPr/>
          </a:p>
          <a:p>
            <a:r>
              <a:t>https://github.sydney.edu.au/ELEC5620-Wed-14-16-Group-16/ELEC5620-demo/blob/main/docs/diagrams/sequence_failure_paths.puml</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Not spoken. Use cases — actors and the nine use cases</a:t>
            </a:r>
          </a:p>
          <a:p>
            <a:endParaRPr/>
          </a:p>
          <a:p>
            <a:r>
              <a:t>https://github.sydney.edu.au/ELEC5620-Wed-14-16-Group-16/ELEC5620-demo/blob/main/docs/diagrams/usecase.puml</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Not spoken. Use case specification — UC-01 to UC-03</a:t>
            </a:r>
          </a:p>
          <a:p>
            <a:endParaRPr/>
          </a:p>
          <a:p>
            <a:r>
              <a:t>https://github.sydney.edu.au/ELEC5620-Wed-14-16-Group-16/ELEC5620-demo/blob/main/docs/diagrams/usecase_spec_member_a.puml</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Not spoken. Use case specification — UC-04 to UC-06</a:t>
            </a:r>
          </a:p>
          <a:p>
            <a:endParaRPr/>
          </a:p>
          <a:p>
            <a:r>
              <a:t>https://github.sydney.edu.au/ELEC5620-Wed-14-16-Group-16/ELEC5620-demo/blob/main/docs/diagrams/usecase_spec_member_b.puml</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Not spoken. Use case specification — UC-07 to UC-09</a:t>
            </a:r>
          </a:p>
          <a:p>
            <a:endParaRPr/>
          </a:p>
          <a:p>
            <a:r>
              <a:t>https://github.sydney.edu.au/ELEC5620-Wed-14-16-Group-16/ELEC5620-demo/blob/main/docs/diagrams/usecase_spec_member_c.puml</a:t>
            </a:r>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Not spoken. Requirements — mandatory and optional</a:t>
            </a:r>
          </a:p>
          <a:p>
            <a:endParaRPr/>
          </a:p>
          <a:p>
            <a:r>
              <a:t>https://github.sydney.edu.au/ELEC5620-Wed-14-16-Group-16/ELEC5620-demo/blob/main/docs/diagrams/requirements.puml</a:t>
            </a:r>
          </a:p>
        </p:txBody>
      </p:sp>
      <p:sp>
        <p:nvSpPr>
          <p:cNvPr id="4" name="Slide Number Placeholder 3"/>
          <p:cNvSpPr>
            <a:spLocks noGrp="1"/>
          </p:cNvSpPr>
          <p:nvPr>
            <p:ph type="sldNum" sz="quarter" idx="5"/>
          </p:nvPr>
        </p:nvSpPr>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Not spoken. Requirements — execution and evidence</a:t>
            </a:r>
          </a:p>
          <a:p>
            <a:endParaRPr/>
          </a:p>
          <a:p>
            <a:r>
              <a:t>https://github.sydney.edu.au/ELEC5620-Wed-14-16-Group-16/ELEC5620-demo/blob/main/docs/diagrams/requirements_member_a.puml</a:t>
            </a:r>
          </a:p>
        </p:txBody>
      </p:sp>
      <p:sp>
        <p:nvSpPr>
          <p:cNvPr id="4" name="Slide Number Placeholder 3"/>
          <p:cNvSpPr>
            <a:spLocks noGrp="1"/>
          </p:cNvSpPr>
          <p:nvPr>
            <p:ph type="sldNum" sz="quarter" idx="5"/>
          </p:nvPr>
        </p:nvSpPr>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Not spoken. Requirements — human judgement and interaction</a:t>
            </a:r>
          </a:p>
          <a:p>
            <a:endParaRPr/>
          </a:p>
          <a:p>
            <a:r>
              <a:t>https://github.sydney.edu.au/ELEC5620-Wed-14-16-Group-16/ELEC5620-demo/blob/main/docs/diagrams/requirements_member_b.puml</a:t>
            </a:r>
          </a:p>
        </p:txBody>
      </p:sp>
      <p:sp>
        <p:nvSpPr>
          <p:cNvPr id="4" name="Slide Number Placeholder 3"/>
          <p:cNvSpPr>
            <a:spLocks noGrp="1"/>
          </p:cNvSpPr>
          <p:nvPr>
            <p:ph type="sldNum" sz="quarter" idx="5"/>
          </p:nvPr>
        </p:nvSpPr>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Not spoken. Requirements — statutory obligations</a:t>
            </a:r>
          </a:p>
          <a:p>
            <a:endParaRPr/>
          </a:p>
          <a:p>
            <a:r>
              <a:t>https://github.sydney.edu.au/ELEC5620-Wed-14-16-Group-16/ELEC5620-demo/blob/main/docs/diagrams/requirements_member_c.puml</a:t>
            </a:r>
          </a:p>
        </p:txBody>
      </p:sp>
      <p:sp>
        <p:nvSpPr>
          <p:cNvPr id="4" name="Slide Number Placeholder 3"/>
          <p:cNvSpPr>
            <a:spLocks noGrp="1"/>
          </p:cNvSpPr>
          <p:nvPr>
            <p:ph type="sldNum" sz="quarter" idx="5"/>
          </p:nvPr>
        </p:nvSpPr>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Not spoken. Feature diagram — audit support system</a:t>
            </a:r>
          </a:p>
          <a:p>
            <a:endParaRPr/>
          </a:p>
          <a:p>
            <a:r>
              <a:t>https://github.sydney.edu.au/ELEC5620-Wed-14-16-Group-16/ELEC5620-demo/blob/main/docs/diagrams/feature.puml</a:t>
            </a:r>
          </a:p>
        </p:txBody>
      </p:sp>
      <p:sp>
        <p:nvSpPr>
          <p:cNvPr id="4" name="Slide Number Placeholder 3"/>
          <p:cNvSpPr>
            <a:spLocks noGrp="1"/>
          </p:cNvSpPr>
          <p:nvPr>
            <p:ph type="sldNum" sz="quarter" idx="5"/>
          </p:nvPr>
        </p:nvSpPr>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Not spoken. Structured class — A1 Orchestrator</a:t>
            </a:r>
          </a:p>
          <a:p>
            <a:endParaRPr/>
          </a:p>
          <a:p>
            <a:r>
              <a:t>https://github.sydney.edu.au/ELEC5620-Wed-14-16-Group-16/ELEC5620-demo/blob/main/docs/diagrams/structured_class_a1.puml</a:t>
            </a:r>
          </a:p>
        </p:txBody>
      </p:sp>
      <p:sp>
        <p:nvSpPr>
          <p:cNvPr id="4" name="Slide Number Placeholder 3"/>
          <p:cNvSpPr>
            <a:spLocks noGrp="1"/>
          </p:cNvSpPr>
          <p:nvPr>
            <p:ph type="sldNum" sz="quarter" idx="5"/>
          </p:nvPr>
        </p:nvSpPr>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Not spoken. Collaboration — one exception review</a:t>
            </a:r>
          </a:p>
          <a:p>
            <a:endParaRPr/>
          </a:p>
          <a:p>
            <a:r>
              <a:t>https://github.sydney.edu.au/ELEC5620-Wed-14-16-Group-16/ELEC5620-demo/blob/main/docs/diagrams/collaboration_review.puml</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9/30/2026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9/30/2026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9/30/2026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9/30/2026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hyperlink" Target="https://github.sydney.edu.au/ELEC5620-Wed-14-16-Group-16/ELEC5620-demo/blob/main/docs/diagrams/class_agents.puml" TargetMode="External"/><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hyperlink" Target="https://github.sydney.edu.au/ELEC5620-Wed-14-16-Group-16/ELEC5620-demo/blob/main/docs/diagrams/out/class_agents.png" TargetMode="Externa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hyperlink" Target="https://github.sydney.edu.au/ELEC5620-Wed-14-16-Group-16/ELEC5620-demo/blob/main/docs/diagrams/state_main.puml" TargetMode="External"/><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hyperlink" Target="https://github.sydney.edu.au/ELEC5620-Wed-14-16-Group-16/ELEC5620-demo/blob/main/docs/diagrams/out/state_main.png" TargetMode="Externa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hyperlink" Target="https://github.sydney.edu.au/ELEC5620-Wed-14-16-Group-16/ELEC5620-demo/blob/main/docs/diagrams/usecase.puml" TargetMode="External"/><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hyperlink" Target="https://github.sydney.edu.au/ELEC5620-Wed-14-16-Group-16/ELEC5620-demo/blob/main/docs/diagrams/out/usecase.png" TargetMode="Externa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7.xml"/><Relationship Id="rId4" Type="http://schemas.openxmlformats.org/officeDocument/2006/relationships/hyperlink" Target="https://github.sydney.edu.au/ELEC5620-Wed-14-16-Group-16/ELEC5620-demo/blob/main/docs/diagrams/class_domain.puml" TargetMode="Externa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7.xml"/><Relationship Id="rId4" Type="http://schemas.openxmlformats.org/officeDocument/2006/relationships/hyperlink" Target="https://github.sydney.edu.au/ELEC5620-Wed-14-16-Group-16/ELEC5620-demo/blob/main/docs/diagrams/class_agents.puml" TargetMode="External"/></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8.xml"/><Relationship Id="rId1" Type="http://schemas.openxmlformats.org/officeDocument/2006/relationships/slideLayout" Target="../slideLayouts/slideLayout7.xml"/><Relationship Id="rId4" Type="http://schemas.openxmlformats.org/officeDocument/2006/relationships/hyperlink" Target="https://github.sydney.edu.au/ELEC5620-Wed-14-16-Group-16/ELEC5620-demo/blob/main/docs/diagrams/package.puml" TargetMode="External"/></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9.xml"/><Relationship Id="rId1" Type="http://schemas.openxmlformats.org/officeDocument/2006/relationships/slideLayout" Target="../slideLayouts/slideLayout7.xml"/><Relationship Id="rId4" Type="http://schemas.openxmlformats.org/officeDocument/2006/relationships/hyperlink" Target="https://github.sydney.edu.au/ELEC5620-Wed-14-16-Group-16/ELEC5620-demo/blob/main/docs/diagrams/state_main.puml" TargetMode="External"/></Relationships>
</file>

<file path=ppt/slides/_rels/slide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0.xml"/><Relationship Id="rId1" Type="http://schemas.openxmlformats.org/officeDocument/2006/relationships/slideLayout" Target="../slideLayouts/slideLayout7.xml"/><Relationship Id="rId4" Type="http://schemas.openxmlformats.org/officeDocument/2006/relationships/hyperlink" Target="https://github.sydney.edu.au/ELEC5620-Wed-14-16-Group-16/ELEC5620-demo/blob/main/docs/diagrams/state_objects.puml" TargetMode="External"/></Relationships>
</file>

<file path=ppt/slides/_rels/slide2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1.xml"/><Relationship Id="rId1" Type="http://schemas.openxmlformats.org/officeDocument/2006/relationships/slideLayout" Target="../slideLayouts/slideLayout7.xml"/><Relationship Id="rId4" Type="http://schemas.openxmlformats.org/officeDocument/2006/relationships/hyperlink" Target="https://github.sydney.edu.au/ELEC5620-Wed-14-16-Group-16/ELEC5620-demo/blob/main/docs/diagrams/state_objects_member_b.puml" TargetMode="External"/></Relationships>
</file>

<file path=ppt/slides/_rels/slide2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2.xml"/><Relationship Id="rId1" Type="http://schemas.openxmlformats.org/officeDocument/2006/relationships/slideLayout" Target="../slideLayouts/slideLayout7.xml"/><Relationship Id="rId4" Type="http://schemas.openxmlformats.org/officeDocument/2006/relationships/hyperlink" Target="https://github.sydney.edu.au/ELEC5620-Wed-14-16-Group-16/ELEC5620-demo/blob/main/docs/diagrams/state_objects_member_c.puml" TargetMode="External"/></Relationships>
</file>

<file path=ppt/slides/_rels/slide2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3.xml"/><Relationship Id="rId1" Type="http://schemas.openxmlformats.org/officeDocument/2006/relationships/slideLayout" Target="../slideLayouts/slideLayout7.xml"/><Relationship Id="rId4" Type="http://schemas.openxmlformats.org/officeDocument/2006/relationships/hyperlink" Target="https://github.sydney.edu.au/ELEC5620-Wed-14-16-Group-16/ELEC5620-demo/blob/main/docs/diagrams/activity_fieldwork.puml" TargetMode="External"/></Relationships>
</file>

<file path=ppt/slides/_rels/slide2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4.xml"/><Relationship Id="rId1" Type="http://schemas.openxmlformats.org/officeDocument/2006/relationships/slideLayout" Target="../slideLayouts/slideLayout7.xml"/><Relationship Id="rId4" Type="http://schemas.openxmlformats.org/officeDocument/2006/relationships/hyperlink" Target="https://github.sydney.edu.au/ELEC5620-Wed-14-16-Group-16/ELEC5620-demo/blob/main/docs/diagrams/activity_planning.puml" TargetMode="External"/></Relationships>
</file>

<file path=ppt/slides/_rels/slide2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5.xml"/><Relationship Id="rId1" Type="http://schemas.openxmlformats.org/officeDocument/2006/relationships/slideLayout" Target="../slideLayouts/slideLayout7.xml"/><Relationship Id="rId4" Type="http://schemas.openxmlformats.org/officeDocument/2006/relationships/hyperlink" Target="https://github.sydney.edu.au/ELEC5620-Wed-14-16-Group-16/ELEC5620-demo/blob/main/docs/diagrams/activity_execution.puml" TargetMode="External"/></Relationships>
</file>

<file path=ppt/slides/_rels/slide2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6.xml"/><Relationship Id="rId1" Type="http://schemas.openxmlformats.org/officeDocument/2006/relationships/slideLayout" Target="../slideLayouts/slideLayout7.xml"/><Relationship Id="rId4" Type="http://schemas.openxmlformats.org/officeDocument/2006/relationships/hyperlink" Target="https://github.sydney.edu.au/ELEC5620-Wed-14-16-Group-16/ELEC5620-demo/blob/main/docs/diagrams/activity_procedure.puml" TargetMode="External"/></Relationships>
</file>

<file path=ppt/slides/_rels/slide2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7.xml"/><Relationship Id="rId1" Type="http://schemas.openxmlformats.org/officeDocument/2006/relationships/slideLayout" Target="../slideLayouts/slideLayout7.xml"/><Relationship Id="rId4" Type="http://schemas.openxmlformats.org/officeDocument/2006/relationships/hyperlink" Target="https://github.sydney.edu.au/ELEC5620-Wed-14-16-Group-16/ELEC5620-demo/blob/main/docs/diagrams/sequence_risk_assessment.puml" TargetMode="External"/></Relationships>
</file>

<file path=ppt/slides/_rels/slide2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8.xml"/><Relationship Id="rId1" Type="http://schemas.openxmlformats.org/officeDocument/2006/relationships/slideLayout" Target="../slideLayouts/slideLayout7.xml"/><Relationship Id="rId4" Type="http://schemas.openxmlformats.org/officeDocument/2006/relationships/hyperlink" Target="https://github.sydney.edu.au/ELEC5620-Wed-14-16-Group-16/ELEC5620-demo/blob/main/docs/diagrams/sequence_failure_paths.puml" TargetMode="External"/></Relationships>
</file>

<file path=ppt/slides/_rels/slide2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9.xml"/><Relationship Id="rId1" Type="http://schemas.openxmlformats.org/officeDocument/2006/relationships/slideLayout" Target="../slideLayouts/slideLayout7.xml"/><Relationship Id="rId4" Type="http://schemas.openxmlformats.org/officeDocument/2006/relationships/hyperlink" Target="https://github.sydney.edu.au/ELEC5620-Wed-14-16-Group-16/ELEC5620-demo/blob/main/docs/diagrams/usecase.puml" TargetMode="External"/></Relationships>
</file>

<file path=ppt/slides/_rels/slide3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0.xml"/><Relationship Id="rId1" Type="http://schemas.openxmlformats.org/officeDocument/2006/relationships/slideLayout" Target="../slideLayouts/slideLayout7.xml"/><Relationship Id="rId4" Type="http://schemas.openxmlformats.org/officeDocument/2006/relationships/hyperlink" Target="https://github.sydney.edu.au/ELEC5620-Wed-14-16-Group-16/ELEC5620-demo/blob/main/docs/diagrams/usecase_spec_member_a.puml" TargetMode="External"/></Relationships>
</file>

<file path=ppt/slides/_rels/slide3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1.xml"/><Relationship Id="rId1" Type="http://schemas.openxmlformats.org/officeDocument/2006/relationships/slideLayout" Target="../slideLayouts/slideLayout7.xml"/><Relationship Id="rId4" Type="http://schemas.openxmlformats.org/officeDocument/2006/relationships/hyperlink" Target="https://github.sydney.edu.au/ELEC5620-Wed-14-16-Group-16/ELEC5620-demo/blob/main/docs/diagrams/usecase_spec_member_b.puml" TargetMode="External"/></Relationships>
</file>

<file path=ppt/slides/_rels/slide3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2.xml"/><Relationship Id="rId1" Type="http://schemas.openxmlformats.org/officeDocument/2006/relationships/slideLayout" Target="../slideLayouts/slideLayout7.xml"/><Relationship Id="rId4" Type="http://schemas.openxmlformats.org/officeDocument/2006/relationships/hyperlink" Target="https://github.sydney.edu.au/ELEC5620-Wed-14-16-Group-16/ELEC5620-demo/blob/main/docs/diagrams/usecase_spec_member_c.puml" TargetMode="External"/></Relationships>
</file>

<file path=ppt/slides/_rels/slide3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3.xml"/><Relationship Id="rId1" Type="http://schemas.openxmlformats.org/officeDocument/2006/relationships/slideLayout" Target="../slideLayouts/slideLayout7.xml"/><Relationship Id="rId4" Type="http://schemas.openxmlformats.org/officeDocument/2006/relationships/hyperlink" Target="https://github.sydney.edu.au/ELEC5620-Wed-14-16-Group-16/ELEC5620-demo/blob/main/docs/diagrams/requirements.puml" TargetMode="External"/></Relationships>
</file>

<file path=ppt/slides/_rels/slide3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4.xml"/><Relationship Id="rId1" Type="http://schemas.openxmlformats.org/officeDocument/2006/relationships/slideLayout" Target="../slideLayouts/slideLayout7.xml"/><Relationship Id="rId4" Type="http://schemas.openxmlformats.org/officeDocument/2006/relationships/hyperlink" Target="https://github.sydney.edu.au/ELEC5620-Wed-14-16-Group-16/ELEC5620-demo/blob/main/docs/diagrams/requirements_member_a.puml" TargetMode="External"/></Relationships>
</file>

<file path=ppt/slides/_rels/slide3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5.xml"/><Relationship Id="rId1" Type="http://schemas.openxmlformats.org/officeDocument/2006/relationships/slideLayout" Target="../slideLayouts/slideLayout7.xml"/><Relationship Id="rId4" Type="http://schemas.openxmlformats.org/officeDocument/2006/relationships/hyperlink" Target="https://github.sydney.edu.au/ELEC5620-Wed-14-16-Group-16/ELEC5620-demo/blob/main/docs/diagrams/requirements_member_b.puml" TargetMode="External"/></Relationships>
</file>

<file path=ppt/slides/_rels/slide3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6.xml"/><Relationship Id="rId1" Type="http://schemas.openxmlformats.org/officeDocument/2006/relationships/slideLayout" Target="../slideLayouts/slideLayout7.xml"/><Relationship Id="rId4" Type="http://schemas.openxmlformats.org/officeDocument/2006/relationships/hyperlink" Target="https://github.sydney.edu.au/ELEC5620-Wed-14-16-Group-16/ELEC5620-demo/blob/main/docs/diagrams/requirements_member_c.puml" TargetMode="External"/></Relationships>
</file>

<file path=ppt/slides/_rels/slide3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7.xml"/><Relationship Id="rId1" Type="http://schemas.openxmlformats.org/officeDocument/2006/relationships/slideLayout" Target="../slideLayouts/slideLayout7.xml"/><Relationship Id="rId4" Type="http://schemas.openxmlformats.org/officeDocument/2006/relationships/hyperlink" Target="https://github.sydney.edu.au/ELEC5620-Wed-14-16-Group-16/ELEC5620-demo/blob/main/docs/diagrams/feature.puml" TargetMode="External"/></Relationships>
</file>

<file path=ppt/slides/_rels/slide3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8.xml"/><Relationship Id="rId1" Type="http://schemas.openxmlformats.org/officeDocument/2006/relationships/slideLayout" Target="../slideLayouts/slideLayout7.xml"/><Relationship Id="rId4" Type="http://schemas.openxmlformats.org/officeDocument/2006/relationships/hyperlink" Target="https://github.sydney.edu.au/ELEC5620-Wed-14-16-Group-16/ELEC5620-demo/blob/main/docs/diagrams/structured_class_a1.puml" TargetMode="External"/></Relationships>
</file>

<file path=ppt/slides/_rels/slide3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9.xml"/><Relationship Id="rId1" Type="http://schemas.openxmlformats.org/officeDocument/2006/relationships/slideLayout" Target="../slideLayouts/slideLayout7.xml"/><Relationship Id="rId4" Type="http://schemas.openxmlformats.org/officeDocument/2006/relationships/hyperlink" Target="https://github.sydney.edu.au/ELEC5620-Wed-14-16-Group-16/ELEC5620-demo/blob/main/docs/diagrams/collaboration_review.puml"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B3048"/>
        </a:solidFill>
        <a:effectLst/>
      </p:bgPr>
    </p:bg>
    <p:spTree>
      <p:nvGrpSpPr>
        <p:cNvPr id="1" name=""/>
        <p:cNvGrpSpPr/>
        <p:nvPr/>
      </p:nvGrpSpPr>
      <p:grpSpPr>
        <a:xfrm>
          <a:off x="0" y="0"/>
          <a:ext cx="0" cy="0"/>
          <a:chOff x="0" y="0"/>
          <a:chExt cx="0" cy="0"/>
        </a:xfrm>
      </p:grpSpPr>
      <p:sp>
        <p:nvSpPr>
          <p:cNvPr id="2" name="TextBox 1"/>
          <p:cNvSpPr txBox="1"/>
          <p:nvPr/>
        </p:nvSpPr>
        <p:spPr>
          <a:xfrm>
            <a:off x="457200" y="347472"/>
            <a:ext cx="7315200" cy="274320"/>
          </a:xfrm>
          <a:prstGeom prst="rect">
            <a:avLst/>
          </a:prstGeom>
          <a:noFill/>
        </p:spPr>
        <p:txBody>
          <a:bodyPr wrap="square" lIns="0" tIns="0" rIns="0" bIns="0" anchor="t"/>
          <a:lstStyle/>
          <a:p>
            <a:pPr algn="l"/>
            <a:r>
              <a:rPr sz="1300" b="1">
                <a:solidFill>
                  <a:srgbClr val="C4A574"/>
                </a:solidFill>
                <a:latin typeface="Calibri"/>
              </a:rPr>
              <a:t>ELEC5620  ·  GROUP 16</a:t>
            </a:r>
          </a:p>
        </p:txBody>
      </p:sp>
      <p:sp>
        <p:nvSpPr>
          <p:cNvPr id="4" name="TextBox 3"/>
          <p:cNvSpPr txBox="1"/>
          <p:nvPr/>
        </p:nvSpPr>
        <p:spPr>
          <a:xfrm>
            <a:off x="457200" y="1234440"/>
            <a:ext cx="10972800" cy="1554480"/>
          </a:xfrm>
          <a:prstGeom prst="rect">
            <a:avLst/>
          </a:prstGeom>
          <a:noFill/>
        </p:spPr>
        <p:txBody>
          <a:bodyPr wrap="square" lIns="0" tIns="0" rIns="0" bIns="0" anchor="t"/>
          <a:lstStyle/>
          <a:p>
            <a:pPr algn="l"/>
            <a:r>
              <a:rPr sz="4000" b="1">
                <a:solidFill>
                  <a:srgbClr val="F4EFE6"/>
                </a:solidFill>
                <a:latin typeface="Calibri"/>
              </a:rPr>
              <a:t>A multi-agent audit
support system</a:t>
            </a:r>
          </a:p>
        </p:txBody>
      </p:sp>
      <p:sp>
        <p:nvSpPr>
          <p:cNvPr id="5" name="TextBox 4"/>
          <p:cNvSpPr txBox="1"/>
          <p:nvPr/>
        </p:nvSpPr>
        <p:spPr>
          <a:xfrm>
            <a:off x="457200" y="2880360"/>
            <a:ext cx="10515600" cy="640080"/>
          </a:xfrm>
          <a:prstGeom prst="rect">
            <a:avLst/>
          </a:prstGeom>
          <a:noFill/>
        </p:spPr>
        <p:txBody>
          <a:bodyPr wrap="square" lIns="0" tIns="0" rIns="0" bIns="0" anchor="t"/>
          <a:lstStyle/>
          <a:p>
            <a:pPr algn="l"/>
            <a:r>
              <a:rPr sz="1800" b="0">
                <a:solidFill>
                  <a:srgbClr val="DDD4C6"/>
                </a:solidFill>
                <a:latin typeface="Calibri"/>
              </a:rPr>
              <a:t>One registered company auditor can complete a statutory audit. Agents run procedures and read evidence. The opinion and the signature stay with the auditor.</a:t>
            </a:r>
          </a:p>
        </p:txBody>
      </p:sp>
      <p:sp>
        <p:nvSpPr>
          <p:cNvPr id="6" name="Rectangle 5"/>
          <p:cNvSpPr/>
          <p:nvPr/>
        </p:nvSpPr>
        <p:spPr>
          <a:xfrm>
            <a:off x="457200" y="3703320"/>
            <a:ext cx="11247120" cy="15875"/>
          </a:xfrm>
          <a:prstGeom prst="rect">
            <a:avLst/>
          </a:prstGeom>
          <a:solidFill>
            <a:srgbClr val="C4A5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457200" y="4023360"/>
            <a:ext cx="3611880" cy="1417320"/>
          </a:xfrm>
          <a:prstGeom prst="roundRect">
            <a:avLst>
              <a:gd name="adj" fmla="val 8000"/>
            </a:avLst>
          </a:prstGeom>
          <a:solidFill>
            <a:srgbClr val="243C56"/>
          </a:solidFill>
          <a:ln w="12700">
            <a:solidFill>
              <a:srgbClr val="3A526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0080" y="4160520"/>
            <a:ext cx="3200400" cy="320040"/>
          </a:xfrm>
          <a:prstGeom prst="rect">
            <a:avLst/>
          </a:prstGeom>
          <a:noFill/>
        </p:spPr>
        <p:txBody>
          <a:bodyPr wrap="square" lIns="0" tIns="0" rIns="0" bIns="0" anchor="t"/>
          <a:lstStyle/>
          <a:p>
            <a:pPr algn="l"/>
            <a:r>
              <a:rPr sz="1800" b="1">
                <a:solidFill>
                  <a:srgbClr val="F4EFE6"/>
                </a:solidFill>
                <a:latin typeface="Calibri"/>
              </a:rPr>
              <a:t>Member C</a:t>
            </a:r>
          </a:p>
        </p:txBody>
      </p:sp>
      <p:sp>
        <p:nvSpPr>
          <p:cNvPr id="9" name="TextBox 8"/>
          <p:cNvSpPr txBox="1"/>
          <p:nvPr/>
        </p:nvSpPr>
        <p:spPr>
          <a:xfrm>
            <a:off x="640080" y="4526280"/>
            <a:ext cx="3200400" cy="365760"/>
          </a:xfrm>
          <a:prstGeom prst="rect">
            <a:avLst/>
          </a:prstGeom>
          <a:noFill/>
        </p:spPr>
        <p:txBody>
          <a:bodyPr wrap="square" lIns="0" tIns="0" rIns="0" bIns="0" anchor="t"/>
          <a:lstStyle/>
          <a:p>
            <a:pPr algn="l"/>
            <a:r>
              <a:rPr sz="1500" b="0">
                <a:solidFill>
                  <a:srgbClr val="C9BFB2"/>
                </a:solidFill>
                <a:latin typeface="Calibri"/>
              </a:rPr>
              <a:t>Positioning and functions</a:t>
            </a:r>
          </a:p>
        </p:txBody>
      </p:sp>
      <p:sp>
        <p:nvSpPr>
          <p:cNvPr id="10" name="TextBox 9"/>
          <p:cNvSpPr txBox="1"/>
          <p:nvPr/>
        </p:nvSpPr>
        <p:spPr>
          <a:xfrm>
            <a:off x="640080" y="4937760"/>
            <a:ext cx="3200400" cy="320040"/>
          </a:xfrm>
          <a:prstGeom prst="rect">
            <a:avLst/>
          </a:prstGeom>
          <a:noFill/>
        </p:spPr>
        <p:txBody>
          <a:bodyPr wrap="square" lIns="0" tIns="0" rIns="0" bIns="0" anchor="t"/>
          <a:lstStyle/>
          <a:p>
            <a:pPr algn="l"/>
            <a:r>
              <a:rPr sz="1400" b="0">
                <a:solidFill>
                  <a:srgbClr val="C4A574"/>
                </a:solidFill>
                <a:latin typeface="Calibri"/>
              </a:rPr>
              <a:t>about 2 min 20 s</a:t>
            </a:r>
          </a:p>
        </p:txBody>
      </p:sp>
      <p:sp>
        <p:nvSpPr>
          <p:cNvPr id="11" name="Rounded Rectangle 10"/>
          <p:cNvSpPr/>
          <p:nvPr/>
        </p:nvSpPr>
        <p:spPr>
          <a:xfrm>
            <a:off x="4297680" y="4023360"/>
            <a:ext cx="3611880" cy="1417320"/>
          </a:xfrm>
          <a:prstGeom prst="roundRect">
            <a:avLst>
              <a:gd name="adj" fmla="val 8000"/>
            </a:avLst>
          </a:prstGeom>
          <a:solidFill>
            <a:srgbClr val="243C56"/>
          </a:solidFill>
          <a:ln w="12700">
            <a:solidFill>
              <a:srgbClr val="3A526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480560" y="4160520"/>
            <a:ext cx="3200400" cy="320040"/>
          </a:xfrm>
          <a:prstGeom prst="rect">
            <a:avLst/>
          </a:prstGeom>
          <a:noFill/>
        </p:spPr>
        <p:txBody>
          <a:bodyPr wrap="square" lIns="0" tIns="0" rIns="0" bIns="0" anchor="t"/>
          <a:lstStyle/>
          <a:p>
            <a:pPr algn="l"/>
            <a:r>
              <a:rPr sz="1800" b="1">
                <a:solidFill>
                  <a:srgbClr val="F4EFE6"/>
                </a:solidFill>
                <a:latin typeface="Calibri"/>
              </a:rPr>
              <a:t>Member A</a:t>
            </a:r>
          </a:p>
        </p:txBody>
      </p:sp>
      <p:sp>
        <p:nvSpPr>
          <p:cNvPr id="13" name="TextBox 12"/>
          <p:cNvSpPr txBox="1"/>
          <p:nvPr/>
        </p:nvSpPr>
        <p:spPr>
          <a:xfrm>
            <a:off x="4480560" y="4526280"/>
            <a:ext cx="3200400" cy="365760"/>
          </a:xfrm>
          <a:prstGeom prst="rect">
            <a:avLst/>
          </a:prstGeom>
          <a:noFill/>
        </p:spPr>
        <p:txBody>
          <a:bodyPr wrap="square" lIns="0" tIns="0" rIns="0" bIns="0" anchor="t"/>
          <a:lstStyle/>
          <a:p>
            <a:pPr algn="l"/>
            <a:r>
              <a:rPr sz="1500" b="0">
                <a:solidFill>
                  <a:srgbClr val="C9BFB2"/>
                </a:solidFill>
                <a:latin typeface="Calibri"/>
              </a:rPr>
              <a:t>Agents and design models</a:t>
            </a:r>
          </a:p>
        </p:txBody>
      </p:sp>
      <p:sp>
        <p:nvSpPr>
          <p:cNvPr id="14" name="TextBox 13"/>
          <p:cNvSpPr txBox="1"/>
          <p:nvPr/>
        </p:nvSpPr>
        <p:spPr>
          <a:xfrm>
            <a:off x="4480560" y="4937760"/>
            <a:ext cx="3200400" cy="320040"/>
          </a:xfrm>
          <a:prstGeom prst="rect">
            <a:avLst/>
          </a:prstGeom>
          <a:noFill/>
        </p:spPr>
        <p:txBody>
          <a:bodyPr wrap="square" lIns="0" tIns="0" rIns="0" bIns="0" anchor="t"/>
          <a:lstStyle/>
          <a:p>
            <a:pPr algn="l"/>
            <a:r>
              <a:rPr sz="1400" b="0">
                <a:solidFill>
                  <a:srgbClr val="C4A574"/>
                </a:solidFill>
                <a:latin typeface="Calibri"/>
              </a:rPr>
              <a:t>about 3 min 45 s</a:t>
            </a:r>
          </a:p>
        </p:txBody>
      </p:sp>
      <p:sp>
        <p:nvSpPr>
          <p:cNvPr id="15" name="Rounded Rectangle 14"/>
          <p:cNvSpPr/>
          <p:nvPr/>
        </p:nvSpPr>
        <p:spPr>
          <a:xfrm>
            <a:off x="8138160" y="4023360"/>
            <a:ext cx="3611880" cy="1417320"/>
          </a:xfrm>
          <a:prstGeom prst="roundRect">
            <a:avLst>
              <a:gd name="adj" fmla="val 8000"/>
            </a:avLst>
          </a:prstGeom>
          <a:solidFill>
            <a:srgbClr val="243C56"/>
          </a:solidFill>
          <a:ln w="12700">
            <a:solidFill>
              <a:srgbClr val="3A526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321040" y="4160520"/>
            <a:ext cx="3200400" cy="320040"/>
          </a:xfrm>
          <a:prstGeom prst="rect">
            <a:avLst/>
          </a:prstGeom>
          <a:noFill/>
        </p:spPr>
        <p:txBody>
          <a:bodyPr wrap="square" lIns="0" tIns="0" rIns="0" bIns="0" anchor="t"/>
          <a:lstStyle/>
          <a:p>
            <a:pPr algn="l"/>
            <a:r>
              <a:rPr sz="1800" b="1">
                <a:solidFill>
                  <a:srgbClr val="F4EFE6"/>
                </a:solidFill>
                <a:latin typeface="Calibri"/>
              </a:rPr>
              <a:t>Member B</a:t>
            </a:r>
          </a:p>
        </p:txBody>
      </p:sp>
      <p:sp>
        <p:nvSpPr>
          <p:cNvPr id="17" name="TextBox 16"/>
          <p:cNvSpPr txBox="1"/>
          <p:nvPr/>
        </p:nvSpPr>
        <p:spPr>
          <a:xfrm>
            <a:off x="8321040" y="4526280"/>
            <a:ext cx="3200400" cy="365760"/>
          </a:xfrm>
          <a:prstGeom prst="rect">
            <a:avLst/>
          </a:prstGeom>
          <a:noFill/>
        </p:spPr>
        <p:txBody>
          <a:bodyPr wrap="square" lIns="0" tIns="0" rIns="0" bIns="0" anchor="t"/>
          <a:lstStyle/>
          <a:p>
            <a:pPr algn="l"/>
            <a:r>
              <a:rPr sz="1500" b="0">
                <a:solidFill>
                  <a:srgbClr val="C9BFB2"/>
                </a:solidFill>
                <a:latin typeface="Calibri"/>
              </a:rPr>
              <a:t>Use cases and one full line</a:t>
            </a:r>
          </a:p>
        </p:txBody>
      </p:sp>
      <p:sp>
        <p:nvSpPr>
          <p:cNvPr id="18" name="TextBox 17"/>
          <p:cNvSpPr txBox="1"/>
          <p:nvPr/>
        </p:nvSpPr>
        <p:spPr>
          <a:xfrm>
            <a:off x="8321040" y="4937760"/>
            <a:ext cx="3200400" cy="320040"/>
          </a:xfrm>
          <a:prstGeom prst="rect">
            <a:avLst/>
          </a:prstGeom>
          <a:noFill/>
        </p:spPr>
        <p:txBody>
          <a:bodyPr wrap="square" lIns="0" tIns="0" rIns="0" bIns="0" anchor="t"/>
          <a:lstStyle/>
          <a:p>
            <a:pPr algn="l"/>
            <a:r>
              <a:rPr sz="1400" b="0">
                <a:solidFill>
                  <a:srgbClr val="C4A574"/>
                </a:solidFill>
                <a:latin typeface="Calibri"/>
              </a:rPr>
              <a:t>about 3 min</a:t>
            </a:r>
          </a:p>
        </p:txBody>
      </p:sp>
      <p:sp>
        <p:nvSpPr>
          <p:cNvPr id="19" name="TextBox 18"/>
          <p:cNvSpPr txBox="1"/>
          <p:nvPr/>
        </p:nvSpPr>
        <p:spPr>
          <a:xfrm>
            <a:off x="411480" y="6510528"/>
            <a:ext cx="5486400" cy="256032"/>
          </a:xfrm>
          <a:prstGeom prst="rect">
            <a:avLst/>
          </a:prstGeom>
          <a:noFill/>
        </p:spPr>
        <p:txBody>
          <a:bodyPr wrap="square" lIns="0" tIns="0" rIns="0" bIns="0" anchor="t"/>
          <a:lstStyle/>
          <a:p>
            <a:pPr algn="l"/>
            <a:r>
              <a:rPr sz="1200" b="0">
                <a:solidFill>
                  <a:srgbClr val="B7AD9F"/>
                </a:solidFill>
                <a:latin typeface="Calibri"/>
              </a:rPr>
              <a:t>ELEC5620 · Group 16</a:t>
            </a:r>
          </a:p>
        </p:txBody>
      </p:sp>
      <p:sp>
        <p:nvSpPr>
          <p:cNvPr id="20" name="TextBox 19"/>
          <p:cNvSpPr txBox="1"/>
          <p:nvPr/>
        </p:nvSpPr>
        <p:spPr>
          <a:xfrm>
            <a:off x="9509760" y="6510528"/>
            <a:ext cx="2286000" cy="256032"/>
          </a:xfrm>
          <a:prstGeom prst="rect">
            <a:avLst/>
          </a:prstGeom>
          <a:noFill/>
        </p:spPr>
        <p:txBody>
          <a:bodyPr wrap="square" lIns="0" tIns="0" rIns="0" bIns="0" anchor="t"/>
          <a:lstStyle/>
          <a:p>
            <a:pPr algn="r"/>
            <a:r>
              <a:rPr sz="1200" b="0">
                <a:solidFill>
                  <a:srgbClr val="B7AD9F"/>
                </a:solidFill>
                <a:latin typeface="Calibri"/>
              </a:rPr>
              <a:t>1 / 39</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4EE"/>
        </a:solidFill>
        <a:effectLst/>
      </p:bgPr>
    </p:bg>
    <p:spTree>
      <p:nvGrpSpPr>
        <p:cNvPr id="1" name=""/>
        <p:cNvGrpSpPr/>
        <p:nvPr/>
      </p:nvGrpSpPr>
      <p:grpSpPr>
        <a:xfrm>
          <a:off x="0" y="0"/>
          <a:ext cx="0" cy="0"/>
          <a:chOff x="0" y="0"/>
          <a:chExt cx="0" cy="0"/>
        </a:xfrm>
      </p:grpSpPr>
      <p:sp>
        <p:nvSpPr>
          <p:cNvPr id="2" name="TextBox 1"/>
          <p:cNvSpPr txBox="1"/>
          <p:nvPr/>
        </p:nvSpPr>
        <p:spPr>
          <a:xfrm>
            <a:off x="411480" y="256032"/>
            <a:ext cx="3840480" cy="256032"/>
          </a:xfrm>
          <a:prstGeom prst="rect">
            <a:avLst/>
          </a:prstGeom>
          <a:noFill/>
        </p:spPr>
        <p:txBody>
          <a:bodyPr wrap="square" lIns="0" tIns="0" rIns="0" bIns="0" anchor="t"/>
          <a:lstStyle/>
          <a:p>
            <a:pPr algn="l"/>
            <a:r>
              <a:rPr sz="1200" b="1">
                <a:solidFill>
                  <a:srgbClr val="0F5E5A"/>
                </a:solidFill>
                <a:latin typeface="Calibri"/>
              </a:rPr>
              <a:t>MEMBER C</a:t>
            </a:r>
          </a:p>
        </p:txBody>
      </p:sp>
      <p:sp>
        <p:nvSpPr>
          <p:cNvPr id="3" name="Rounded Rectangle 2"/>
          <p:cNvSpPr/>
          <p:nvPr/>
        </p:nvSpPr>
        <p:spPr>
          <a:xfrm>
            <a:off x="4114800" y="237744"/>
            <a:ext cx="2103120" cy="274320"/>
          </a:xfrm>
          <a:prstGeom prst="roundRect">
            <a:avLst>
              <a:gd name="adj" fmla="val 8000"/>
            </a:avLst>
          </a:prstGeom>
          <a:solidFill>
            <a:srgbClr val="F7F4EE"/>
          </a:solidFill>
          <a:ln w="12700">
            <a:solidFill>
              <a:srgbClr val="E4DD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14800" y="237744"/>
            <a:ext cx="2103120" cy="274320"/>
          </a:xfrm>
          <a:prstGeom prst="rect">
            <a:avLst/>
          </a:prstGeom>
          <a:noFill/>
        </p:spPr>
        <p:txBody>
          <a:bodyPr wrap="square" lIns="0" tIns="0" rIns="0" bIns="0" anchor="ctr"/>
          <a:lstStyle/>
          <a:p>
            <a:pPr algn="ctr"/>
            <a:r>
              <a:rPr sz="1200" b="0">
                <a:solidFill>
                  <a:srgbClr val="5E584F"/>
                </a:solidFill>
                <a:latin typeface="Calibri"/>
              </a:rPr>
              <a:t>Positioning</a:t>
            </a:r>
          </a:p>
        </p:txBody>
      </p:sp>
      <p:sp>
        <p:nvSpPr>
          <p:cNvPr id="5" name="TextBox 4"/>
          <p:cNvSpPr txBox="1"/>
          <p:nvPr/>
        </p:nvSpPr>
        <p:spPr>
          <a:xfrm>
            <a:off x="411480" y="621792"/>
            <a:ext cx="11338560" cy="502920"/>
          </a:xfrm>
          <a:prstGeom prst="rect">
            <a:avLst/>
          </a:prstGeom>
          <a:noFill/>
        </p:spPr>
        <p:txBody>
          <a:bodyPr wrap="square" lIns="0" tIns="0" rIns="0" bIns="0" anchor="t"/>
          <a:lstStyle/>
          <a:p>
            <a:pPr algn="l"/>
            <a:r>
              <a:rPr sz="2800" b="1">
                <a:solidFill>
                  <a:srgbClr val="1C1915"/>
                </a:solidFill>
                <a:latin typeface="Calibri"/>
              </a:rPr>
              <a:t>Audit support: the opinion stays with the auditor</a:t>
            </a:r>
          </a:p>
        </p:txBody>
      </p:sp>
      <p:sp>
        <p:nvSpPr>
          <p:cNvPr id="6" name="Rounded Rectangle 5"/>
          <p:cNvSpPr/>
          <p:nvPr/>
        </p:nvSpPr>
        <p:spPr>
          <a:xfrm>
            <a:off x="411480" y="1417320"/>
            <a:ext cx="3703320" cy="3794760"/>
          </a:xfrm>
          <a:prstGeom prst="roundRect">
            <a:avLst>
              <a:gd name="adj" fmla="val 8000"/>
            </a:avLst>
          </a:prstGeom>
          <a:solidFill>
            <a:srgbClr val="FFFCF8"/>
          </a:solidFill>
          <a:ln w="12700">
            <a:solidFill>
              <a:srgbClr val="E4DD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11480" y="1417320"/>
            <a:ext cx="73152" cy="3794760"/>
          </a:xfrm>
          <a:prstGeom prst="rect">
            <a:avLst/>
          </a:prstGeom>
          <a:solidFill>
            <a:srgbClr val="0F5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67512" y="1572768"/>
            <a:ext cx="3291840" cy="256032"/>
          </a:xfrm>
          <a:prstGeom prst="rect">
            <a:avLst/>
          </a:prstGeom>
          <a:noFill/>
        </p:spPr>
        <p:txBody>
          <a:bodyPr wrap="square" lIns="0" tIns="0" rIns="0" bIns="0" anchor="t"/>
          <a:lstStyle/>
          <a:p>
            <a:pPr algn="l"/>
            <a:r>
              <a:rPr sz="1200" b="1">
                <a:solidFill>
                  <a:srgbClr val="0F5E5A"/>
                </a:solidFill>
                <a:latin typeface="Calibri"/>
              </a:rPr>
              <a:t>USER</a:t>
            </a:r>
          </a:p>
        </p:txBody>
      </p:sp>
      <p:sp>
        <p:nvSpPr>
          <p:cNvPr id="9" name="TextBox 8"/>
          <p:cNvSpPr txBox="1"/>
          <p:nvPr/>
        </p:nvSpPr>
        <p:spPr>
          <a:xfrm>
            <a:off x="667512" y="1874519"/>
            <a:ext cx="3291840" cy="822960"/>
          </a:xfrm>
          <a:prstGeom prst="rect">
            <a:avLst/>
          </a:prstGeom>
          <a:noFill/>
        </p:spPr>
        <p:txBody>
          <a:bodyPr wrap="square" lIns="0" tIns="0" rIns="0" bIns="0" anchor="t"/>
          <a:lstStyle/>
          <a:p>
            <a:pPr algn="l"/>
            <a:r>
              <a:rPr sz="1800" b="1">
                <a:solidFill>
                  <a:srgbClr val="1C1915"/>
                </a:solidFill>
                <a:latin typeface="Calibri"/>
              </a:rPr>
              <a:t>A sole-practitioner registered company auditor</a:t>
            </a:r>
          </a:p>
        </p:txBody>
      </p:sp>
      <p:sp>
        <p:nvSpPr>
          <p:cNvPr id="10" name="TextBox 9"/>
          <p:cNvSpPr txBox="1"/>
          <p:nvPr/>
        </p:nvSpPr>
        <p:spPr>
          <a:xfrm>
            <a:off x="667512" y="2788920"/>
            <a:ext cx="3291840" cy="2103120"/>
          </a:xfrm>
          <a:prstGeom prst="rect">
            <a:avLst/>
          </a:prstGeom>
          <a:noFill/>
        </p:spPr>
        <p:txBody>
          <a:bodyPr wrap="square" lIns="0" tIns="0" rIns="0" bIns="0" anchor="t"/>
          <a:lstStyle/>
          <a:p>
            <a:pPr algn="l"/>
            <a:r>
              <a:rPr sz="1500" b="0">
                <a:solidFill>
                  <a:srgbClr val="1C1915"/>
                </a:solidFill>
                <a:latin typeface="Calibri"/>
              </a:rPr>
              <a:t>One person covers acceptance, planning, execution, completion, and reporting. The system takes the procedures it can run. The decisions that must be personal stay with the auditor.</a:t>
            </a:r>
          </a:p>
        </p:txBody>
      </p:sp>
      <p:sp>
        <p:nvSpPr>
          <p:cNvPr id="11" name="Rounded Rectangle 10"/>
          <p:cNvSpPr/>
          <p:nvPr/>
        </p:nvSpPr>
        <p:spPr>
          <a:xfrm>
            <a:off x="4297680" y="1417320"/>
            <a:ext cx="3703320" cy="3794760"/>
          </a:xfrm>
          <a:prstGeom prst="roundRect">
            <a:avLst>
              <a:gd name="adj" fmla="val 8000"/>
            </a:avLst>
          </a:prstGeom>
          <a:solidFill>
            <a:srgbClr val="FFFCF8"/>
          </a:solidFill>
          <a:ln w="12700">
            <a:solidFill>
              <a:srgbClr val="E4DD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297680" y="1417320"/>
            <a:ext cx="73152" cy="3794760"/>
          </a:xfrm>
          <a:prstGeom prst="rect">
            <a:avLst/>
          </a:prstGeom>
          <a:solidFill>
            <a:srgbClr val="1B30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553712" y="1572768"/>
            <a:ext cx="3291840" cy="256032"/>
          </a:xfrm>
          <a:prstGeom prst="rect">
            <a:avLst/>
          </a:prstGeom>
          <a:noFill/>
        </p:spPr>
        <p:txBody>
          <a:bodyPr wrap="square" lIns="0" tIns="0" rIns="0" bIns="0" anchor="t"/>
          <a:lstStyle/>
          <a:p>
            <a:pPr algn="l"/>
            <a:r>
              <a:rPr sz="1200" b="1">
                <a:solidFill>
                  <a:srgbClr val="1B3048"/>
                </a:solidFill>
                <a:latin typeface="Calibri"/>
              </a:rPr>
              <a:t>SETTING</a:t>
            </a:r>
          </a:p>
        </p:txBody>
      </p:sp>
      <p:sp>
        <p:nvSpPr>
          <p:cNvPr id="14" name="TextBox 13"/>
          <p:cNvSpPr txBox="1"/>
          <p:nvPr/>
        </p:nvSpPr>
        <p:spPr>
          <a:xfrm>
            <a:off x="4553712" y="1874519"/>
            <a:ext cx="3291840" cy="822960"/>
          </a:xfrm>
          <a:prstGeom prst="rect">
            <a:avLst/>
          </a:prstGeom>
          <a:noFill/>
        </p:spPr>
        <p:txBody>
          <a:bodyPr wrap="square" lIns="0" tIns="0" rIns="0" bIns="0" anchor="t"/>
          <a:lstStyle/>
          <a:p>
            <a:pPr algn="l"/>
            <a:r>
              <a:rPr sz="1800" b="1">
                <a:solidFill>
                  <a:srgbClr val="1C1915"/>
                </a:solidFill>
                <a:latin typeface="Calibri"/>
              </a:rPr>
              <a:t>Australian statutory audit</a:t>
            </a:r>
          </a:p>
        </p:txBody>
      </p:sp>
      <p:sp>
        <p:nvSpPr>
          <p:cNvPr id="15" name="TextBox 14"/>
          <p:cNvSpPr txBox="1"/>
          <p:nvPr/>
        </p:nvSpPr>
        <p:spPr>
          <a:xfrm>
            <a:off x="4553712" y="2788920"/>
            <a:ext cx="3291840" cy="2103120"/>
          </a:xfrm>
          <a:prstGeom prst="rect">
            <a:avLst/>
          </a:prstGeom>
          <a:noFill/>
        </p:spPr>
        <p:txBody>
          <a:bodyPr wrap="square" lIns="0" tIns="0" rIns="0" bIns="0" anchor="t"/>
          <a:lstStyle/>
          <a:p>
            <a:pPr algn="l"/>
            <a:r>
              <a:rPr sz="1500" b="0">
                <a:solidFill>
                  <a:srgbClr val="1C1915"/>
                </a:solidFill>
                <a:latin typeface="Calibri"/>
              </a:rPr>
              <a:t>Auditing standards ASA.
Accounting standards AASB.
Corporations Act 2001.
ASIC, ASQM, and APES 110.</a:t>
            </a:r>
          </a:p>
        </p:txBody>
      </p:sp>
      <p:sp>
        <p:nvSpPr>
          <p:cNvPr id="16" name="Rounded Rectangle 15"/>
          <p:cNvSpPr/>
          <p:nvPr/>
        </p:nvSpPr>
        <p:spPr>
          <a:xfrm>
            <a:off x="8183879" y="1417320"/>
            <a:ext cx="3703320" cy="3794760"/>
          </a:xfrm>
          <a:prstGeom prst="roundRect">
            <a:avLst>
              <a:gd name="adj" fmla="val 8000"/>
            </a:avLst>
          </a:prstGeom>
          <a:solidFill>
            <a:srgbClr val="FFFCF8"/>
          </a:solidFill>
          <a:ln w="12700">
            <a:solidFill>
              <a:srgbClr val="E4DD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8183879" y="1417320"/>
            <a:ext cx="73152" cy="3794760"/>
          </a:xfrm>
          <a:prstGeom prst="rect">
            <a:avLst/>
          </a:prstGeom>
          <a:solidFill>
            <a:srgbClr val="8C4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439911" y="1572768"/>
            <a:ext cx="3291840" cy="256032"/>
          </a:xfrm>
          <a:prstGeom prst="rect">
            <a:avLst/>
          </a:prstGeom>
          <a:noFill/>
        </p:spPr>
        <p:txBody>
          <a:bodyPr wrap="square" lIns="0" tIns="0" rIns="0" bIns="0" anchor="t"/>
          <a:lstStyle/>
          <a:p>
            <a:pPr algn="l"/>
            <a:r>
              <a:rPr sz="1200" b="1">
                <a:solidFill>
                  <a:srgbClr val="8C4A1F"/>
                </a:solidFill>
                <a:latin typeface="Calibri"/>
              </a:rPr>
              <a:t>WHAT IT HOLDS</a:t>
            </a:r>
          </a:p>
        </p:txBody>
      </p:sp>
      <p:sp>
        <p:nvSpPr>
          <p:cNvPr id="19" name="TextBox 18"/>
          <p:cNvSpPr txBox="1"/>
          <p:nvPr/>
        </p:nvSpPr>
        <p:spPr>
          <a:xfrm>
            <a:off x="8439911" y="1874519"/>
            <a:ext cx="3291840" cy="822960"/>
          </a:xfrm>
          <a:prstGeom prst="rect">
            <a:avLst/>
          </a:prstGeom>
          <a:noFill/>
        </p:spPr>
        <p:txBody>
          <a:bodyPr wrap="square" lIns="0" tIns="0" rIns="0" bIns="0" anchor="t"/>
          <a:lstStyle/>
          <a:p>
            <a:pPr algn="l"/>
            <a:r>
              <a:rPr sz="1800" b="1">
                <a:solidFill>
                  <a:srgbClr val="1C1915"/>
                </a:solidFill>
                <a:latin typeface="Calibri"/>
              </a:rPr>
              <a:t>Three things the system does not take over</a:t>
            </a:r>
          </a:p>
        </p:txBody>
      </p:sp>
      <p:sp>
        <p:nvSpPr>
          <p:cNvPr id="20" name="TextBox 19"/>
          <p:cNvSpPr txBox="1"/>
          <p:nvPr/>
        </p:nvSpPr>
        <p:spPr>
          <a:xfrm>
            <a:off x="8439911" y="2788920"/>
            <a:ext cx="3291840" cy="2103120"/>
          </a:xfrm>
          <a:prstGeom prst="rect">
            <a:avLst/>
          </a:prstGeom>
          <a:noFill/>
        </p:spPr>
        <p:txBody>
          <a:bodyPr wrap="square" lIns="0" tIns="0" rIns="0" bIns="0" anchor="t"/>
          <a:lstStyle/>
          <a:p>
            <a:pPr algn="l"/>
            <a:r>
              <a:rPr sz="1500" b="0">
                <a:solidFill>
                  <a:srgbClr val="1C1915"/>
                </a:solidFill>
                <a:latin typeface="Calibri"/>
              </a:rPr>
              <a:t>The auditor issues the opinion.
A statutory decision is confirmed before the flow moves on.
Every judgment traces back to the original evidence.</a:t>
            </a:r>
          </a:p>
        </p:txBody>
      </p:sp>
      <p:sp>
        <p:nvSpPr>
          <p:cNvPr id="21" name="Rounded Rectangle 20"/>
          <p:cNvSpPr/>
          <p:nvPr/>
        </p:nvSpPr>
        <p:spPr>
          <a:xfrm>
            <a:off x="411480" y="5394960"/>
            <a:ext cx="11338560" cy="868680"/>
          </a:xfrm>
          <a:prstGeom prst="roundRect">
            <a:avLst>
              <a:gd name="adj" fmla="val 8000"/>
            </a:avLst>
          </a:prstGeom>
          <a:solidFill>
            <a:srgbClr val="E6F2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411480" y="5394960"/>
            <a:ext cx="73152" cy="868680"/>
          </a:xfrm>
          <a:prstGeom prst="rect">
            <a:avLst/>
          </a:prstGeom>
          <a:solidFill>
            <a:srgbClr val="0F5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85800" y="5532120"/>
            <a:ext cx="10789920" cy="594360"/>
          </a:xfrm>
          <a:prstGeom prst="rect">
            <a:avLst/>
          </a:prstGeom>
          <a:noFill/>
        </p:spPr>
        <p:txBody>
          <a:bodyPr wrap="square" lIns="0" tIns="0" rIns="0" bIns="0" anchor="ctr"/>
          <a:lstStyle/>
          <a:p>
            <a:pPr algn="l"/>
            <a:r>
              <a:rPr sz="1600" b="0">
                <a:solidFill>
                  <a:srgbClr val="1C1915"/>
                </a:solidFill>
                <a:latin typeface="Calibri"/>
              </a:rPr>
              <a:t>The person keeps the judgment. The system runs the work, presents it, blocks it when it must, and keeps the record.</a:t>
            </a:r>
          </a:p>
        </p:txBody>
      </p:sp>
      <p:sp>
        <p:nvSpPr>
          <p:cNvPr id="24" name="TextBox 23"/>
          <p:cNvSpPr txBox="1"/>
          <p:nvPr/>
        </p:nvSpPr>
        <p:spPr>
          <a:xfrm>
            <a:off x="411480" y="6510528"/>
            <a:ext cx="5486400" cy="256032"/>
          </a:xfrm>
          <a:prstGeom prst="rect">
            <a:avLst/>
          </a:prstGeom>
          <a:noFill/>
        </p:spPr>
        <p:txBody>
          <a:bodyPr wrap="square" lIns="0" tIns="0" rIns="0" bIns="0" anchor="t"/>
          <a:lstStyle/>
          <a:p>
            <a:pPr algn="l"/>
            <a:r>
              <a:rPr sz="1200" b="0">
                <a:solidFill>
                  <a:srgbClr val="5E584F"/>
                </a:solidFill>
                <a:latin typeface="Calibri"/>
              </a:rPr>
              <a:t>ELEC5620 · Group 16</a:t>
            </a:r>
          </a:p>
        </p:txBody>
      </p:sp>
      <p:sp>
        <p:nvSpPr>
          <p:cNvPr id="25" name="TextBox 24"/>
          <p:cNvSpPr txBox="1"/>
          <p:nvPr/>
        </p:nvSpPr>
        <p:spPr>
          <a:xfrm>
            <a:off x="9509760" y="6510528"/>
            <a:ext cx="2286000" cy="256032"/>
          </a:xfrm>
          <a:prstGeom prst="rect">
            <a:avLst/>
          </a:prstGeom>
          <a:noFill/>
        </p:spPr>
        <p:txBody>
          <a:bodyPr wrap="square" lIns="0" tIns="0" rIns="0" bIns="0" anchor="t"/>
          <a:lstStyle/>
          <a:p>
            <a:pPr algn="r"/>
            <a:r>
              <a:rPr sz="1200" b="0">
                <a:solidFill>
                  <a:srgbClr val="5E584F"/>
                </a:solidFill>
                <a:latin typeface="Calibri"/>
              </a:rPr>
              <a:t>2 / 39</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4EE"/>
        </a:solidFill>
        <a:effectLst/>
      </p:bgPr>
    </p:bg>
    <p:spTree>
      <p:nvGrpSpPr>
        <p:cNvPr id="1" name=""/>
        <p:cNvGrpSpPr/>
        <p:nvPr/>
      </p:nvGrpSpPr>
      <p:grpSpPr>
        <a:xfrm>
          <a:off x="0" y="0"/>
          <a:ext cx="0" cy="0"/>
          <a:chOff x="0" y="0"/>
          <a:chExt cx="0" cy="0"/>
        </a:xfrm>
      </p:grpSpPr>
      <p:sp>
        <p:nvSpPr>
          <p:cNvPr id="2" name="TextBox 1"/>
          <p:cNvSpPr txBox="1"/>
          <p:nvPr/>
        </p:nvSpPr>
        <p:spPr>
          <a:xfrm>
            <a:off x="411480" y="256032"/>
            <a:ext cx="3840480" cy="256032"/>
          </a:xfrm>
          <a:prstGeom prst="rect">
            <a:avLst/>
          </a:prstGeom>
          <a:noFill/>
        </p:spPr>
        <p:txBody>
          <a:bodyPr wrap="square" lIns="0" tIns="0" rIns="0" bIns="0" anchor="t"/>
          <a:lstStyle/>
          <a:p>
            <a:pPr algn="l"/>
            <a:r>
              <a:rPr sz="1200" b="1">
                <a:solidFill>
                  <a:srgbClr val="0F5E5A"/>
                </a:solidFill>
                <a:latin typeface="Calibri"/>
              </a:rPr>
              <a:t>MEMBER C</a:t>
            </a:r>
          </a:p>
        </p:txBody>
      </p:sp>
      <p:sp>
        <p:nvSpPr>
          <p:cNvPr id="3" name="Rounded Rectangle 2"/>
          <p:cNvSpPr/>
          <p:nvPr/>
        </p:nvSpPr>
        <p:spPr>
          <a:xfrm>
            <a:off x="4114800" y="237744"/>
            <a:ext cx="2103120" cy="274320"/>
          </a:xfrm>
          <a:prstGeom prst="roundRect">
            <a:avLst>
              <a:gd name="adj" fmla="val 8000"/>
            </a:avLst>
          </a:prstGeom>
          <a:solidFill>
            <a:srgbClr val="F7F4EE"/>
          </a:solidFill>
          <a:ln w="12700">
            <a:solidFill>
              <a:srgbClr val="E4DD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14800" y="237744"/>
            <a:ext cx="2103120" cy="274320"/>
          </a:xfrm>
          <a:prstGeom prst="rect">
            <a:avLst/>
          </a:prstGeom>
          <a:noFill/>
        </p:spPr>
        <p:txBody>
          <a:bodyPr wrap="square" lIns="0" tIns="0" rIns="0" bIns="0" anchor="ctr"/>
          <a:lstStyle/>
          <a:p>
            <a:pPr algn="ctr"/>
            <a:r>
              <a:rPr sz="1200" b="0">
                <a:solidFill>
                  <a:srgbClr val="5E584F"/>
                </a:solidFill>
                <a:latin typeface="Calibri"/>
              </a:rPr>
              <a:t>Functions</a:t>
            </a:r>
          </a:p>
        </p:txBody>
      </p:sp>
      <p:sp>
        <p:nvSpPr>
          <p:cNvPr id="5" name="TextBox 4"/>
          <p:cNvSpPr txBox="1"/>
          <p:nvPr/>
        </p:nvSpPr>
        <p:spPr>
          <a:xfrm>
            <a:off x="411480" y="621792"/>
            <a:ext cx="10972800" cy="457200"/>
          </a:xfrm>
          <a:prstGeom prst="rect">
            <a:avLst/>
          </a:prstGeom>
          <a:noFill/>
        </p:spPr>
        <p:txBody>
          <a:bodyPr wrap="square" lIns="0" tIns="0" rIns="0" bIns="0" anchor="t"/>
          <a:lstStyle/>
          <a:p>
            <a:pPr algn="l"/>
            <a:r>
              <a:rPr sz="2800" b="1">
                <a:solidFill>
                  <a:srgbClr val="1C1915"/>
                </a:solidFill>
                <a:latin typeface="Calibri"/>
              </a:rPr>
              <a:t>Five phases, four gates</a:t>
            </a:r>
          </a:p>
        </p:txBody>
      </p:sp>
      <p:sp>
        <p:nvSpPr>
          <p:cNvPr id="6" name="Rounded Rectangle 5"/>
          <p:cNvSpPr/>
          <p:nvPr/>
        </p:nvSpPr>
        <p:spPr>
          <a:xfrm>
            <a:off x="365760" y="1325880"/>
            <a:ext cx="2231136" cy="2148840"/>
          </a:xfrm>
          <a:prstGeom prst="roundRect">
            <a:avLst>
              <a:gd name="adj" fmla="val 8000"/>
            </a:avLst>
          </a:prstGeom>
          <a:solidFill>
            <a:srgbClr val="FFFCF8"/>
          </a:solidFill>
          <a:ln w="12700">
            <a:solidFill>
              <a:srgbClr val="E4DD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93776" y="1444752"/>
            <a:ext cx="1920240" cy="256032"/>
          </a:xfrm>
          <a:prstGeom prst="rect">
            <a:avLst/>
          </a:prstGeom>
          <a:noFill/>
        </p:spPr>
        <p:txBody>
          <a:bodyPr wrap="square" lIns="0" tIns="0" rIns="0" bIns="0" anchor="t"/>
          <a:lstStyle/>
          <a:p>
            <a:pPr algn="l"/>
            <a:r>
              <a:rPr sz="1200" b="1">
                <a:solidFill>
                  <a:srgbClr val="0F5E5A"/>
                </a:solidFill>
                <a:latin typeface="Calibri"/>
              </a:rPr>
              <a:t>P0</a:t>
            </a:r>
          </a:p>
        </p:txBody>
      </p:sp>
      <p:sp>
        <p:nvSpPr>
          <p:cNvPr id="8" name="TextBox 7"/>
          <p:cNvSpPr txBox="1"/>
          <p:nvPr/>
        </p:nvSpPr>
        <p:spPr>
          <a:xfrm>
            <a:off x="493776" y="1719072"/>
            <a:ext cx="1965960" cy="365760"/>
          </a:xfrm>
          <a:prstGeom prst="rect">
            <a:avLst/>
          </a:prstGeom>
          <a:noFill/>
        </p:spPr>
        <p:txBody>
          <a:bodyPr wrap="square" lIns="0" tIns="0" rIns="0" bIns="0" anchor="t"/>
          <a:lstStyle/>
          <a:p>
            <a:pPr algn="l"/>
            <a:r>
              <a:rPr sz="1800" b="1">
                <a:solidFill>
                  <a:srgbClr val="1C1915"/>
                </a:solidFill>
                <a:latin typeface="Calibri"/>
              </a:rPr>
              <a:t>Acceptance</a:t>
            </a:r>
          </a:p>
        </p:txBody>
      </p:sp>
      <p:sp>
        <p:nvSpPr>
          <p:cNvPr id="9" name="TextBox 8"/>
          <p:cNvSpPr txBox="1"/>
          <p:nvPr/>
        </p:nvSpPr>
        <p:spPr>
          <a:xfrm>
            <a:off x="493776" y="2148840"/>
            <a:ext cx="1965960" cy="1143000"/>
          </a:xfrm>
          <a:prstGeom prst="rect">
            <a:avLst/>
          </a:prstGeom>
          <a:noFill/>
        </p:spPr>
        <p:txBody>
          <a:bodyPr wrap="square" lIns="0" tIns="0" rIns="0" bIns="0" anchor="t"/>
          <a:lstStyle/>
          <a:p>
            <a:pPr algn="l"/>
            <a:r>
              <a:rPr sz="1300" b="0">
                <a:solidFill>
                  <a:srgbClr val="5E584F"/>
                </a:solidFill>
                <a:latin typeface="Calibri"/>
              </a:rPr>
              <a:t>Check the ABN and the ASIC register. Prepare the acceptance file.</a:t>
            </a:r>
          </a:p>
        </p:txBody>
      </p:sp>
      <p:sp>
        <p:nvSpPr>
          <p:cNvPr id="10" name="Rounded Rectangle 9"/>
          <p:cNvSpPr/>
          <p:nvPr/>
        </p:nvSpPr>
        <p:spPr>
          <a:xfrm>
            <a:off x="2706624" y="1325880"/>
            <a:ext cx="2231136" cy="2148840"/>
          </a:xfrm>
          <a:prstGeom prst="roundRect">
            <a:avLst>
              <a:gd name="adj" fmla="val 8000"/>
            </a:avLst>
          </a:prstGeom>
          <a:solidFill>
            <a:srgbClr val="FFFCF8"/>
          </a:solidFill>
          <a:ln w="12700">
            <a:solidFill>
              <a:srgbClr val="E4DD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834640" y="1444752"/>
            <a:ext cx="1920240" cy="256032"/>
          </a:xfrm>
          <a:prstGeom prst="rect">
            <a:avLst/>
          </a:prstGeom>
          <a:noFill/>
        </p:spPr>
        <p:txBody>
          <a:bodyPr wrap="square" lIns="0" tIns="0" rIns="0" bIns="0" anchor="t"/>
          <a:lstStyle/>
          <a:p>
            <a:pPr algn="l"/>
            <a:r>
              <a:rPr sz="1200" b="1">
                <a:solidFill>
                  <a:srgbClr val="0F5E5A"/>
                </a:solidFill>
                <a:latin typeface="Calibri"/>
              </a:rPr>
              <a:t>P1</a:t>
            </a:r>
          </a:p>
        </p:txBody>
      </p:sp>
      <p:sp>
        <p:nvSpPr>
          <p:cNvPr id="12" name="TextBox 11"/>
          <p:cNvSpPr txBox="1"/>
          <p:nvPr/>
        </p:nvSpPr>
        <p:spPr>
          <a:xfrm>
            <a:off x="2834640" y="1719072"/>
            <a:ext cx="1965960" cy="365760"/>
          </a:xfrm>
          <a:prstGeom prst="rect">
            <a:avLst/>
          </a:prstGeom>
          <a:noFill/>
        </p:spPr>
        <p:txBody>
          <a:bodyPr wrap="square" lIns="0" tIns="0" rIns="0" bIns="0" anchor="t"/>
          <a:lstStyle/>
          <a:p>
            <a:pPr algn="l"/>
            <a:r>
              <a:rPr sz="1800" b="1">
                <a:solidFill>
                  <a:srgbClr val="1C1915"/>
                </a:solidFill>
                <a:latin typeface="Calibri"/>
              </a:rPr>
              <a:t>Planning</a:t>
            </a:r>
          </a:p>
        </p:txBody>
      </p:sp>
      <p:sp>
        <p:nvSpPr>
          <p:cNvPr id="13" name="TextBox 12"/>
          <p:cNvSpPr txBox="1"/>
          <p:nvPr/>
        </p:nvSpPr>
        <p:spPr>
          <a:xfrm>
            <a:off x="2834640" y="2148840"/>
            <a:ext cx="1965960" cy="1143000"/>
          </a:xfrm>
          <a:prstGeom prst="rect">
            <a:avLst/>
          </a:prstGeom>
          <a:noFill/>
        </p:spPr>
        <p:txBody>
          <a:bodyPr wrap="square" lIns="0" tIns="0" rIns="0" bIns="0" anchor="t"/>
          <a:lstStyle/>
          <a:p>
            <a:pPr algn="l"/>
            <a:r>
              <a:rPr sz="1300" b="0">
                <a:solidFill>
                  <a:srgbClr val="5E584F"/>
                </a:solidFill>
                <a:latin typeface="Calibri"/>
              </a:rPr>
              <a:t>Extract contracts, run a first analysis, and propose materiality and risks.</a:t>
            </a:r>
          </a:p>
        </p:txBody>
      </p:sp>
      <p:sp>
        <p:nvSpPr>
          <p:cNvPr id="14" name="Rounded Rectangle 13"/>
          <p:cNvSpPr/>
          <p:nvPr/>
        </p:nvSpPr>
        <p:spPr>
          <a:xfrm>
            <a:off x="5047488" y="1325880"/>
            <a:ext cx="2231136" cy="2148840"/>
          </a:xfrm>
          <a:prstGeom prst="roundRect">
            <a:avLst>
              <a:gd name="adj" fmla="val 8000"/>
            </a:avLst>
          </a:prstGeom>
          <a:solidFill>
            <a:srgbClr val="FFFCF8"/>
          </a:solidFill>
          <a:ln w="12700">
            <a:solidFill>
              <a:srgbClr val="E4DD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175504" y="1444752"/>
            <a:ext cx="1920240" cy="256032"/>
          </a:xfrm>
          <a:prstGeom prst="rect">
            <a:avLst/>
          </a:prstGeom>
          <a:noFill/>
        </p:spPr>
        <p:txBody>
          <a:bodyPr wrap="square" lIns="0" tIns="0" rIns="0" bIns="0" anchor="t"/>
          <a:lstStyle/>
          <a:p>
            <a:pPr algn="l"/>
            <a:r>
              <a:rPr sz="1200" b="1">
                <a:solidFill>
                  <a:srgbClr val="0F5E5A"/>
                </a:solidFill>
                <a:latin typeface="Calibri"/>
              </a:rPr>
              <a:t>P2</a:t>
            </a:r>
          </a:p>
        </p:txBody>
      </p:sp>
      <p:sp>
        <p:nvSpPr>
          <p:cNvPr id="16" name="TextBox 15"/>
          <p:cNvSpPr txBox="1"/>
          <p:nvPr/>
        </p:nvSpPr>
        <p:spPr>
          <a:xfrm>
            <a:off x="5175504" y="1719072"/>
            <a:ext cx="1965960" cy="365760"/>
          </a:xfrm>
          <a:prstGeom prst="rect">
            <a:avLst/>
          </a:prstGeom>
          <a:noFill/>
        </p:spPr>
        <p:txBody>
          <a:bodyPr wrap="square" lIns="0" tIns="0" rIns="0" bIns="0" anchor="t"/>
          <a:lstStyle/>
          <a:p>
            <a:pPr algn="l"/>
            <a:r>
              <a:rPr sz="1800" b="1">
                <a:solidFill>
                  <a:srgbClr val="1C1915"/>
                </a:solidFill>
                <a:latin typeface="Calibri"/>
              </a:rPr>
              <a:t>Execution</a:t>
            </a:r>
          </a:p>
        </p:txBody>
      </p:sp>
      <p:sp>
        <p:nvSpPr>
          <p:cNvPr id="17" name="TextBox 16"/>
          <p:cNvSpPr txBox="1"/>
          <p:nvPr/>
        </p:nvSpPr>
        <p:spPr>
          <a:xfrm>
            <a:off x="5175504" y="2148840"/>
            <a:ext cx="1965960" cy="1143000"/>
          </a:xfrm>
          <a:prstGeom prst="rect">
            <a:avLst/>
          </a:prstGeom>
          <a:noFill/>
        </p:spPr>
        <p:txBody>
          <a:bodyPr wrap="square" lIns="0" tIns="0" rIns="0" bIns="0" anchor="t"/>
          <a:lstStyle/>
          <a:p>
            <a:pPr algn="l"/>
            <a:r>
              <a:rPr sz="1300" b="0">
                <a:solidFill>
                  <a:srgbClr val="5E584F"/>
                </a:solidFill>
                <a:latin typeface="Calibri"/>
              </a:rPr>
              <a:t>Run procedures in dependency layers. The prototype follows revenue and bank confirmation.</a:t>
            </a:r>
          </a:p>
        </p:txBody>
      </p:sp>
      <p:sp>
        <p:nvSpPr>
          <p:cNvPr id="18" name="Rounded Rectangle 17"/>
          <p:cNvSpPr/>
          <p:nvPr/>
        </p:nvSpPr>
        <p:spPr>
          <a:xfrm>
            <a:off x="7388352" y="1325880"/>
            <a:ext cx="2231136" cy="2148840"/>
          </a:xfrm>
          <a:prstGeom prst="roundRect">
            <a:avLst>
              <a:gd name="adj" fmla="val 8000"/>
            </a:avLst>
          </a:prstGeom>
          <a:solidFill>
            <a:srgbClr val="FFFCF8"/>
          </a:solidFill>
          <a:ln w="12700">
            <a:solidFill>
              <a:srgbClr val="E4DD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516368" y="1444752"/>
            <a:ext cx="1920240" cy="256032"/>
          </a:xfrm>
          <a:prstGeom prst="rect">
            <a:avLst/>
          </a:prstGeom>
          <a:noFill/>
        </p:spPr>
        <p:txBody>
          <a:bodyPr wrap="square" lIns="0" tIns="0" rIns="0" bIns="0" anchor="t"/>
          <a:lstStyle/>
          <a:p>
            <a:pPr algn="l"/>
            <a:r>
              <a:rPr sz="1200" b="1">
                <a:solidFill>
                  <a:srgbClr val="0F5E5A"/>
                </a:solidFill>
                <a:latin typeface="Calibri"/>
              </a:rPr>
              <a:t>P3</a:t>
            </a:r>
          </a:p>
        </p:txBody>
      </p:sp>
      <p:sp>
        <p:nvSpPr>
          <p:cNvPr id="20" name="TextBox 19"/>
          <p:cNvSpPr txBox="1"/>
          <p:nvPr/>
        </p:nvSpPr>
        <p:spPr>
          <a:xfrm>
            <a:off x="7516368" y="1719072"/>
            <a:ext cx="1965960" cy="365760"/>
          </a:xfrm>
          <a:prstGeom prst="rect">
            <a:avLst/>
          </a:prstGeom>
          <a:noFill/>
        </p:spPr>
        <p:txBody>
          <a:bodyPr wrap="square" lIns="0" tIns="0" rIns="0" bIns="0" anchor="t"/>
          <a:lstStyle/>
          <a:p>
            <a:pPr algn="l"/>
            <a:r>
              <a:rPr sz="1800" b="1">
                <a:solidFill>
                  <a:srgbClr val="1C1915"/>
                </a:solidFill>
                <a:latin typeface="Calibri"/>
              </a:rPr>
              <a:t>Completion</a:t>
            </a:r>
          </a:p>
        </p:txBody>
      </p:sp>
      <p:sp>
        <p:nvSpPr>
          <p:cNvPr id="21" name="TextBox 20"/>
          <p:cNvSpPr txBox="1"/>
          <p:nvPr/>
        </p:nvSpPr>
        <p:spPr>
          <a:xfrm>
            <a:off x="7516368" y="2148840"/>
            <a:ext cx="1965960" cy="1143000"/>
          </a:xfrm>
          <a:prstGeom prst="rect">
            <a:avLst/>
          </a:prstGeom>
          <a:noFill/>
        </p:spPr>
        <p:txBody>
          <a:bodyPr wrap="square" lIns="0" tIns="0" rIns="0" bIns="0" anchor="t"/>
          <a:lstStyle/>
          <a:p>
            <a:pPr algn="l"/>
            <a:r>
              <a:rPr sz="1300" b="0">
                <a:solidFill>
                  <a:srgbClr val="5E584F"/>
                </a:solidFill>
                <a:latin typeface="Calibri"/>
              </a:rPr>
              <a:t>Add up uncorrected misstatements and propose an opinion type.</a:t>
            </a:r>
          </a:p>
        </p:txBody>
      </p:sp>
      <p:sp>
        <p:nvSpPr>
          <p:cNvPr id="22" name="Rounded Rectangle 21"/>
          <p:cNvSpPr/>
          <p:nvPr/>
        </p:nvSpPr>
        <p:spPr>
          <a:xfrm>
            <a:off x="9729216" y="1325880"/>
            <a:ext cx="2231136" cy="2148840"/>
          </a:xfrm>
          <a:prstGeom prst="roundRect">
            <a:avLst>
              <a:gd name="adj" fmla="val 8000"/>
            </a:avLst>
          </a:prstGeom>
          <a:solidFill>
            <a:srgbClr val="FFFCF8"/>
          </a:solidFill>
          <a:ln w="12700">
            <a:solidFill>
              <a:srgbClr val="E4DD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857232" y="1444752"/>
            <a:ext cx="1920240" cy="256032"/>
          </a:xfrm>
          <a:prstGeom prst="rect">
            <a:avLst/>
          </a:prstGeom>
          <a:noFill/>
        </p:spPr>
        <p:txBody>
          <a:bodyPr wrap="square" lIns="0" tIns="0" rIns="0" bIns="0" anchor="t"/>
          <a:lstStyle/>
          <a:p>
            <a:pPr algn="l"/>
            <a:r>
              <a:rPr sz="1200" b="1">
                <a:solidFill>
                  <a:srgbClr val="0F5E5A"/>
                </a:solidFill>
                <a:latin typeface="Calibri"/>
              </a:rPr>
              <a:t>P4</a:t>
            </a:r>
          </a:p>
        </p:txBody>
      </p:sp>
      <p:sp>
        <p:nvSpPr>
          <p:cNvPr id="24" name="TextBox 23"/>
          <p:cNvSpPr txBox="1"/>
          <p:nvPr/>
        </p:nvSpPr>
        <p:spPr>
          <a:xfrm>
            <a:off x="9857232" y="1719072"/>
            <a:ext cx="1965960" cy="365760"/>
          </a:xfrm>
          <a:prstGeom prst="rect">
            <a:avLst/>
          </a:prstGeom>
          <a:noFill/>
        </p:spPr>
        <p:txBody>
          <a:bodyPr wrap="square" lIns="0" tIns="0" rIns="0" bIns="0" anchor="t"/>
          <a:lstStyle/>
          <a:p>
            <a:pPr algn="l"/>
            <a:r>
              <a:rPr sz="1800" b="1">
                <a:solidFill>
                  <a:srgbClr val="1C1915"/>
                </a:solidFill>
                <a:latin typeface="Calibri"/>
              </a:rPr>
              <a:t>Reporting</a:t>
            </a:r>
          </a:p>
        </p:txBody>
      </p:sp>
      <p:sp>
        <p:nvSpPr>
          <p:cNvPr id="25" name="TextBox 24"/>
          <p:cNvSpPr txBox="1"/>
          <p:nvPr/>
        </p:nvSpPr>
        <p:spPr>
          <a:xfrm>
            <a:off x="9857232" y="2148840"/>
            <a:ext cx="1965960" cy="1143000"/>
          </a:xfrm>
          <a:prstGeom prst="rect">
            <a:avLst/>
          </a:prstGeom>
          <a:noFill/>
        </p:spPr>
        <p:txBody>
          <a:bodyPr wrap="square" lIns="0" tIns="0" rIns="0" bIns="0" anchor="t"/>
          <a:lstStyle/>
          <a:p>
            <a:pPr algn="l"/>
            <a:r>
              <a:rPr sz="1300" b="0">
                <a:solidFill>
                  <a:srgbClr val="5E584F"/>
                </a:solidFill>
                <a:latin typeface="Calibri"/>
              </a:rPr>
              <a:t>Draft the report. Comments send it back. A signature locks it.</a:t>
            </a:r>
          </a:p>
        </p:txBody>
      </p:sp>
      <p:sp>
        <p:nvSpPr>
          <p:cNvPr id="26" name="Rounded Rectangle 25"/>
          <p:cNvSpPr/>
          <p:nvPr/>
        </p:nvSpPr>
        <p:spPr>
          <a:xfrm>
            <a:off x="365760" y="3657600"/>
            <a:ext cx="2816352" cy="1051560"/>
          </a:xfrm>
          <a:prstGeom prst="roundRect">
            <a:avLst>
              <a:gd name="adj" fmla="val 8000"/>
            </a:avLst>
          </a:prstGeom>
          <a:solidFill>
            <a:srgbClr val="F8EF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93776" y="3749039"/>
            <a:ext cx="2560320" cy="292608"/>
          </a:xfrm>
          <a:prstGeom prst="rect">
            <a:avLst/>
          </a:prstGeom>
          <a:noFill/>
        </p:spPr>
        <p:txBody>
          <a:bodyPr wrap="square" lIns="0" tIns="0" rIns="0" bIns="0" anchor="t"/>
          <a:lstStyle/>
          <a:p>
            <a:pPr algn="l"/>
            <a:r>
              <a:rPr sz="1300" b="1">
                <a:solidFill>
                  <a:srgbClr val="8C4A1F"/>
                </a:solidFill>
                <a:latin typeface="Calibri"/>
              </a:rPr>
              <a:t>Gate · acceptance</a:t>
            </a:r>
          </a:p>
        </p:txBody>
      </p:sp>
      <p:sp>
        <p:nvSpPr>
          <p:cNvPr id="28" name="TextBox 27"/>
          <p:cNvSpPr txBox="1"/>
          <p:nvPr/>
        </p:nvSpPr>
        <p:spPr>
          <a:xfrm>
            <a:off x="493776" y="4069080"/>
            <a:ext cx="2560320" cy="502920"/>
          </a:xfrm>
          <a:prstGeom prst="rect">
            <a:avLst/>
          </a:prstGeom>
          <a:noFill/>
        </p:spPr>
        <p:txBody>
          <a:bodyPr wrap="square" lIns="0" tIns="0" rIns="0" bIns="0" anchor="t"/>
          <a:lstStyle/>
          <a:p>
            <a:pPr algn="l"/>
            <a:r>
              <a:rPr sz="1400" b="0">
                <a:solidFill>
                  <a:srgbClr val="1C1915"/>
                </a:solidFill>
                <a:latin typeface="Calibri"/>
              </a:rPr>
              <a:t>Whether to take the engagement</a:t>
            </a:r>
          </a:p>
        </p:txBody>
      </p:sp>
      <p:sp>
        <p:nvSpPr>
          <p:cNvPr id="29" name="Rounded Rectangle 28"/>
          <p:cNvSpPr/>
          <p:nvPr/>
        </p:nvSpPr>
        <p:spPr>
          <a:xfrm>
            <a:off x="3310128" y="3657600"/>
            <a:ext cx="2816352" cy="1051560"/>
          </a:xfrm>
          <a:prstGeom prst="roundRect">
            <a:avLst>
              <a:gd name="adj" fmla="val 8000"/>
            </a:avLst>
          </a:prstGeom>
          <a:solidFill>
            <a:srgbClr val="F8EF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3438144" y="3749039"/>
            <a:ext cx="2560320" cy="292608"/>
          </a:xfrm>
          <a:prstGeom prst="rect">
            <a:avLst/>
          </a:prstGeom>
          <a:noFill/>
        </p:spPr>
        <p:txBody>
          <a:bodyPr wrap="square" lIns="0" tIns="0" rIns="0" bIns="0" anchor="t"/>
          <a:lstStyle/>
          <a:p>
            <a:pPr algn="l"/>
            <a:r>
              <a:rPr sz="1300" b="1">
                <a:solidFill>
                  <a:srgbClr val="8C4A1F"/>
                </a:solidFill>
                <a:latin typeface="Calibri"/>
              </a:rPr>
              <a:t>Gate · planning</a:t>
            </a:r>
          </a:p>
        </p:txBody>
      </p:sp>
      <p:sp>
        <p:nvSpPr>
          <p:cNvPr id="31" name="TextBox 30"/>
          <p:cNvSpPr txBox="1"/>
          <p:nvPr/>
        </p:nvSpPr>
        <p:spPr>
          <a:xfrm>
            <a:off x="3438144" y="4069080"/>
            <a:ext cx="2560320" cy="502920"/>
          </a:xfrm>
          <a:prstGeom prst="rect">
            <a:avLst/>
          </a:prstGeom>
          <a:noFill/>
        </p:spPr>
        <p:txBody>
          <a:bodyPr wrap="square" lIns="0" tIns="0" rIns="0" bIns="0" anchor="t"/>
          <a:lstStyle/>
          <a:p>
            <a:pPr algn="l"/>
            <a:r>
              <a:rPr sz="1400" b="0">
                <a:solidFill>
                  <a:srgbClr val="1C1915"/>
                </a:solidFill>
                <a:latin typeface="Calibri"/>
              </a:rPr>
              <a:t>Confirm materiality and the risk list</a:t>
            </a:r>
          </a:p>
        </p:txBody>
      </p:sp>
      <p:sp>
        <p:nvSpPr>
          <p:cNvPr id="32" name="Rounded Rectangle 31"/>
          <p:cNvSpPr/>
          <p:nvPr/>
        </p:nvSpPr>
        <p:spPr>
          <a:xfrm>
            <a:off x="6254496" y="3657600"/>
            <a:ext cx="2816352" cy="1051560"/>
          </a:xfrm>
          <a:prstGeom prst="roundRect">
            <a:avLst>
              <a:gd name="adj" fmla="val 8000"/>
            </a:avLst>
          </a:prstGeom>
          <a:solidFill>
            <a:srgbClr val="F8EF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6382512" y="3749039"/>
            <a:ext cx="2560320" cy="292608"/>
          </a:xfrm>
          <a:prstGeom prst="rect">
            <a:avLst/>
          </a:prstGeom>
          <a:noFill/>
        </p:spPr>
        <p:txBody>
          <a:bodyPr wrap="square" lIns="0" tIns="0" rIns="0" bIns="0" anchor="t"/>
          <a:lstStyle/>
          <a:p>
            <a:pPr algn="l"/>
            <a:r>
              <a:rPr sz="1300" b="1">
                <a:solidFill>
                  <a:srgbClr val="8C4A1F"/>
                </a:solidFill>
                <a:latin typeface="Calibri"/>
              </a:rPr>
              <a:t>Gate · opinion</a:t>
            </a:r>
          </a:p>
        </p:txBody>
      </p:sp>
      <p:sp>
        <p:nvSpPr>
          <p:cNvPr id="34" name="TextBox 33"/>
          <p:cNvSpPr txBox="1"/>
          <p:nvPr/>
        </p:nvSpPr>
        <p:spPr>
          <a:xfrm>
            <a:off x="6382512" y="4069080"/>
            <a:ext cx="2560320" cy="502920"/>
          </a:xfrm>
          <a:prstGeom prst="rect">
            <a:avLst/>
          </a:prstGeom>
          <a:noFill/>
        </p:spPr>
        <p:txBody>
          <a:bodyPr wrap="square" lIns="0" tIns="0" rIns="0" bIns="0" anchor="t"/>
          <a:lstStyle/>
          <a:p>
            <a:pPr algn="l"/>
            <a:r>
              <a:rPr sz="1400" b="0">
                <a:solidFill>
                  <a:srgbClr val="1C1915"/>
                </a:solidFill>
                <a:latin typeface="Calibri"/>
              </a:rPr>
              <a:t>Confirm the opinion type</a:t>
            </a:r>
          </a:p>
        </p:txBody>
      </p:sp>
      <p:sp>
        <p:nvSpPr>
          <p:cNvPr id="35" name="Rounded Rectangle 34"/>
          <p:cNvSpPr/>
          <p:nvPr/>
        </p:nvSpPr>
        <p:spPr>
          <a:xfrm>
            <a:off x="9198864" y="3657600"/>
            <a:ext cx="2816352" cy="1051560"/>
          </a:xfrm>
          <a:prstGeom prst="roundRect">
            <a:avLst>
              <a:gd name="adj" fmla="val 8000"/>
            </a:avLst>
          </a:prstGeom>
          <a:solidFill>
            <a:srgbClr val="F8EF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9326880" y="3749039"/>
            <a:ext cx="2560320" cy="292608"/>
          </a:xfrm>
          <a:prstGeom prst="rect">
            <a:avLst/>
          </a:prstGeom>
          <a:noFill/>
        </p:spPr>
        <p:txBody>
          <a:bodyPr wrap="square" lIns="0" tIns="0" rIns="0" bIns="0" anchor="t"/>
          <a:lstStyle/>
          <a:p>
            <a:pPr algn="l"/>
            <a:r>
              <a:rPr sz="1300" b="1">
                <a:solidFill>
                  <a:srgbClr val="8C4A1F"/>
                </a:solidFill>
                <a:latin typeface="Calibri"/>
              </a:rPr>
              <a:t>Gate · signature</a:t>
            </a:r>
          </a:p>
        </p:txBody>
      </p:sp>
      <p:sp>
        <p:nvSpPr>
          <p:cNvPr id="37" name="TextBox 36"/>
          <p:cNvSpPr txBox="1"/>
          <p:nvPr/>
        </p:nvSpPr>
        <p:spPr>
          <a:xfrm>
            <a:off x="9326880" y="4069080"/>
            <a:ext cx="2560320" cy="502920"/>
          </a:xfrm>
          <a:prstGeom prst="rect">
            <a:avLst/>
          </a:prstGeom>
          <a:noFill/>
        </p:spPr>
        <p:txBody>
          <a:bodyPr wrap="square" lIns="0" tIns="0" rIns="0" bIns="0" anchor="t"/>
          <a:lstStyle/>
          <a:p>
            <a:pPr algn="l"/>
            <a:r>
              <a:rPr sz="1400" b="0">
                <a:solidFill>
                  <a:srgbClr val="1C1915"/>
                </a:solidFill>
                <a:latin typeface="Calibri"/>
              </a:rPr>
              <a:t>Send it back, or sign and archive</a:t>
            </a:r>
          </a:p>
        </p:txBody>
      </p:sp>
      <p:sp>
        <p:nvSpPr>
          <p:cNvPr id="38" name="Rounded Rectangle 37"/>
          <p:cNvSpPr/>
          <p:nvPr/>
        </p:nvSpPr>
        <p:spPr>
          <a:xfrm>
            <a:off x="365760" y="4937760"/>
            <a:ext cx="2816352" cy="438912"/>
          </a:xfrm>
          <a:prstGeom prst="roundRect">
            <a:avLst>
              <a:gd name="adj" fmla="val 8000"/>
            </a:avLst>
          </a:prstGeom>
          <a:solidFill>
            <a:srgbClr val="E8EE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365760" y="4937760"/>
            <a:ext cx="2816352" cy="438912"/>
          </a:xfrm>
          <a:prstGeom prst="rect">
            <a:avLst/>
          </a:prstGeom>
          <a:noFill/>
        </p:spPr>
        <p:txBody>
          <a:bodyPr wrap="square" lIns="0" tIns="0" rIns="0" bIns="0" anchor="ctr"/>
          <a:lstStyle/>
          <a:p>
            <a:pPr algn="ctr"/>
            <a:r>
              <a:rPr sz="1300" b="0">
                <a:solidFill>
                  <a:srgbClr val="1B3048"/>
                </a:solidFill>
                <a:latin typeface="Calibri"/>
              </a:rPr>
              <a:t>Resumes from a checkpoint</a:t>
            </a:r>
          </a:p>
        </p:txBody>
      </p:sp>
      <p:sp>
        <p:nvSpPr>
          <p:cNvPr id="40" name="Rounded Rectangle 39"/>
          <p:cNvSpPr/>
          <p:nvPr/>
        </p:nvSpPr>
        <p:spPr>
          <a:xfrm>
            <a:off x="3310128" y="4937760"/>
            <a:ext cx="2816352" cy="438912"/>
          </a:xfrm>
          <a:prstGeom prst="roundRect">
            <a:avLst>
              <a:gd name="adj" fmla="val 8000"/>
            </a:avLst>
          </a:prstGeom>
          <a:solidFill>
            <a:srgbClr val="E8EE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3310128" y="4937760"/>
            <a:ext cx="2816352" cy="438912"/>
          </a:xfrm>
          <a:prstGeom prst="rect">
            <a:avLst/>
          </a:prstGeom>
          <a:noFill/>
        </p:spPr>
        <p:txBody>
          <a:bodyPr wrap="square" lIns="0" tIns="0" rIns="0" bIns="0" anchor="ctr"/>
          <a:lstStyle/>
          <a:p>
            <a:pPr algn="ctr"/>
            <a:r>
              <a:rPr sz="1300" b="0">
                <a:solidFill>
                  <a:srgbClr val="1B3048"/>
                </a:solidFill>
                <a:latin typeface="Calibri"/>
              </a:rPr>
              <a:t>161 procedures, assembled by risk</a:t>
            </a:r>
          </a:p>
        </p:txBody>
      </p:sp>
      <p:sp>
        <p:nvSpPr>
          <p:cNvPr id="42" name="Rounded Rectangle 41"/>
          <p:cNvSpPr/>
          <p:nvPr/>
        </p:nvSpPr>
        <p:spPr>
          <a:xfrm>
            <a:off x="6254496" y="4937760"/>
            <a:ext cx="2816352" cy="438912"/>
          </a:xfrm>
          <a:prstGeom prst="roundRect">
            <a:avLst>
              <a:gd name="adj" fmla="val 8000"/>
            </a:avLst>
          </a:prstGeom>
          <a:solidFill>
            <a:srgbClr val="E8EE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6254496" y="4937760"/>
            <a:ext cx="2816352" cy="438912"/>
          </a:xfrm>
          <a:prstGeom prst="rect">
            <a:avLst/>
          </a:prstGeom>
          <a:noFill/>
        </p:spPr>
        <p:txBody>
          <a:bodyPr wrap="square" lIns="0" tIns="0" rIns="0" bIns="0" anchor="ctr"/>
          <a:lstStyle/>
          <a:p>
            <a:pPr algn="ctr"/>
            <a:r>
              <a:rPr sz="1300" b="0">
                <a:solidFill>
                  <a:srgbClr val="1B3048"/>
                </a:solidFill>
                <a:latin typeface="Calibri"/>
              </a:rPr>
              <a:t>This prototype runs 17</a:t>
            </a:r>
          </a:p>
        </p:txBody>
      </p:sp>
      <p:sp>
        <p:nvSpPr>
          <p:cNvPr id="44" name="Rounded Rectangle 43"/>
          <p:cNvSpPr/>
          <p:nvPr/>
        </p:nvSpPr>
        <p:spPr>
          <a:xfrm>
            <a:off x="9198864" y="4937760"/>
            <a:ext cx="2816352" cy="438912"/>
          </a:xfrm>
          <a:prstGeom prst="roundRect">
            <a:avLst>
              <a:gd name="adj" fmla="val 8000"/>
            </a:avLst>
          </a:prstGeom>
          <a:solidFill>
            <a:srgbClr val="E8EE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9198864" y="4937760"/>
            <a:ext cx="2816352" cy="438912"/>
          </a:xfrm>
          <a:prstGeom prst="rect">
            <a:avLst/>
          </a:prstGeom>
          <a:noFill/>
        </p:spPr>
        <p:txBody>
          <a:bodyPr wrap="square" lIns="0" tIns="0" rIns="0" bIns="0" anchor="ctr"/>
          <a:lstStyle/>
          <a:p>
            <a:pPr algn="ctr"/>
            <a:r>
              <a:rPr sz="1300" b="0">
                <a:solidFill>
                  <a:srgbClr val="1B3048"/>
                </a:solidFill>
                <a:latin typeface="Calibri"/>
              </a:rPr>
              <a:t>Rule, hybrid, model, manual</a:t>
            </a:r>
          </a:p>
        </p:txBody>
      </p:sp>
      <p:sp>
        <p:nvSpPr>
          <p:cNvPr id="46" name="TextBox 45"/>
          <p:cNvSpPr txBox="1"/>
          <p:nvPr/>
        </p:nvSpPr>
        <p:spPr>
          <a:xfrm>
            <a:off x="411480" y="6510528"/>
            <a:ext cx="5486400" cy="256032"/>
          </a:xfrm>
          <a:prstGeom prst="rect">
            <a:avLst/>
          </a:prstGeom>
          <a:noFill/>
        </p:spPr>
        <p:txBody>
          <a:bodyPr wrap="square" lIns="0" tIns="0" rIns="0" bIns="0" anchor="t"/>
          <a:lstStyle/>
          <a:p>
            <a:pPr algn="l"/>
            <a:r>
              <a:rPr sz="1200" b="0">
                <a:solidFill>
                  <a:srgbClr val="5E584F"/>
                </a:solidFill>
                <a:latin typeface="Calibri"/>
              </a:rPr>
              <a:t>ELEC5620 · Group 16</a:t>
            </a:r>
          </a:p>
        </p:txBody>
      </p:sp>
      <p:sp>
        <p:nvSpPr>
          <p:cNvPr id="47" name="TextBox 46"/>
          <p:cNvSpPr txBox="1"/>
          <p:nvPr/>
        </p:nvSpPr>
        <p:spPr>
          <a:xfrm>
            <a:off x="9509760" y="6510528"/>
            <a:ext cx="2286000" cy="256032"/>
          </a:xfrm>
          <a:prstGeom prst="rect">
            <a:avLst/>
          </a:prstGeom>
          <a:noFill/>
        </p:spPr>
        <p:txBody>
          <a:bodyPr wrap="square" lIns="0" tIns="0" rIns="0" bIns="0" anchor="t"/>
          <a:lstStyle/>
          <a:p>
            <a:pPr algn="r"/>
            <a:r>
              <a:rPr sz="1200" b="0">
                <a:solidFill>
                  <a:srgbClr val="5E584F"/>
                </a:solidFill>
                <a:latin typeface="Calibri"/>
              </a:rPr>
              <a:t>3 / 39</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4EE"/>
        </a:solidFill>
        <a:effectLst/>
      </p:bgPr>
    </p:bg>
    <p:spTree>
      <p:nvGrpSpPr>
        <p:cNvPr id="1" name=""/>
        <p:cNvGrpSpPr/>
        <p:nvPr/>
      </p:nvGrpSpPr>
      <p:grpSpPr>
        <a:xfrm>
          <a:off x="0" y="0"/>
          <a:ext cx="0" cy="0"/>
          <a:chOff x="0" y="0"/>
          <a:chExt cx="0" cy="0"/>
        </a:xfrm>
      </p:grpSpPr>
      <p:sp>
        <p:nvSpPr>
          <p:cNvPr id="2" name="TextBox 1"/>
          <p:cNvSpPr txBox="1"/>
          <p:nvPr/>
        </p:nvSpPr>
        <p:spPr>
          <a:xfrm>
            <a:off x="411480" y="256032"/>
            <a:ext cx="3840480" cy="256032"/>
          </a:xfrm>
          <a:prstGeom prst="rect">
            <a:avLst/>
          </a:prstGeom>
          <a:noFill/>
        </p:spPr>
        <p:txBody>
          <a:bodyPr wrap="square" lIns="0" tIns="0" rIns="0" bIns="0" anchor="t"/>
          <a:lstStyle/>
          <a:p>
            <a:pPr algn="l"/>
            <a:r>
              <a:rPr sz="1200" b="1">
                <a:solidFill>
                  <a:srgbClr val="0F5E5A"/>
                </a:solidFill>
                <a:latin typeface="Calibri"/>
              </a:rPr>
              <a:t>MEMBER A</a:t>
            </a:r>
          </a:p>
        </p:txBody>
      </p:sp>
      <p:sp>
        <p:nvSpPr>
          <p:cNvPr id="3" name="Rounded Rectangle 2"/>
          <p:cNvSpPr/>
          <p:nvPr/>
        </p:nvSpPr>
        <p:spPr>
          <a:xfrm>
            <a:off x="4114800" y="237744"/>
            <a:ext cx="2103120" cy="274320"/>
          </a:xfrm>
          <a:prstGeom prst="roundRect">
            <a:avLst>
              <a:gd name="adj" fmla="val 8000"/>
            </a:avLst>
          </a:prstGeom>
          <a:solidFill>
            <a:srgbClr val="F7F4EE"/>
          </a:solidFill>
          <a:ln w="12700">
            <a:solidFill>
              <a:srgbClr val="E4DD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14800" y="237744"/>
            <a:ext cx="2103120" cy="274320"/>
          </a:xfrm>
          <a:prstGeom prst="rect">
            <a:avLst/>
          </a:prstGeom>
          <a:noFill/>
        </p:spPr>
        <p:txBody>
          <a:bodyPr wrap="square" lIns="0" tIns="0" rIns="0" bIns="0" anchor="ctr"/>
          <a:lstStyle/>
          <a:p>
            <a:pPr algn="ctr"/>
            <a:r>
              <a:rPr sz="1200" b="0">
                <a:solidFill>
                  <a:srgbClr val="5E584F"/>
                </a:solidFill>
                <a:latin typeface="Calibri"/>
              </a:rPr>
              <a:t>Agents</a:t>
            </a:r>
          </a:p>
        </p:txBody>
      </p:sp>
      <p:sp>
        <p:nvSpPr>
          <p:cNvPr id="5" name="TextBox 4"/>
          <p:cNvSpPr txBox="1"/>
          <p:nvPr/>
        </p:nvSpPr>
        <p:spPr>
          <a:xfrm>
            <a:off x="411480" y="621792"/>
            <a:ext cx="10972800" cy="438912"/>
          </a:xfrm>
          <a:prstGeom prst="rect">
            <a:avLst/>
          </a:prstGeom>
          <a:noFill/>
        </p:spPr>
        <p:txBody>
          <a:bodyPr wrap="square" lIns="0" tIns="0" rIns="0" bIns="0" anchor="t"/>
          <a:lstStyle/>
          <a:p>
            <a:pPr algn="l"/>
            <a:r>
              <a:rPr sz="2800" b="1">
                <a:solidFill>
                  <a:srgbClr val="1C1915"/>
                </a:solidFill>
                <a:latin typeface="Calibri"/>
              </a:rPr>
              <a:t>Ten agents, split by what they produce</a:t>
            </a:r>
          </a:p>
        </p:txBody>
      </p:sp>
      <p:sp>
        <p:nvSpPr>
          <p:cNvPr id="6" name="Rounded Rectangle 5"/>
          <p:cNvSpPr/>
          <p:nvPr/>
        </p:nvSpPr>
        <p:spPr>
          <a:xfrm>
            <a:off x="365760" y="1170432"/>
            <a:ext cx="1234440" cy="932688"/>
          </a:xfrm>
          <a:prstGeom prst="roundRect">
            <a:avLst>
              <a:gd name="adj" fmla="val 8000"/>
            </a:avLst>
          </a:prstGeom>
          <a:solidFill>
            <a:srgbClr val="1B30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65760" y="1170432"/>
            <a:ext cx="1234440" cy="932688"/>
          </a:xfrm>
          <a:prstGeom prst="rect">
            <a:avLst/>
          </a:prstGeom>
          <a:noFill/>
        </p:spPr>
        <p:txBody>
          <a:bodyPr wrap="square" lIns="0" tIns="0" rIns="0" bIns="0" anchor="ctr"/>
          <a:lstStyle/>
          <a:p>
            <a:pPr algn="ctr"/>
            <a:r>
              <a:rPr sz="1300" b="1">
                <a:solidFill>
                  <a:srgbClr val="F4EFE6"/>
                </a:solidFill>
                <a:latin typeface="Calibri"/>
              </a:rPr>
              <a:t>Control</a:t>
            </a:r>
          </a:p>
        </p:txBody>
      </p:sp>
      <p:sp>
        <p:nvSpPr>
          <p:cNvPr id="8" name="Rounded Rectangle 7"/>
          <p:cNvSpPr/>
          <p:nvPr/>
        </p:nvSpPr>
        <p:spPr>
          <a:xfrm>
            <a:off x="1737360" y="1170432"/>
            <a:ext cx="10332720" cy="932688"/>
          </a:xfrm>
          <a:prstGeom prst="roundRect">
            <a:avLst>
              <a:gd name="adj" fmla="val 8000"/>
            </a:avLst>
          </a:prstGeom>
          <a:solidFill>
            <a:srgbClr val="FFFCF8"/>
          </a:solidFill>
          <a:ln w="12700">
            <a:solidFill>
              <a:srgbClr val="E4DD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847088" y="1261872"/>
            <a:ext cx="10149840" cy="292608"/>
          </a:xfrm>
          <a:prstGeom prst="rect">
            <a:avLst/>
          </a:prstGeom>
          <a:noFill/>
        </p:spPr>
        <p:txBody>
          <a:bodyPr wrap="square" lIns="0" tIns="0" rIns="0" bIns="0" anchor="t"/>
          <a:lstStyle/>
          <a:p>
            <a:pPr algn="l"/>
            <a:r>
              <a:rPr sz="1400" b="1">
                <a:solidFill>
                  <a:srgbClr val="1C1915"/>
                </a:solidFill>
                <a:latin typeface="Calibri"/>
              </a:rPr>
              <a:t>A1  Orchestrator</a:t>
            </a:r>
          </a:p>
        </p:txBody>
      </p:sp>
      <p:sp>
        <p:nvSpPr>
          <p:cNvPr id="10" name="TextBox 9"/>
          <p:cNvSpPr txBox="1"/>
          <p:nvPr/>
        </p:nvSpPr>
        <p:spPr>
          <a:xfrm>
            <a:off x="1847088" y="1554480"/>
            <a:ext cx="10149840" cy="475488"/>
          </a:xfrm>
          <a:prstGeom prst="rect">
            <a:avLst/>
          </a:prstGeom>
          <a:noFill/>
        </p:spPr>
        <p:txBody>
          <a:bodyPr wrap="square" lIns="0" tIns="0" rIns="0" bIns="0" anchor="t"/>
          <a:lstStyle/>
          <a:p>
            <a:pPr algn="l"/>
            <a:r>
              <a:rPr sz="1300" b="0">
                <a:solidFill>
                  <a:srgbClr val="5E584F"/>
                </a:solidFill>
                <a:latin typeface="Calibri"/>
              </a:rPr>
              <a:t>State machine, gates, pack assembly, parallel schedule, and the trail. No language model.</a:t>
            </a:r>
          </a:p>
        </p:txBody>
      </p:sp>
      <p:sp>
        <p:nvSpPr>
          <p:cNvPr id="11" name="Rounded Rectangle 10"/>
          <p:cNvSpPr/>
          <p:nvPr/>
        </p:nvSpPr>
        <p:spPr>
          <a:xfrm>
            <a:off x="365760" y="2176272"/>
            <a:ext cx="1234440" cy="987552"/>
          </a:xfrm>
          <a:prstGeom prst="roundRect">
            <a:avLst>
              <a:gd name="adj" fmla="val 8000"/>
            </a:avLst>
          </a:prstGeom>
          <a:solidFill>
            <a:srgbClr val="0F5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65760" y="2176272"/>
            <a:ext cx="1234440" cy="987552"/>
          </a:xfrm>
          <a:prstGeom prst="rect">
            <a:avLst/>
          </a:prstGeom>
          <a:noFill/>
        </p:spPr>
        <p:txBody>
          <a:bodyPr wrap="square" lIns="0" tIns="0" rIns="0" bIns="0" anchor="ctr"/>
          <a:lstStyle/>
          <a:p>
            <a:pPr algn="ctr"/>
            <a:r>
              <a:rPr sz="1300" b="1">
                <a:solidFill>
                  <a:srgbClr val="F4EFE6"/>
                </a:solidFill>
                <a:latin typeface="Calibri"/>
              </a:rPr>
              <a:t>Accept
&amp; plan</a:t>
            </a:r>
          </a:p>
        </p:txBody>
      </p:sp>
      <p:sp>
        <p:nvSpPr>
          <p:cNvPr id="13" name="Rounded Rectangle 12"/>
          <p:cNvSpPr/>
          <p:nvPr/>
        </p:nvSpPr>
        <p:spPr>
          <a:xfrm>
            <a:off x="1737360" y="2176272"/>
            <a:ext cx="3371088" cy="987552"/>
          </a:xfrm>
          <a:prstGeom prst="roundRect">
            <a:avLst>
              <a:gd name="adj" fmla="val 8000"/>
            </a:avLst>
          </a:prstGeom>
          <a:solidFill>
            <a:srgbClr val="FFFCF8"/>
          </a:solidFill>
          <a:ln w="12700">
            <a:solidFill>
              <a:srgbClr val="E4DD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847088" y="2267712"/>
            <a:ext cx="3188208" cy="292608"/>
          </a:xfrm>
          <a:prstGeom prst="rect">
            <a:avLst/>
          </a:prstGeom>
          <a:noFill/>
        </p:spPr>
        <p:txBody>
          <a:bodyPr wrap="square" lIns="0" tIns="0" rIns="0" bIns="0" anchor="t"/>
          <a:lstStyle/>
          <a:p>
            <a:pPr algn="l"/>
            <a:r>
              <a:rPr sz="1400" b="1">
                <a:solidFill>
                  <a:srgbClr val="1C1915"/>
                </a:solidFill>
                <a:latin typeface="Calibri"/>
              </a:rPr>
              <a:t>A2  ClientIntel</a:t>
            </a:r>
          </a:p>
        </p:txBody>
      </p:sp>
      <p:sp>
        <p:nvSpPr>
          <p:cNvPr id="15" name="TextBox 14"/>
          <p:cNvSpPr txBox="1"/>
          <p:nvPr/>
        </p:nvSpPr>
        <p:spPr>
          <a:xfrm>
            <a:off x="1847088" y="2560320"/>
            <a:ext cx="3188208" cy="530352"/>
          </a:xfrm>
          <a:prstGeom prst="rect">
            <a:avLst/>
          </a:prstGeom>
          <a:noFill/>
        </p:spPr>
        <p:txBody>
          <a:bodyPr wrap="square" lIns="0" tIns="0" rIns="0" bIns="0" anchor="t"/>
          <a:lstStyle/>
          <a:p>
            <a:pPr algn="l"/>
            <a:r>
              <a:rPr sz="1300" b="0">
                <a:solidFill>
                  <a:srgbClr val="5E584F"/>
                </a:solidFill>
                <a:latin typeface="Calibri"/>
              </a:rPr>
              <a:t>Background, independence, acceptance score</a:t>
            </a:r>
          </a:p>
        </p:txBody>
      </p:sp>
      <p:sp>
        <p:nvSpPr>
          <p:cNvPr id="16" name="Rounded Rectangle 15"/>
          <p:cNvSpPr/>
          <p:nvPr/>
        </p:nvSpPr>
        <p:spPr>
          <a:xfrm>
            <a:off x="5218176" y="2176272"/>
            <a:ext cx="3371088" cy="987552"/>
          </a:xfrm>
          <a:prstGeom prst="roundRect">
            <a:avLst>
              <a:gd name="adj" fmla="val 8000"/>
            </a:avLst>
          </a:prstGeom>
          <a:solidFill>
            <a:srgbClr val="FFFCF8"/>
          </a:solidFill>
          <a:ln w="12700">
            <a:solidFill>
              <a:srgbClr val="E4DD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327904" y="2267712"/>
            <a:ext cx="3188208" cy="292608"/>
          </a:xfrm>
          <a:prstGeom prst="rect">
            <a:avLst/>
          </a:prstGeom>
          <a:noFill/>
        </p:spPr>
        <p:txBody>
          <a:bodyPr wrap="square" lIns="0" tIns="0" rIns="0" bIns="0" anchor="t"/>
          <a:lstStyle/>
          <a:p>
            <a:pPr algn="l"/>
            <a:r>
              <a:rPr sz="1400" b="1">
                <a:solidFill>
                  <a:srgbClr val="1C1915"/>
                </a:solidFill>
                <a:latin typeface="Calibri"/>
              </a:rPr>
              <a:t>A3  IngestAgent</a:t>
            </a:r>
          </a:p>
        </p:txBody>
      </p:sp>
      <p:sp>
        <p:nvSpPr>
          <p:cNvPr id="18" name="TextBox 17"/>
          <p:cNvSpPr txBox="1"/>
          <p:nvPr/>
        </p:nvSpPr>
        <p:spPr>
          <a:xfrm>
            <a:off x="5327904" y="2560320"/>
            <a:ext cx="3188208" cy="530352"/>
          </a:xfrm>
          <a:prstGeom prst="rect">
            <a:avLst/>
          </a:prstGeom>
          <a:noFill/>
        </p:spPr>
        <p:txBody>
          <a:bodyPr wrap="square" lIns="0" tIns="0" rIns="0" bIns="0" anchor="t"/>
          <a:lstStyle/>
          <a:p>
            <a:pPr algn="l"/>
            <a:r>
              <a:rPr sz="1300" b="0">
                <a:solidFill>
                  <a:srgbClr val="5E584F"/>
                </a:solidFill>
                <a:latin typeface="Calibri"/>
              </a:rPr>
              <a:t>Contract and reply extraction</a:t>
            </a:r>
          </a:p>
        </p:txBody>
      </p:sp>
      <p:sp>
        <p:nvSpPr>
          <p:cNvPr id="19" name="Rounded Rectangle 18"/>
          <p:cNvSpPr/>
          <p:nvPr/>
        </p:nvSpPr>
        <p:spPr>
          <a:xfrm>
            <a:off x="8698992" y="2176272"/>
            <a:ext cx="3371088" cy="987552"/>
          </a:xfrm>
          <a:prstGeom prst="roundRect">
            <a:avLst>
              <a:gd name="adj" fmla="val 8000"/>
            </a:avLst>
          </a:prstGeom>
          <a:solidFill>
            <a:srgbClr val="FFFCF8"/>
          </a:solidFill>
          <a:ln w="12700">
            <a:solidFill>
              <a:srgbClr val="E4DD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808720" y="2267712"/>
            <a:ext cx="3188208" cy="292608"/>
          </a:xfrm>
          <a:prstGeom prst="rect">
            <a:avLst/>
          </a:prstGeom>
          <a:noFill/>
        </p:spPr>
        <p:txBody>
          <a:bodyPr wrap="square" lIns="0" tIns="0" rIns="0" bIns="0" anchor="t"/>
          <a:lstStyle/>
          <a:p>
            <a:pPr algn="l"/>
            <a:r>
              <a:rPr sz="1400" b="1">
                <a:solidFill>
                  <a:srgbClr val="1C1915"/>
                </a:solidFill>
                <a:latin typeface="Calibri"/>
              </a:rPr>
              <a:t>A4  RiskAssessor</a:t>
            </a:r>
          </a:p>
        </p:txBody>
      </p:sp>
      <p:sp>
        <p:nvSpPr>
          <p:cNvPr id="21" name="TextBox 20"/>
          <p:cNvSpPr txBox="1"/>
          <p:nvPr/>
        </p:nvSpPr>
        <p:spPr>
          <a:xfrm>
            <a:off x="8808720" y="2560320"/>
            <a:ext cx="3188208" cy="530352"/>
          </a:xfrm>
          <a:prstGeom prst="rect">
            <a:avLst/>
          </a:prstGeom>
          <a:noFill/>
        </p:spPr>
        <p:txBody>
          <a:bodyPr wrap="square" lIns="0" tIns="0" rIns="0" bIns="0" anchor="t"/>
          <a:lstStyle/>
          <a:p>
            <a:pPr algn="l"/>
            <a:r>
              <a:rPr sz="1300" b="0">
                <a:solidFill>
                  <a:srgbClr val="5E584F"/>
                </a:solidFill>
                <a:latin typeface="Calibri"/>
              </a:rPr>
              <a:t>Risk, materiality, audit plan</a:t>
            </a:r>
          </a:p>
        </p:txBody>
      </p:sp>
      <p:sp>
        <p:nvSpPr>
          <p:cNvPr id="22" name="Rounded Rectangle 21"/>
          <p:cNvSpPr/>
          <p:nvPr/>
        </p:nvSpPr>
        <p:spPr>
          <a:xfrm>
            <a:off x="365760" y="3236976"/>
            <a:ext cx="1234440" cy="987552"/>
          </a:xfrm>
          <a:prstGeom prst="roundRect">
            <a:avLst>
              <a:gd name="adj" fmla="val 8000"/>
            </a:avLst>
          </a:prstGeom>
          <a:solidFill>
            <a:srgbClr val="8C4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365760" y="3236976"/>
            <a:ext cx="1234440" cy="987552"/>
          </a:xfrm>
          <a:prstGeom prst="rect">
            <a:avLst/>
          </a:prstGeom>
          <a:noFill/>
        </p:spPr>
        <p:txBody>
          <a:bodyPr wrap="square" lIns="0" tIns="0" rIns="0" bIns="0" anchor="ctr"/>
          <a:lstStyle/>
          <a:p>
            <a:pPr algn="ctr"/>
            <a:r>
              <a:rPr sz="1300" b="1">
                <a:solidFill>
                  <a:srgbClr val="F4EFE6"/>
                </a:solidFill>
                <a:latin typeface="Calibri"/>
              </a:rPr>
              <a:t>Execute</a:t>
            </a:r>
          </a:p>
        </p:txBody>
      </p:sp>
      <p:sp>
        <p:nvSpPr>
          <p:cNvPr id="24" name="Rounded Rectangle 23"/>
          <p:cNvSpPr/>
          <p:nvPr/>
        </p:nvSpPr>
        <p:spPr>
          <a:xfrm>
            <a:off x="1737360" y="3236976"/>
            <a:ext cx="3371088" cy="987552"/>
          </a:xfrm>
          <a:prstGeom prst="roundRect">
            <a:avLst>
              <a:gd name="adj" fmla="val 8000"/>
            </a:avLst>
          </a:prstGeom>
          <a:solidFill>
            <a:srgbClr val="FFFCF8"/>
          </a:solidFill>
          <a:ln w="12700">
            <a:solidFill>
              <a:srgbClr val="E4DD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1847088" y="3328416"/>
            <a:ext cx="3188208" cy="292608"/>
          </a:xfrm>
          <a:prstGeom prst="rect">
            <a:avLst/>
          </a:prstGeom>
          <a:noFill/>
        </p:spPr>
        <p:txBody>
          <a:bodyPr wrap="square" lIns="0" tIns="0" rIns="0" bIns="0" anchor="t"/>
          <a:lstStyle/>
          <a:p>
            <a:pPr algn="l"/>
            <a:r>
              <a:rPr sz="1400" b="1">
                <a:solidFill>
                  <a:srgbClr val="1C1915"/>
                </a:solidFill>
                <a:latin typeface="Calibri"/>
              </a:rPr>
              <a:t>A5  EvidenceAgent</a:t>
            </a:r>
          </a:p>
        </p:txBody>
      </p:sp>
      <p:sp>
        <p:nvSpPr>
          <p:cNvPr id="26" name="TextBox 25"/>
          <p:cNvSpPr txBox="1"/>
          <p:nvPr/>
        </p:nvSpPr>
        <p:spPr>
          <a:xfrm>
            <a:off x="1847088" y="3621024"/>
            <a:ext cx="3188208" cy="530352"/>
          </a:xfrm>
          <a:prstGeom prst="rect">
            <a:avLst/>
          </a:prstGeom>
          <a:noFill/>
        </p:spPr>
        <p:txBody>
          <a:bodyPr wrap="square" lIns="0" tIns="0" rIns="0" bIns="0" anchor="t"/>
          <a:lstStyle/>
          <a:p>
            <a:pPr algn="l"/>
            <a:r>
              <a:rPr sz="1300" b="0">
                <a:solidFill>
                  <a:srgbClr val="5E584F"/>
                </a:solidFill>
                <a:latin typeface="Calibri"/>
              </a:rPr>
              <a:t>Outward evidence, such as a confirmation</a:t>
            </a:r>
          </a:p>
        </p:txBody>
      </p:sp>
      <p:sp>
        <p:nvSpPr>
          <p:cNvPr id="27" name="Rounded Rectangle 26"/>
          <p:cNvSpPr/>
          <p:nvPr/>
        </p:nvSpPr>
        <p:spPr>
          <a:xfrm>
            <a:off x="5218176" y="3236976"/>
            <a:ext cx="3371088" cy="987552"/>
          </a:xfrm>
          <a:prstGeom prst="roundRect">
            <a:avLst>
              <a:gd name="adj" fmla="val 8000"/>
            </a:avLst>
          </a:prstGeom>
          <a:solidFill>
            <a:srgbClr val="FFFCF8"/>
          </a:solidFill>
          <a:ln w="12700">
            <a:solidFill>
              <a:srgbClr val="E4DD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5327904" y="3328416"/>
            <a:ext cx="3188208" cy="292608"/>
          </a:xfrm>
          <a:prstGeom prst="rect">
            <a:avLst/>
          </a:prstGeom>
          <a:noFill/>
        </p:spPr>
        <p:txBody>
          <a:bodyPr wrap="square" lIns="0" tIns="0" rIns="0" bIns="0" anchor="t"/>
          <a:lstStyle/>
          <a:p>
            <a:pPr algn="l"/>
            <a:r>
              <a:rPr sz="1400" b="1">
                <a:solidFill>
                  <a:srgbClr val="1C1915"/>
                </a:solidFill>
                <a:latin typeface="Calibri"/>
              </a:rPr>
              <a:t>A6  FieldworkAgent</a:t>
            </a:r>
          </a:p>
        </p:txBody>
      </p:sp>
      <p:sp>
        <p:nvSpPr>
          <p:cNvPr id="29" name="TextBox 28"/>
          <p:cNvSpPr txBox="1"/>
          <p:nvPr/>
        </p:nvSpPr>
        <p:spPr>
          <a:xfrm>
            <a:off x="5327904" y="3621024"/>
            <a:ext cx="3188208" cy="530352"/>
          </a:xfrm>
          <a:prstGeom prst="rect">
            <a:avLst/>
          </a:prstGeom>
          <a:noFill/>
        </p:spPr>
        <p:txBody>
          <a:bodyPr wrap="square" lIns="0" tIns="0" rIns="0" bIns="0" anchor="t"/>
          <a:lstStyle/>
          <a:p>
            <a:pPr algn="l"/>
            <a:r>
              <a:rPr sz="1300" b="0">
                <a:solidFill>
                  <a:srgbClr val="5E584F"/>
                </a:solidFill>
                <a:latin typeface="Calibri"/>
              </a:rPr>
              <a:t>Substantive judgments, many instances</a:t>
            </a:r>
          </a:p>
        </p:txBody>
      </p:sp>
      <p:sp>
        <p:nvSpPr>
          <p:cNvPr id="30" name="Rounded Rectangle 29"/>
          <p:cNvSpPr/>
          <p:nvPr/>
        </p:nvSpPr>
        <p:spPr>
          <a:xfrm>
            <a:off x="8698992" y="3236976"/>
            <a:ext cx="3371088" cy="987552"/>
          </a:xfrm>
          <a:prstGeom prst="roundRect">
            <a:avLst>
              <a:gd name="adj" fmla="val 8000"/>
            </a:avLst>
          </a:prstGeom>
          <a:solidFill>
            <a:srgbClr val="F7F4EE"/>
          </a:solidFill>
          <a:ln w="12700">
            <a:solidFill>
              <a:srgbClr val="8A8175"/>
            </a:solidFill>
            <a:prstDash val="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8808720" y="3328416"/>
            <a:ext cx="3188208" cy="292608"/>
          </a:xfrm>
          <a:prstGeom prst="rect">
            <a:avLst/>
          </a:prstGeom>
          <a:noFill/>
        </p:spPr>
        <p:txBody>
          <a:bodyPr wrap="square" lIns="0" tIns="0" rIns="0" bIns="0" anchor="t"/>
          <a:lstStyle/>
          <a:p>
            <a:pPr algn="l"/>
            <a:r>
              <a:rPr sz="1400" b="1">
                <a:solidFill>
                  <a:srgbClr val="1C1915"/>
                </a:solidFill>
                <a:latin typeface="Calibri"/>
              </a:rPr>
              <a:t>A7  ReviewAgent</a:t>
            </a:r>
          </a:p>
        </p:txBody>
      </p:sp>
      <p:sp>
        <p:nvSpPr>
          <p:cNvPr id="32" name="TextBox 31"/>
          <p:cNvSpPr txBox="1"/>
          <p:nvPr/>
        </p:nvSpPr>
        <p:spPr>
          <a:xfrm>
            <a:off x="8808720" y="3621024"/>
            <a:ext cx="3188208" cy="530352"/>
          </a:xfrm>
          <a:prstGeom prst="rect">
            <a:avLst/>
          </a:prstGeom>
          <a:noFill/>
        </p:spPr>
        <p:txBody>
          <a:bodyPr wrap="square" lIns="0" tIns="0" rIns="0" bIns="0" anchor="t"/>
          <a:lstStyle/>
          <a:p>
            <a:pPr algn="l"/>
            <a:r>
              <a:rPr sz="1300" b="0">
                <a:solidFill>
                  <a:srgbClr val="5E584F"/>
                </a:solidFill>
                <a:latin typeface="Calibri"/>
              </a:rPr>
              <a:t>Different model. Evidence only. Spec only.</a:t>
            </a:r>
          </a:p>
        </p:txBody>
      </p:sp>
      <p:sp>
        <p:nvSpPr>
          <p:cNvPr id="33" name="Rounded Rectangle 32"/>
          <p:cNvSpPr/>
          <p:nvPr/>
        </p:nvSpPr>
        <p:spPr>
          <a:xfrm>
            <a:off x="365760" y="4297680"/>
            <a:ext cx="1234440" cy="987552"/>
          </a:xfrm>
          <a:prstGeom prst="roundRect">
            <a:avLst>
              <a:gd name="adj" fmla="val 8000"/>
            </a:avLst>
          </a:prstGeom>
          <a:solidFill>
            <a:srgbClr val="3D4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365760" y="4297680"/>
            <a:ext cx="1234440" cy="987552"/>
          </a:xfrm>
          <a:prstGeom prst="rect">
            <a:avLst/>
          </a:prstGeom>
          <a:noFill/>
        </p:spPr>
        <p:txBody>
          <a:bodyPr wrap="square" lIns="0" tIns="0" rIns="0" bIns="0" anchor="ctr"/>
          <a:lstStyle/>
          <a:p>
            <a:pPr algn="ctr"/>
            <a:r>
              <a:rPr sz="1300" b="1">
                <a:solidFill>
                  <a:srgbClr val="F4EFE6"/>
                </a:solidFill>
                <a:latin typeface="Calibri"/>
              </a:rPr>
              <a:t>Output
&amp; talk</a:t>
            </a:r>
          </a:p>
        </p:txBody>
      </p:sp>
      <p:sp>
        <p:nvSpPr>
          <p:cNvPr id="35" name="Rounded Rectangle 34"/>
          <p:cNvSpPr/>
          <p:nvPr/>
        </p:nvSpPr>
        <p:spPr>
          <a:xfrm>
            <a:off x="1737360" y="4297680"/>
            <a:ext cx="3371088" cy="987552"/>
          </a:xfrm>
          <a:prstGeom prst="roundRect">
            <a:avLst>
              <a:gd name="adj" fmla="val 8000"/>
            </a:avLst>
          </a:prstGeom>
          <a:solidFill>
            <a:srgbClr val="F7F4EE"/>
          </a:solidFill>
          <a:ln w="12700">
            <a:solidFill>
              <a:srgbClr val="8A8175"/>
            </a:solidFill>
            <a:prstDash val="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1847088" y="4389120"/>
            <a:ext cx="3188208" cy="292608"/>
          </a:xfrm>
          <a:prstGeom prst="rect">
            <a:avLst/>
          </a:prstGeom>
          <a:noFill/>
        </p:spPr>
        <p:txBody>
          <a:bodyPr wrap="square" lIns="0" tIns="0" rIns="0" bIns="0" anchor="t"/>
          <a:lstStyle/>
          <a:p>
            <a:pPr algn="l"/>
            <a:r>
              <a:rPr sz="1400" b="1">
                <a:solidFill>
                  <a:srgbClr val="1C1915"/>
                </a:solidFill>
                <a:latin typeface="Calibri"/>
              </a:rPr>
              <a:t>A8  WorkpaperAgent</a:t>
            </a:r>
          </a:p>
        </p:txBody>
      </p:sp>
      <p:sp>
        <p:nvSpPr>
          <p:cNvPr id="37" name="TextBox 36"/>
          <p:cNvSpPr txBox="1"/>
          <p:nvPr/>
        </p:nvSpPr>
        <p:spPr>
          <a:xfrm>
            <a:off x="1847088" y="4681728"/>
            <a:ext cx="3188208" cy="530352"/>
          </a:xfrm>
          <a:prstGeom prst="rect">
            <a:avLst/>
          </a:prstGeom>
          <a:noFill/>
        </p:spPr>
        <p:txBody>
          <a:bodyPr wrap="square" lIns="0" tIns="0" rIns="0" bIns="0" anchor="t"/>
          <a:lstStyle/>
          <a:p>
            <a:pPr algn="l"/>
            <a:r>
              <a:rPr sz="1300" b="0">
                <a:solidFill>
                  <a:srgbClr val="5E584F"/>
                </a:solidFill>
                <a:latin typeface="Calibri"/>
              </a:rPr>
              <a:t>Workpapers and misstatement state. Spec only.</a:t>
            </a:r>
          </a:p>
        </p:txBody>
      </p:sp>
      <p:sp>
        <p:nvSpPr>
          <p:cNvPr id="38" name="Rounded Rectangle 37"/>
          <p:cNvSpPr/>
          <p:nvPr/>
        </p:nvSpPr>
        <p:spPr>
          <a:xfrm>
            <a:off x="5218176" y="4297680"/>
            <a:ext cx="3371088" cy="987552"/>
          </a:xfrm>
          <a:prstGeom prst="roundRect">
            <a:avLst>
              <a:gd name="adj" fmla="val 8000"/>
            </a:avLst>
          </a:prstGeom>
          <a:solidFill>
            <a:srgbClr val="FFFCF8"/>
          </a:solidFill>
          <a:ln w="12700">
            <a:solidFill>
              <a:srgbClr val="E4DD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5327904" y="4389120"/>
            <a:ext cx="3188208" cy="292608"/>
          </a:xfrm>
          <a:prstGeom prst="rect">
            <a:avLst/>
          </a:prstGeom>
          <a:noFill/>
        </p:spPr>
        <p:txBody>
          <a:bodyPr wrap="square" lIns="0" tIns="0" rIns="0" bIns="0" anchor="t"/>
          <a:lstStyle/>
          <a:p>
            <a:pPr algn="l"/>
            <a:r>
              <a:rPr sz="1400" b="1">
                <a:solidFill>
                  <a:srgbClr val="1C1915"/>
                </a:solidFill>
                <a:latin typeface="Calibri"/>
              </a:rPr>
              <a:t>A9  QCAgent</a:t>
            </a:r>
          </a:p>
        </p:txBody>
      </p:sp>
      <p:sp>
        <p:nvSpPr>
          <p:cNvPr id="40" name="TextBox 39"/>
          <p:cNvSpPr txBox="1"/>
          <p:nvPr/>
        </p:nvSpPr>
        <p:spPr>
          <a:xfrm>
            <a:off x="5327904" y="4681728"/>
            <a:ext cx="3188208" cy="530352"/>
          </a:xfrm>
          <a:prstGeom prst="rect">
            <a:avLst/>
          </a:prstGeom>
          <a:noFill/>
        </p:spPr>
        <p:txBody>
          <a:bodyPr wrap="square" lIns="0" tIns="0" rIns="0" bIns="0" anchor="t"/>
          <a:lstStyle/>
          <a:p>
            <a:pPr algn="l"/>
            <a:r>
              <a:rPr sz="1300" b="0">
                <a:solidFill>
                  <a:srgbClr val="5E584F"/>
                </a:solidFill>
                <a:latin typeface="Calibri"/>
              </a:rPr>
              <a:t>Rule checks and the misstatement roll-up</a:t>
            </a:r>
          </a:p>
        </p:txBody>
      </p:sp>
      <p:sp>
        <p:nvSpPr>
          <p:cNvPr id="41" name="Rounded Rectangle 40"/>
          <p:cNvSpPr/>
          <p:nvPr/>
        </p:nvSpPr>
        <p:spPr>
          <a:xfrm>
            <a:off x="8698992" y="4297680"/>
            <a:ext cx="3371088" cy="987552"/>
          </a:xfrm>
          <a:prstGeom prst="roundRect">
            <a:avLst>
              <a:gd name="adj" fmla="val 8000"/>
            </a:avLst>
          </a:prstGeom>
          <a:solidFill>
            <a:srgbClr val="FFFCF8"/>
          </a:solidFill>
          <a:ln w="12700">
            <a:solidFill>
              <a:srgbClr val="E4DD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8808720" y="4389120"/>
            <a:ext cx="3188208" cy="292608"/>
          </a:xfrm>
          <a:prstGeom prst="rect">
            <a:avLst/>
          </a:prstGeom>
          <a:noFill/>
        </p:spPr>
        <p:txBody>
          <a:bodyPr wrap="square" lIns="0" tIns="0" rIns="0" bIns="0" anchor="t"/>
          <a:lstStyle/>
          <a:p>
            <a:pPr algn="l"/>
            <a:r>
              <a:rPr sz="1400" b="1">
                <a:solidFill>
                  <a:srgbClr val="1C1915"/>
                </a:solidFill>
                <a:latin typeface="Calibri"/>
              </a:rPr>
              <a:t>A10  ConciergeAgent</a:t>
            </a:r>
          </a:p>
        </p:txBody>
      </p:sp>
      <p:sp>
        <p:nvSpPr>
          <p:cNvPr id="43" name="TextBox 42"/>
          <p:cNvSpPr txBox="1"/>
          <p:nvPr/>
        </p:nvSpPr>
        <p:spPr>
          <a:xfrm>
            <a:off x="8808720" y="4681728"/>
            <a:ext cx="3188208" cy="530352"/>
          </a:xfrm>
          <a:prstGeom prst="rect">
            <a:avLst/>
          </a:prstGeom>
          <a:noFill/>
        </p:spPr>
        <p:txBody>
          <a:bodyPr wrap="square" lIns="0" tIns="0" rIns="0" bIns="0" anchor="t"/>
          <a:lstStyle/>
          <a:p>
            <a:pPr algn="l"/>
            <a:r>
              <a:rPr sz="1300" b="0">
                <a:solidFill>
                  <a:srgbClr val="5E584F"/>
                </a:solidFill>
                <a:latin typeface="Calibri"/>
              </a:rPr>
              <a:t>Present, pass the decision, draft the report</a:t>
            </a:r>
          </a:p>
        </p:txBody>
      </p:sp>
      <p:sp>
        <p:nvSpPr>
          <p:cNvPr id="44" name="TextBox 43"/>
          <p:cNvSpPr txBox="1"/>
          <p:nvPr/>
        </p:nvSpPr>
        <p:spPr>
          <a:xfrm>
            <a:off x="411480" y="5623560"/>
            <a:ext cx="11338560" cy="365760"/>
          </a:xfrm>
          <a:prstGeom prst="rect">
            <a:avLst/>
          </a:prstGeom>
          <a:noFill/>
        </p:spPr>
        <p:txBody>
          <a:bodyPr wrap="square" lIns="0" tIns="0" rIns="0" bIns="0" anchor="t"/>
          <a:lstStyle/>
          <a:p>
            <a:pPr algn="l"/>
            <a:r>
              <a:rPr sz="1400" b="0">
                <a:solidFill>
                  <a:srgbClr val="5E584F"/>
                </a:solidFill>
                <a:latin typeface="Calibri"/>
              </a:rPr>
              <a:t>Agents do not call each other. Results go into the engagement state and A1 merges them. Dashed cards are specification only, and this prototype has not wired them in.</a:t>
            </a:r>
          </a:p>
        </p:txBody>
      </p:sp>
      <p:sp>
        <p:nvSpPr>
          <p:cNvPr id="45" name="TextBox 44"/>
          <p:cNvSpPr txBox="1"/>
          <p:nvPr/>
        </p:nvSpPr>
        <p:spPr>
          <a:xfrm>
            <a:off x="411480" y="6510528"/>
            <a:ext cx="5486400" cy="256032"/>
          </a:xfrm>
          <a:prstGeom prst="rect">
            <a:avLst/>
          </a:prstGeom>
          <a:noFill/>
        </p:spPr>
        <p:txBody>
          <a:bodyPr wrap="square" lIns="0" tIns="0" rIns="0" bIns="0" anchor="t"/>
          <a:lstStyle/>
          <a:p>
            <a:pPr algn="l"/>
            <a:r>
              <a:rPr sz="1200" b="0">
                <a:solidFill>
                  <a:srgbClr val="5E584F"/>
                </a:solidFill>
                <a:latin typeface="Calibri"/>
              </a:rPr>
              <a:t>ELEC5620 · Group 16</a:t>
            </a:r>
          </a:p>
        </p:txBody>
      </p:sp>
      <p:sp>
        <p:nvSpPr>
          <p:cNvPr id="46" name="TextBox 45"/>
          <p:cNvSpPr txBox="1"/>
          <p:nvPr/>
        </p:nvSpPr>
        <p:spPr>
          <a:xfrm>
            <a:off x="9509760" y="6510528"/>
            <a:ext cx="2286000" cy="256032"/>
          </a:xfrm>
          <a:prstGeom prst="rect">
            <a:avLst/>
          </a:prstGeom>
          <a:noFill/>
        </p:spPr>
        <p:txBody>
          <a:bodyPr wrap="square" lIns="0" tIns="0" rIns="0" bIns="0" anchor="t"/>
          <a:lstStyle/>
          <a:p>
            <a:pPr algn="r"/>
            <a:r>
              <a:rPr sz="1200" b="0">
                <a:solidFill>
                  <a:srgbClr val="5E584F"/>
                </a:solidFill>
                <a:latin typeface="Calibri"/>
              </a:rPr>
              <a:t>4 / 39</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4EE"/>
        </a:solidFill>
        <a:effectLst/>
      </p:bgPr>
    </p:bg>
    <p:spTree>
      <p:nvGrpSpPr>
        <p:cNvPr id="1" name=""/>
        <p:cNvGrpSpPr/>
        <p:nvPr/>
      </p:nvGrpSpPr>
      <p:grpSpPr>
        <a:xfrm>
          <a:off x="0" y="0"/>
          <a:ext cx="0" cy="0"/>
          <a:chOff x="0" y="0"/>
          <a:chExt cx="0" cy="0"/>
        </a:xfrm>
      </p:grpSpPr>
      <p:sp>
        <p:nvSpPr>
          <p:cNvPr id="2" name="TextBox 1"/>
          <p:cNvSpPr txBox="1"/>
          <p:nvPr/>
        </p:nvSpPr>
        <p:spPr>
          <a:xfrm>
            <a:off x="411480" y="256032"/>
            <a:ext cx="3840480" cy="256032"/>
          </a:xfrm>
          <a:prstGeom prst="rect">
            <a:avLst/>
          </a:prstGeom>
          <a:noFill/>
        </p:spPr>
        <p:txBody>
          <a:bodyPr wrap="square" lIns="0" tIns="0" rIns="0" bIns="0" anchor="t"/>
          <a:lstStyle/>
          <a:p>
            <a:pPr algn="l"/>
            <a:r>
              <a:rPr sz="1200" b="1">
                <a:solidFill>
                  <a:srgbClr val="0F5E5A"/>
                </a:solidFill>
                <a:latin typeface="Calibri"/>
              </a:rPr>
              <a:t>MEMBER A</a:t>
            </a:r>
          </a:p>
        </p:txBody>
      </p:sp>
      <p:sp>
        <p:nvSpPr>
          <p:cNvPr id="3" name="Rounded Rectangle 2"/>
          <p:cNvSpPr/>
          <p:nvPr/>
        </p:nvSpPr>
        <p:spPr>
          <a:xfrm>
            <a:off x="4114800" y="237744"/>
            <a:ext cx="2103120" cy="274320"/>
          </a:xfrm>
          <a:prstGeom prst="roundRect">
            <a:avLst>
              <a:gd name="adj" fmla="val 8000"/>
            </a:avLst>
          </a:prstGeom>
          <a:solidFill>
            <a:srgbClr val="F7F4EE"/>
          </a:solidFill>
          <a:ln w="12700">
            <a:solidFill>
              <a:srgbClr val="E4DD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14800" y="237744"/>
            <a:ext cx="2103120" cy="274320"/>
          </a:xfrm>
          <a:prstGeom prst="rect">
            <a:avLst/>
          </a:prstGeom>
          <a:noFill/>
        </p:spPr>
        <p:txBody>
          <a:bodyPr wrap="square" lIns="0" tIns="0" rIns="0" bIns="0" anchor="ctr"/>
          <a:lstStyle/>
          <a:p>
            <a:pPr algn="ctr"/>
            <a:r>
              <a:rPr sz="1200" b="0">
                <a:solidFill>
                  <a:srgbClr val="5E584F"/>
                </a:solidFill>
                <a:latin typeface="Calibri"/>
              </a:rPr>
              <a:t>Agents</a:t>
            </a:r>
          </a:p>
        </p:txBody>
      </p:sp>
      <p:sp>
        <p:nvSpPr>
          <p:cNvPr id="5" name="TextBox 4"/>
          <p:cNvSpPr txBox="1"/>
          <p:nvPr/>
        </p:nvSpPr>
        <p:spPr>
          <a:xfrm>
            <a:off x="365760" y="566928"/>
            <a:ext cx="11338560" cy="365760"/>
          </a:xfrm>
          <a:prstGeom prst="rect">
            <a:avLst/>
          </a:prstGeom>
          <a:noFill/>
        </p:spPr>
        <p:txBody>
          <a:bodyPr wrap="square" lIns="0" tIns="0" rIns="0" bIns="0" anchor="t"/>
          <a:lstStyle/>
          <a:p>
            <a:pPr algn="l"/>
            <a:r>
              <a:rPr sz="2600" b="1">
                <a:solidFill>
                  <a:srgbClr val="1C1915"/>
                </a:solidFill>
                <a:latin typeface="Calibri"/>
              </a:rPr>
              <a:t>What each agent produces</a:t>
            </a:r>
          </a:p>
        </p:txBody>
      </p:sp>
      <p:sp>
        <p:nvSpPr>
          <p:cNvPr id="6" name="Rounded Rectangle 5"/>
          <p:cNvSpPr/>
          <p:nvPr/>
        </p:nvSpPr>
        <p:spPr>
          <a:xfrm>
            <a:off x="365760" y="1024128"/>
            <a:ext cx="11448288" cy="566928"/>
          </a:xfrm>
          <a:prstGeom prst="roundRect">
            <a:avLst>
              <a:gd name="adj" fmla="val 8000"/>
            </a:avLst>
          </a:prstGeom>
          <a:solidFill>
            <a:srgbClr val="1B30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1060704"/>
            <a:ext cx="2377440" cy="237744"/>
          </a:xfrm>
          <a:prstGeom prst="rect">
            <a:avLst/>
          </a:prstGeom>
          <a:noFill/>
        </p:spPr>
        <p:txBody>
          <a:bodyPr wrap="square" lIns="0" tIns="0" rIns="0" bIns="0" anchor="t"/>
          <a:lstStyle/>
          <a:p>
            <a:pPr algn="l"/>
            <a:r>
              <a:rPr sz="1400" b="1">
                <a:solidFill>
                  <a:srgbClr val="F4EFE6"/>
                </a:solidFill>
                <a:latin typeface="Calibri"/>
              </a:rPr>
              <a:t>A1  Orchestrator</a:t>
            </a:r>
          </a:p>
        </p:txBody>
      </p:sp>
      <p:sp>
        <p:nvSpPr>
          <p:cNvPr id="8" name="TextBox 7"/>
          <p:cNvSpPr txBox="1"/>
          <p:nvPr/>
        </p:nvSpPr>
        <p:spPr>
          <a:xfrm>
            <a:off x="2926080" y="1060704"/>
            <a:ext cx="8686800" cy="475488"/>
          </a:xfrm>
          <a:prstGeom prst="rect">
            <a:avLst/>
          </a:prstGeom>
          <a:noFill/>
        </p:spPr>
        <p:txBody>
          <a:bodyPr wrap="square" lIns="0" tIns="0" rIns="0" bIns="0" anchor="t"/>
          <a:lstStyle/>
          <a:p>
            <a:pPr algn="l"/>
            <a:r>
              <a:rPr sz="1400" b="0">
                <a:solidFill>
                  <a:srgbClr val="F4EFE6"/>
                </a:solidFill>
                <a:latin typeface="Calibri"/>
              </a:rPr>
              <a:t>Advances the state machine, holds the gates, assembles the pack, writes the trail. No language model, and no procedures of its own.</a:t>
            </a:r>
          </a:p>
        </p:txBody>
      </p:sp>
      <p:sp>
        <p:nvSpPr>
          <p:cNvPr id="9" name="TextBox 8"/>
          <p:cNvSpPr txBox="1"/>
          <p:nvPr/>
        </p:nvSpPr>
        <p:spPr>
          <a:xfrm>
            <a:off x="365760" y="1682496"/>
            <a:ext cx="2331720" cy="237744"/>
          </a:xfrm>
          <a:prstGeom prst="rect">
            <a:avLst/>
          </a:prstGeom>
          <a:noFill/>
        </p:spPr>
        <p:txBody>
          <a:bodyPr wrap="square" lIns="0" tIns="0" rIns="0" bIns="0" anchor="t"/>
          <a:lstStyle/>
          <a:p>
            <a:pPr algn="l"/>
            <a:r>
              <a:rPr sz="1100" b="1">
                <a:solidFill>
                  <a:srgbClr val="5E584F"/>
                </a:solidFill>
                <a:latin typeface="Calibri"/>
              </a:rPr>
              <a:t>AGENT</a:t>
            </a:r>
          </a:p>
        </p:txBody>
      </p:sp>
      <p:sp>
        <p:nvSpPr>
          <p:cNvPr id="10" name="TextBox 9"/>
          <p:cNvSpPr txBox="1"/>
          <p:nvPr/>
        </p:nvSpPr>
        <p:spPr>
          <a:xfrm>
            <a:off x="2788920" y="1682496"/>
            <a:ext cx="4709160" cy="237744"/>
          </a:xfrm>
          <a:prstGeom prst="rect">
            <a:avLst/>
          </a:prstGeom>
          <a:noFill/>
        </p:spPr>
        <p:txBody>
          <a:bodyPr wrap="square" lIns="0" tIns="0" rIns="0" bIns="0" anchor="t"/>
          <a:lstStyle/>
          <a:p>
            <a:pPr algn="l"/>
            <a:r>
              <a:rPr sz="1100" b="1">
                <a:solidFill>
                  <a:srgbClr val="5E584F"/>
                </a:solidFill>
                <a:latin typeface="Calibri"/>
              </a:rPr>
              <a:t>WHAT IT PRODUCES</a:t>
            </a:r>
          </a:p>
        </p:txBody>
      </p:sp>
      <p:sp>
        <p:nvSpPr>
          <p:cNvPr id="11" name="TextBox 10"/>
          <p:cNvSpPr txBox="1"/>
          <p:nvPr/>
        </p:nvSpPr>
        <p:spPr>
          <a:xfrm>
            <a:off x="7589520" y="1682496"/>
            <a:ext cx="2331720" cy="237744"/>
          </a:xfrm>
          <a:prstGeom prst="rect">
            <a:avLst/>
          </a:prstGeom>
          <a:noFill/>
        </p:spPr>
        <p:txBody>
          <a:bodyPr wrap="square" lIns="0" tIns="0" rIns="0" bIns="0" anchor="t"/>
          <a:lstStyle/>
          <a:p>
            <a:pPr algn="l"/>
            <a:r>
              <a:rPr sz="1100" b="1">
                <a:solidFill>
                  <a:srgbClr val="5E584F"/>
                </a:solidFill>
                <a:latin typeface="Calibri"/>
              </a:rPr>
              <a:t>ENGINE</a:t>
            </a:r>
          </a:p>
        </p:txBody>
      </p:sp>
      <p:sp>
        <p:nvSpPr>
          <p:cNvPr id="12" name="TextBox 11"/>
          <p:cNvSpPr txBox="1"/>
          <p:nvPr/>
        </p:nvSpPr>
        <p:spPr>
          <a:xfrm>
            <a:off x="10012680" y="1682496"/>
            <a:ext cx="1801368" cy="237744"/>
          </a:xfrm>
          <a:prstGeom prst="rect">
            <a:avLst/>
          </a:prstGeom>
          <a:noFill/>
        </p:spPr>
        <p:txBody>
          <a:bodyPr wrap="square" lIns="0" tIns="0" rIns="0" bIns="0" anchor="t"/>
          <a:lstStyle/>
          <a:p>
            <a:pPr algn="l"/>
            <a:r>
              <a:rPr sz="1100" b="1">
                <a:solidFill>
                  <a:srgbClr val="5E584F"/>
                </a:solidFill>
                <a:latin typeface="Calibri"/>
              </a:rPr>
              <a:t>OF 161</a:t>
            </a:r>
          </a:p>
        </p:txBody>
      </p:sp>
      <p:sp>
        <p:nvSpPr>
          <p:cNvPr id="13" name="Rounded Rectangle 12"/>
          <p:cNvSpPr/>
          <p:nvPr/>
        </p:nvSpPr>
        <p:spPr>
          <a:xfrm>
            <a:off x="365760" y="1956816"/>
            <a:ext cx="11448288" cy="384048"/>
          </a:xfrm>
          <a:prstGeom prst="roundRect">
            <a:avLst>
              <a:gd name="adj" fmla="val 8000"/>
            </a:avLst>
          </a:prstGeom>
          <a:solidFill>
            <a:srgbClr val="FFFCF8"/>
          </a:solidFill>
          <a:ln w="12700">
            <a:solidFill>
              <a:srgbClr val="E4DD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75488" y="1956816"/>
            <a:ext cx="2240280" cy="384048"/>
          </a:xfrm>
          <a:prstGeom prst="rect">
            <a:avLst/>
          </a:prstGeom>
          <a:noFill/>
        </p:spPr>
        <p:txBody>
          <a:bodyPr wrap="square" lIns="0" tIns="0" rIns="0" bIns="0" anchor="ctr"/>
          <a:lstStyle/>
          <a:p>
            <a:pPr algn="l"/>
            <a:r>
              <a:rPr sz="1300" b="1">
                <a:solidFill>
                  <a:srgbClr val="1C1915"/>
                </a:solidFill>
                <a:latin typeface="Calibri"/>
              </a:rPr>
              <a:t>A2  ClientIntel</a:t>
            </a:r>
          </a:p>
        </p:txBody>
      </p:sp>
      <p:sp>
        <p:nvSpPr>
          <p:cNvPr id="15" name="TextBox 14"/>
          <p:cNvSpPr txBox="1"/>
          <p:nvPr/>
        </p:nvSpPr>
        <p:spPr>
          <a:xfrm>
            <a:off x="2788920" y="1956816"/>
            <a:ext cx="4663440" cy="384048"/>
          </a:xfrm>
          <a:prstGeom prst="rect">
            <a:avLst/>
          </a:prstGeom>
          <a:noFill/>
        </p:spPr>
        <p:txBody>
          <a:bodyPr wrap="square" lIns="0" tIns="0" rIns="0" bIns="0" anchor="ctr"/>
          <a:lstStyle/>
          <a:p>
            <a:pPr algn="l"/>
            <a:r>
              <a:rPr sz="1300" b="0">
                <a:solidFill>
                  <a:srgbClr val="1C1915"/>
                </a:solidFill>
                <a:latin typeface="Calibri"/>
              </a:rPr>
              <a:t>Background, independence, the engagement letter</a:t>
            </a:r>
          </a:p>
        </p:txBody>
      </p:sp>
      <p:sp>
        <p:nvSpPr>
          <p:cNvPr id="16" name="TextBox 15"/>
          <p:cNvSpPr txBox="1"/>
          <p:nvPr/>
        </p:nvSpPr>
        <p:spPr>
          <a:xfrm>
            <a:off x="7589520" y="1956816"/>
            <a:ext cx="2286000" cy="384048"/>
          </a:xfrm>
          <a:prstGeom prst="rect">
            <a:avLst/>
          </a:prstGeom>
          <a:noFill/>
        </p:spPr>
        <p:txBody>
          <a:bodyPr wrap="square" lIns="0" tIns="0" rIns="0" bIns="0" anchor="ctr"/>
          <a:lstStyle/>
          <a:p>
            <a:pPr algn="l"/>
            <a:r>
              <a:rPr sz="1300" b="0">
                <a:solidFill>
                  <a:srgbClr val="5E584F"/>
                </a:solidFill>
                <a:latin typeface="Calibri"/>
              </a:rPr>
              <a:t>Language model</a:t>
            </a:r>
          </a:p>
        </p:txBody>
      </p:sp>
      <p:sp>
        <p:nvSpPr>
          <p:cNvPr id="17" name="TextBox 16"/>
          <p:cNvSpPr txBox="1"/>
          <p:nvPr/>
        </p:nvSpPr>
        <p:spPr>
          <a:xfrm>
            <a:off x="10012680" y="1956816"/>
            <a:ext cx="1691640" cy="384048"/>
          </a:xfrm>
          <a:prstGeom prst="rect">
            <a:avLst/>
          </a:prstGeom>
          <a:noFill/>
        </p:spPr>
        <p:txBody>
          <a:bodyPr wrap="square" lIns="0" tIns="0" rIns="0" bIns="0" anchor="ctr"/>
          <a:lstStyle/>
          <a:p>
            <a:pPr algn="ctr"/>
            <a:r>
              <a:rPr sz="1300" b="1">
                <a:solidFill>
                  <a:srgbClr val="0F5E5A"/>
                </a:solidFill>
                <a:latin typeface="Calibri"/>
              </a:rPr>
              <a:t>11</a:t>
            </a:r>
          </a:p>
        </p:txBody>
      </p:sp>
      <p:sp>
        <p:nvSpPr>
          <p:cNvPr id="18" name="Rounded Rectangle 17"/>
          <p:cNvSpPr/>
          <p:nvPr/>
        </p:nvSpPr>
        <p:spPr>
          <a:xfrm>
            <a:off x="365760" y="2377440"/>
            <a:ext cx="11448288" cy="384048"/>
          </a:xfrm>
          <a:prstGeom prst="roundRect">
            <a:avLst>
              <a:gd name="adj" fmla="val 8000"/>
            </a:avLst>
          </a:prstGeom>
          <a:solidFill>
            <a:srgbClr val="FFFCF8"/>
          </a:solidFill>
          <a:ln w="12700">
            <a:solidFill>
              <a:srgbClr val="E4DD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75488" y="2377440"/>
            <a:ext cx="2240280" cy="384048"/>
          </a:xfrm>
          <a:prstGeom prst="rect">
            <a:avLst/>
          </a:prstGeom>
          <a:noFill/>
        </p:spPr>
        <p:txBody>
          <a:bodyPr wrap="square" lIns="0" tIns="0" rIns="0" bIns="0" anchor="ctr"/>
          <a:lstStyle/>
          <a:p>
            <a:pPr algn="l"/>
            <a:r>
              <a:rPr sz="1300" b="1">
                <a:solidFill>
                  <a:srgbClr val="1C1915"/>
                </a:solidFill>
                <a:latin typeface="Calibri"/>
              </a:rPr>
              <a:t>A3  IngestAgent</a:t>
            </a:r>
          </a:p>
        </p:txBody>
      </p:sp>
      <p:sp>
        <p:nvSpPr>
          <p:cNvPr id="20" name="TextBox 19"/>
          <p:cNvSpPr txBox="1"/>
          <p:nvPr/>
        </p:nvSpPr>
        <p:spPr>
          <a:xfrm>
            <a:off x="2788920" y="2377440"/>
            <a:ext cx="4663440" cy="384048"/>
          </a:xfrm>
          <a:prstGeom prst="rect">
            <a:avLst/>
          </a:prstGeom>
          <a:noFill/>
        </p:spPr>
        <p:txBody>
          <a:bodyPr wrap="square" lIns="0" tIns="0" rIns="0" bIns="0" anchor="ctr"/>
          <a:lstStyle/>
          <a:p>
            <a:pPr algn="l"/>
            <a:r>
              <a:rPr sz="1300" b="0">
                <a:solidFill>
                  <a:srgbClr val="1C1915"/>
                </a:solidFill>
                <a:latin typeface="Calibri"/>
              </a:rPr>
              <a:t>Ledgers, contracts, replies, missing documents</a:t>
            </a:r>
          </a:p>
        </p:txBody>
      </p:sp>
      <p:sp>
        <p:nvSpPr>
          <p:cNvPr id="21" name="TextBox 20"/>
          <p:cNvSpPr txBox="1"/>
          <p:nvPr/>
        </p:nvSpPr>
        <p:spPr>
          <a:xfrm>
            <a:off x="7589520" y="2377440"/>
            <a:ext cx="2286000" cy="384048"/>
          </a:xfrm>
          <a:prstGeom prst="rect">
            <a:avLst/>
          </a:prstGeom>
          <a:noFill/>
        </p:spPr>
        <p:txBody>
          <a:bodyPr wrap="square" lIns="0" tIns="0" rIns="0" bIns="0" anchor="ctr"/>
          <a:lstStyle/>
          <a:p>
            <a:pPr algn="l"/>
            <a:r>
              <a:rPr sz="1300" b="0">
                <a:solidFill>
                  <a:srgbClr val="5E584F"/>
                </a:solidFill>
                <a:latin typeface="Calibri"/>
              </a:rPr>
              <a:t>Rules + model</a:t>
            </a:r>
          </a:p>
        </p:txBody>
      </p:sp>
      <p:sp>
        <p:nvSpPr>
          <p:cNvPr id="22" name="TextBox 21"/>
          <p:cNvSpPr txBox="1"/>
          <p:nvPr/>
        </p:nvSpPr>
        <p:spPr>
          <a:xfrm>
            <a:off x="10012680" y="2377440"/>
            <a:ext cx="1691640" cy="384048"/>
          </a:xfrm>
          <a:prstGeom prst="rect">
            <a:avLst/>
          </a:prstGeom>
          <a:noFill/>
        </p:spPr>
        <p:txBody>
          <a:bodyPr wrap="square" lIns="0" tIns="0" rIns="0" bIns="0" anchor="ctr"/>
          <a:lstStyle/>
          <a:p>
            <a:pPr algn="ctr"/>
            <a:r>
              <a:rPr sz="1300" b="1">
                <a:solidFill>
                  <a:srgbClr val="0F5E5A"/>
                </a:solidFill>
                <a:latin typeface="Calibri"/>
              </a:rPr>
              <a:t>12</a:t>
            </a:r>
          </a:p>
        </p:txBody>
      </p:sp>
      <p:sp>
        <p:nvSpPr>
          <p:cNvPr id="23" name="Rounded Rectangle 22"/>
          <p:cNvSpPr/>
          <p:nvPr/>
        </p:nvSpPr>
        <p:spPr>
          <a:xfrm>
            <a:off x="365760" y="2798064"/>
            <a:ext cx="11448288" cy="384048"/>
          </a:xfrm>
          <a:prstGeom prst="roundRect">
            <a:avLst>
              <a:gd name="adj" fmla="val 8000"/>
            </a:avLst>
          </a:prstGeom>
          <a:solidFill>
            <a:srgbClr val="FFFCF8"/>
          </a:solidFill>
          <a:ln w="12700">
            <a:solidFill>
              <a:srgbClr val="E4DD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75488" y="2798064"/>
            <a:ext cx="2240280" cy="384048"/>
          </a:xfrm>
          <a:prstGeom prst="rect">
            <a:avLst/>
          </a:prstGeom>
          <a:noFill/>
        </p:spPr>
        <p:txBody>
          <a:bodyPr wrap="square" lIns="0" tIns="0" rIns="0" bIns="0" anchor="ctr"/>
          <a:lstStyle/>
          <a:p>
            <a:pPr algn="l"/>
            <a:r>
              <a:rPr sz="1300" b="1">
                <a:solidFill>
                  <a:srgbClr val="1C1915"/>
                </a:solidFill>
                <a:latin typeface="Calibri"/>
              </a:rPr>
              <a:t>A4  RiskAssessor</a:t>
            </a:r>
          </a:p>
        </p:txBody>
      </p:sp>
      <p:sp>
        <p:nvSpPr>
          <p:cNvPr id="25" name="TextBox 24"/>
          <p:cNvSpPr txBox="1"/>
          <p:nvPr/>
        </p:nvSpPr>
        <p:spPr>
          <a:xfrm>
            <a:off x="2788920" y="2798064"/>
            <a:ext cx="4663440" cy="384048"/>
          </a:xfrm>
          <a:prstGeom prst="rect">
            <a:avLst/>
          </a:prstGeom>
          <a:noFill/>
        </p:spPr>
        <p:txBody>
          <a:bodyPr wrap="square" lIns="0" tIns="0" rIns="0" bIns="0" anchor="ctr"/>
          <a:lstStyle/>
          <a:p>
            <a:pPr algn="l"/>
            <a:r>
              <a:rPr sz="1300" b="0">
                <a:solidFill>
                  <a:srgbClr val="1C1915"/>
                </a:solidFill>
                <a:latin typeface="Calibri"/>
              </a:rPr>
              <a:t>Risk ratings, materiality, the audit plan</a:t>
            </a:r>
          </a:p>
        </p:txBody>
      </p:sp>
      <p:sp>
        <p:nvSpPr>
          <p:cNvPr id="26" name="TextBox 25"/>
          <p:cNvSpPr txBox="1"/>
          <p:nvPr/>
        </p:nvSpPr>
        <p:spPr>
          <a:xfrm>
            <a:off x="7589520" y="2798064"/>
            <a:ext cx="2286000" cy="384048"/>
          </a:xfrm>
          <a:prstGeom prst="rect">
            <a:avLst/>
          </a:prstGeom>
          <a:noFill/>
        </p:spPr>
        <p:txBody>
          <a:bodyPr wrap="square" lIns="0" tIns="0" rIns="0" bIns="0" anchor="ctr"/>
          <a:lstStyle/>
          <a:p>
            <a:pPr algn="l"/>
            <a:r>
              <a:rPr sz="1300" b="0">
                <a:solidFill>
                  <a:srgbClr val="5E584F"/>
                </a:solidFill>
                <a:latin typeface="Calibri"/>
              </a:rPr>
              <a:t>Language model</a:t>
            </a:r>
          </a:p>
        </p:txBody>
      </p:sp>
      <p:sp>
        <p:nvSpPr>
          <p:cNvPr id="27" name="TextBox 26"/>
          <p:cNvSpPr txBox="1"/>
          <p:nvPr/>
        </p:nvSpPr>
        <p:spPr>
          <a:xfrm>
            <a:off x="10012680" y="2798064"/>
            <a:ext cx="1691640" cy="384048"/>
          </a:xfrm>
          <a:prstGeom prst="rect">
            <a:avLst/>
          </a:prstGeom>
          <a:noFill/>
        </p:spPr>
        <p:txBody>
          <a:bodyPr wrap="square" lIns="0" tIns="0" rIns="0" bIns="0" anchor="ctr"/>
          <a:lstStyle/>
          <a:p>
            <a:pPr algn="ctr"/>
            <a:r>
              <a:rPr sz="1300" b="1">
                <a:solidFill>
                  <a:srgbClr val="0F5E5A"/>
                </a:solidFill>
                <a:latin typeface="Calibri"/>
              </a:rPr>
              <a:t>20</a:t>
            </a:r>
          </a:p>
        </p:txBody>
      </p:sp>
      <p:sp>
        <p:nvSpPr>
          <p:cNvPr id="28" name="Rounded Rectangle 27"/>
          <p:cNvSpPr/>
          <p:nvPr/>
        </p:nvSpPr>
        <p:spPr>
          <a:xfrm>
            <a:off x="365760" y="3218688"/>
            <a:ext cx="11448288" cy="384048"/>
          </a:xfrm>
          <a:prstGeom prst="roundRect">
            <a:avLst>
              <a:gd name="adj" fmla="val 8000"/>
            </a:avLst>
          </a:prstGeom>
          <a:solidFill>
            <a:srgbClr val="FFFCF8"/>
          </a:solidFill>
          <a:ln w="12700">
            <a:solidFill>
              <a:srgbClr val="E4DD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475488" y="3218688"/>
            <a:ext cx="2240280" cy="384048"/>
          </a:xfrm>
          <a:prstGeom prst="rect">
            <a:avLst/>
          </a:prstGeom>
          <a:noFill/>
        </p:spPr>
        <p:txBody>
          <a:bodyPr wrap="square" lIns="0" tIns="0" rIns="0" bIns="0" anchor="ctr"/>
          <a:lstStyle/>
          <a:p>
            <a:pPr algn="l"/>
            <a:r>
              <a:rPr sz="1300" b="1">
                <a:solidFill>
                  <a:srgbClr val="1C1915"/>
                </a:solidFill>
                <a:latin typeface="Calibri"/>
              </a:rPr>
              <a:t>A5  EvidenceAgent</a:t>
            </a:r>
          </a:p>
        </p:txBody>
      </p:sp>
      <p:sp>
        <p:nvSpPr>
          <p:cNvPr id="30" name="TextBox 29"/>
          <p:cNvSpPr txBox="1"/>
          <p:nvPr/>
        </p:nvSpPr>
        <p:spPr>
          <a:xfrm>
            <a:off x="2788920" y="3218688"/>
            <a:ext cx="4663440" cy="384048"/>
          </a:xfrm>
          <a:prstGeom prst="rect">
            <a:avLst/>
          </a:prstGeom>
          <a:noFill/>
        </p:spPr>
        <p:txBody>
          <a:bodyPr wrap="square" lIns="0" tIns="0" rIns="0" bIns="0" anchor="ctr"/>
          <a:lstStyle/>
          <a:p>
            <a:pPr algn="l"/>
            <a:r>
              <a:rPr sz="1300" b="0">
                <a:solidFill>
                  <a:srgbClr val="1C1915"/>
                </a:solidFill>
                <a:latin typeface="Calibri"/>
              </a:rPr>
              <a:t>Confirmations and other outward evidence</a:t>
            </a:r>
          </a:p>
        </p:txBody>
      </p:sp>
      <p:sp>
        <p:nvSpPr>
          <p:cNvPr id="31" name="TextBox 30"/>
          <p:cNvSpPr txBox="1"/>
          <p:nvPr/>
        </p:nvSpPr>
        <p:spPr>
          <a:xfrm>
            <a:off x="7589520" y="3218688"/>
            <a:ext cx="2286000" cy="384048"/>
          </a:xfrm>
          <a:prstGeom prst="rect">
            <a:avLst/>
          </a:prstGeom>
          <a:noFill/>
        </p:spPr>
        <p:txBody>
          <a:bodyPr wrap="square" lIns="0" tIns="0" rIns="0" bIns="0" anchor="ctr"/>
          <a:lstStyle/>
          <a:p>
            <a:pPr algn="l"/>
            <a:r>
              <a:rPr sz="1300" b="0">
                <a:solidFill>
                  <a:srgbClr val="5E584F"/>
                </a:solidFill>
                <a:latin typeface="Calibri"/>
              </a:rPr>
              <a:t>Rules, no model</a:t>
            </a:r>
          </a:p>
        </p:txBody>
      </p:sp>
      <p:sp>
        <p:nvSpPr>
          <p:cNvPr id="32" name="TextBox 31"/>
          <p:cNvSpPr txBox="1"/>
          <p:nvPr/>
        </p:nvSpPr>
        <p:spPr>
          <a:xfrm>
            <a:off x="10012680" y="3218688"/>
            <a:ext cx="1691640" cy="384048"/>
          </a:xfrm>
          <a:prstGeom prst="rect">
            <a:avLst/>
          </a:prstGeom>
          <a:noFill/>
        </p:spPr>
        <p:txBody>
          <a:bodyPr wrap="square" lIns="0" tIns="0" rIns="0" bIns="0" anchor="ctr"/>
          <a:lstStyle/>
          <a:p>
            <a:pPr algn="ctr"/>
            <a:r>
              <a:rPr sz="1300" b="1">
                <a:solidFill>
                  <a:srgbClr val="0F5E5A"/>
                </a:solidFill>
                <a:latin typeface="Calibri"/>
              </a:rPr>
              <a:t>9</a:t>
            </a:r>
          </a:p>
        </p:txBody>
      </p:sp>
      <p:sp>
        <p:nvSpPr>
          <p:cNvPr id="33" name="Rounded Rectangle 32"/>
          <p:cNvSpPr/>
          <p:nvPr/>
        </p:nvSpPr>
        <p:spPr>
          <a:xfrm>
            <a:off x="365760" y="3639312"/>
            <a:ext cx="11448288" cy="384048"/>
          </a:xfrm>
          <a:prstGeom prst="roundRect">
            <a:avLst>
              <a:gd name="adj" fmla="val 8000"/>
            </a:avLst>
          </a:prstGeom>
          <a:solidFill>
            <a:srgbClr val="FFFCF8"/>
          </a:solidFill>
          <a:ln w="12700">
            <a:solidFill>
              <a:srgbClr val="E4DD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475488" y="3639312"/>
            <a:ext cx="2240280" cy="384048"/>
          </a:xfrm>
          <a:prstGeom prst="rect">
            <a:avLst/>
          </a:prstGeom>
          <a:noFill/>
        </p:spPr>
        <p:txBody>
          <a:bodyPr wrap="square" lIns="0" tIns="0" rIns="0" bIns="0" anchor="ctr"/>
          <a:lstStyle/>
          <a:p>
            <a:pPr algn="l"/>
            <a:r>
              <a:rPr sz="1300" b="1">
                <a:solidFill>
                  <a:srgbClr val="1C1915"/>
                </a:solidFill>
                <a:latin typeface="Calibri"/>
              </a:rPr>
              <a:t>A6  FieldworkAgent</a:t>
            </a:r>
          </a:p>
        </p:txBody>
      </p:sp>
      <p:sp>
        <p:nvSpPr>
          <p:cNvPr id="35" name="TextBox 34"/>
          <p:cNvSpPr txBox="1"/>
          <p:nvPr/>
        </p:nvSpPr>
        <p:spPr>
          <a:xfrm>
            <a:off x="2788920" y="3639312"/>
            <a:ext cx="4663440" cy="384048"/>
          </a:xfrm>
          <a:prstGeom prst="rect">
            <a:avLst/>
          </a:prstGeom>
          <a:noFill/>
        </p:spPr>
        <p:txBody>
          <a:bodyPr wrap="square" lIns="0" tIns="0" rIns="0" bIns="0" anchor="ctr"/>
          <a:lstStyle/>
          <a:p>
            <a:pPr algn="l"/>
            <a:r>
              <a:rPr sz="1300" b="0">
                <a:solidFill>
                  <a:srgbClr val="1C1915"/>
                </a:solidFill>
                <a:latin typeface="Calibri"/>
              </a:rPr>
              <a:t>Substantive judgments, many instances in parallel</a:t>
            </a:r>
          </a:p>
        </p:txBody>
      </p:sp>
      <p:sp>
        <p:nvSpPr>
          <p:cNvPr id="36" name="TextBox 35"/>
          <p:cNvSpPr txBox="1"/>
          <p:nvPr/>
        </p:nvSpPr>
        <p:spPr>
          <a:xfrm>
            <a:off x="7589520" y="3639312"/>
            <a:ext cx="2286000" cy="384048"/>
          </a:xfrm>
          <a:prstGeom prst="rect">
            <a:avLst/>
          </a:prstGeom>
          <a:noFill/>
        </p:spPr>
        <p:txBody>
          <a:bodyPr wrap="square" lIns="0" tIns="0" rIns="0" bIns="0" anchor="ctr"/>
          <a:lstStyle/>
          <a:p>
            <a:pPr algn="l"/>
            <a:r>
              <a:rPr sz="1300" b="0">
                <a:solidFill>
                  <a:srgbClr val="5E584F"/>
                </a:solidFill>
                <a:latin typeface="Calibri"/>
              </a:rPr>
              <a:t>Rules + model</a:t>
            </a:r>
          </a:p>
        </p:txBody>
      </p:sp>
      <p:sp>
        <p:nvSpPr>
          <p:cNvPr id="37" name="TextBox 36"/>
          <p:cNvSpPr txBox="1"/>
          <p:nvPr/>
        </p:nvSpPr>
        <p:spPr>
          <a:xfrm>
            <a:off x="10012680" y="3639312"/>
            <a:ext cx="1691640" cy="384048"/>
          </a:xfrm>
          <a:prstGeom prst="rect">
            <a:avLst/>
          </a:prstGeom>
          <a:noFill/>
        </p:spPr>
        <p:txBody>
          <a:bodyPr wrap="square" lIns="0" tIns="0" rIns="0" bIns="0" anchor="ctr"/>
          <a:lstStyle/>
          <a:p>
            <a:pPr algn="ctr"/>
            <a:r>
              <a:rPr sz="1300" b="1">
                <a:solidFill>
                  <a:srgbClr val="0F5E5A"/>
                </a:solidFill>
                <a:latin typeface="Calibri"/>
              </a:rPr>
              <a:t>80</a:t>
            </a:r>
          </a:p>
        </p:txBody>
      </p:sp>
      <p:sp>
        <p:nvSpPr>
          <p:cNvPr id="38" name="Rounded Rectangle 37"/>
          <p:cNvSpPr/>
          <p:nvPr/>
        </p:nvSpPr>
        <p:spPr>
          <a:xfrm>
            <a:off x="365760" y="4059936"/>
            <a:ext cx="11448288" cy="384048"/>
          </a:xfrm>
          <a:prstGeom prst="roundRect">
            <a:avLst>
              <a:gd name="adj" fmla="val 8000"/>
            </a:avLst>
          </a:prstGeom>
          <a:solidFill>
            <a:srgbClr val="F7F4EE"/>
          </a:solidFill>
          <a:ln w="12700">
            <a:solidFill>
              <a:srgbClr val="8A8175"/>
            </a:solidFill>
            <a:prstDash val="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475488" y="4059936"/>
            <a:ext cx="2240280" cy="384048"/>
          </a:xfrm>
          <a:prstGeom prst="rect">
            <a:avLst/>
          </a:prstGeom>
          <a:noFill/>
        </p:spPr>
        <p:txBody>
          <a:bodyPr wrap="square" lIns="0" tIns="0" rIns="0" bIns="0" anchor="ctr"/>
          <a:lstStyle/>
          <a:p>
            <a:pPr algn="l"/>
            <a:r>
              <a:rPr sz="1300" b="1">
                <a:solidFill>
                  <a:srgbClr val="1C1915"/>
                </a:solidFill>
                <a:latin typeface="Calibri"/>
              </a:rPr>
              <a:t>A7  ReviewAgent</a:t>
            </a:r>
          </a:p>
        </p:txBody>
      </p:sp>
      <p:sp>
        <p:nvSpPr>
          <p:cNvPr id="40" name="TextBox 39"/>
          <p:cNvSpPr txBox="1"/>
          <p:nvPr/>
        </p:nvSpPr>
        <p:spPr>
          <a:xfrm>
            <a:off x="2788920" y="4059936"/>
            <a:ext cx="4663440" cy="384048"/>
          </a:xfrm>
          <a:prstGeom prst="rect">
            <a:avLst/>
          </a:prstGeom>
          <a:noFill/>
        </p:spPr>
        <p:txBody>
          <a:bodyPr wrap="square" lIns="0" tIns="0" rIns="0" bIns="0" anchor="ctr"/>
          <a:lstStyle/>
          <a:p>
            <a:pPr algn="l"/>
            <a:r>
              <a:rPr sz="1300" b="0">
                <a:solidFill>
                  <a:srgbClr val="1C1915"/>
                </a:solidFill>
                <a:latin typeface="Calibri"/>
              </a:rPr>
              <a:t>A second conclusion from the evidence alone</a:t>
            </a:r>
          </a:p>
        </p:txBody>
      </p:sp>
      <p:sp>
        <p:nvSpPr>
          <p:cNvPr id="41" name="TextBox 40"/>
          <p:cNvSpPr txBox="1"/>
          <p:nvPr/>
        </p:nvSpPr>
        <p:spPr>
          <a:xfrm>
            <a:off x="7589520" y="4059936"/>
            <a:ext cx="2286000" cy="384048"/>
          </a:xfrm>
          <a:prstGeom prst="rect">
            <a:avLst/>
          </a:prstGeom>
          <a:noFill/>
        </p:spPr>
        <p:txBody>
          <a:bodyPr wrap="square" lIns="0" tIns="0" rIns="0" bIns="0" anchor="ctr"/>
          <a:lstStyle/>
          <a:p>
            <a:pPr algn="l"/>
            <a:r>
              <a:rPr sz="1300" b="0">
                <a:solidFill>
                  <a:srgbClr val="5E584F"/>
                </a:solidFill>
                <a:latin typeface="Calibri"/>
              </a:rPr>
              <a:t>A different model</a:t>
            </a:r>
          </a:p>
        </p:txBody>
      </p:sp>
      <p:sp>
        <p:nvSpPr>
          <p:cNvPr id="42" name="TextBox 41"/>
          <p:cNvSpPr txBox="1"/>
          <p:nvPr/>
        </p:nvSpPr>
        <p:spPr>
          <a:xfrm>
            <a:off x="10012680" y="4059936"/>
            <a:ext cx="1691640" cy="384048"/>
          </a:xfrm>
          <a:prstGeom prst="rect">
            <a:avLst/>
          </a:prstGeom>
          <a:noFill/>
        </p:spPr>
        <p:txBody>
          <a:bodyPr wrap="square" lIns="0" tIns="0" rIns="0" bIns="0" anchor="ctr"/>
          <a:lstStyle/>
          <a:p>
            <a:pPr algn="ctr"/>
            <a:r>
              <a:rPr sz="1300" b="1">
                <a:solidFill>
                  <a:srgbClr val="8C4A1F"/>
                </a:solidFill>
                <a:latin typeface="Calibri"/>
              </a:rPr>
              <a:t>1 · spec</a:t>
            </a:r>
          </a:p>
        </p:txBody>
      </p:sp>
      <p:sp>
        <p:nvSpPr>
          <p:cNvPr id="43" name="Rounded Rectangle 42"/>
          <p:cNvSpPr/>
          <p:nvPr/>
        </p:nvSpPr>
        <p:spPr>
          <a:xfrm>
            <a:off x="365760" y="4480560"/>
            <a:ext cx="11448288" cy="384048"/>
          </a:xfrm>
          <a:prstGeom prst="roundRect">
            <a:avLst>
              <a:gd name="adj" fmla="val 8000"/>
            </a:avLst>
          </a:prstGeom>
          <a:solidFill>
            <a:srgbClr val="F7F4EE"/>
          </a:solidFill>
          <a:ln w="12700">
            <a:solidFill>
              <a:srgbClr val="8A8175"/>
            </a:solidFill>
            <a:prstDash val="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475488" y="4480560"/>
            <a:ext cx="2240280" cy="384048"/>
          </a:xfrm>
          <a:prstGeom prst="rect">
            <a:avLst/>
          </a:prstGeom>
          <a:noFill/>
        </p:spPr>
        <p:txBody>
          <a:bodyPr wrap="square" lIns="0" tIns="0" rIns="0" bIns="0" anchor="ctr"/>
          <a:lstStyle/>
          <a:p>
            <a:pPr algn="l"/>
            <a:r>
              <a:rPr sz="1300" b="1">
                <a:solidFill>
                  <a:srgbClr val="1C1915"/>
                </a:solidFill>
                <a:latin typeface="Calibri"/>
              </a:rPr>
              <a:t>A8  WorkpaperAgent</a:t>
            </a:r>
          </a:p>
        </p:txBody>
      </p:sp>
      <p:sp>
        <p:nvSpPr>
          <p:cNvPr id="45" name="TextBox 44"/>
          <p:cNvSpPr txBox="1"/>
          <p:nvPr/>
        </p:nvSpPr>
        <p:spPr>
          <a:xfrm>
            <a:off x="2788920" y="4480560"/>
            <a:ext cx="4663440" cy="384048"/>
          </a:xfrm>
          <a:prstGeom prst="rect">
            <a:avLst/>
          </a:prstGeom>
          <a:noFill/>
        </p:spPr>
        <p:txBody>
          <a:bodyPr wrap="square" lIns="0" tIns="0" rIns="0" bIns="0" anchor="ctr"/>
          <a:lstStyle/>
          <a:p>
            <a:pPr algn="l"/>
            <a:r>
              <a:rPr sz="1300" b="0">
                <a:solidFill>
                  <a:srgbClr val="1C1915"/>
                </a:solidFill>
                <a:latin typeface="Calibri"/>
              </a:rPr>
              <a:t>Workpapers and misstatement classification</a:t>
            </a:r>
          </a:p>
        </p:txBody>
      </p:sp>
      <p:sp>
        <p:nvSpPr>
          <p:cNvPr id="46" name="TextBox 45"/>
          <p:cNvSpPr txBox="1"/>
          <p:nvPr/>
        </p:nvSpPr>
        <p:spPr>
          <a:xfrm>
            <a:off x="7589520" y="4480560"/>
            <a:ext cx="2286000" cy="384048"/>
          </a:xfrm>
          <a:prstGeom prst="rect">
            <a:avLst/>
          </a:prstGeom>
          <a:noFill/>
        </p:spPr>
        <p:txBody>
          <a:bodyPr wrap="square" lIns="0" tIns="0" rIns="0" bIns="0" anchor="ctr"/>
          <a:lstStyle/>
          <a:p>
            <a:pPr algn="l"/>
            <a:r>
              <a:rPr sz="1300" b="0">
                <a:solidFill>
                  <a:srgbClr val="5E584F"/>
                </a:solidFill>
                <a:latin typeface="Calibri"/>
              </a:rPr>
              <a:t>Language model</a:t>
            </a:r>
          </a:p>
        </p:txBody>
      </p:sp>
      <p:sp>
        <p:nvSpPr>
          <p:cNvPr id="47" name="TextBox 46"/>
          <p:cNvSpPr txBox="1"/>
          <p:nvPr/>
        </p:nvSpPr>
        <p:spPr>
          <a:xfrm>
            <a:off x="10012680" y="4480560"/>
            <a:ext cx="1691640" cy="384048"/>
          </a:xfrm>
          <a:prstGeom prst="rect">
            <a:avLst/>
          </a:prstGeom>
          <a:noFill/>
        </p:spPr>
        <p:txBody>
          <a:bodyPr wrap="square" lIns="0" tIns="0" rIns="0" bIns="0" anchor="ctr"/>
          <a:lstStyle/>
          <a:p>
            <a:pPr algn="ctr"/>
            <a:r>
              <a:rPr sz="1300" b="1">
                <a:solidFill>
                  <a:srgbClr val="8C4A1F"/>
                </a:solidFill>
                <a:latin typeface="Calibri"/>
              </a:rPr>
              <a:t>6 · spec</a:t>
            </a:r>
          </a:p>
        </p:txBody>
      </p:sp>
      <p:sp>
        <p:nvSpPr>
          <p:cNvPr id="48" name="Rounded Rectangle 47"/>
          <p:cNvSpPr/>
          <p:nvPr/>
        </p:nvSpPr>
        <p:spPr>
          <a:xfrm>
            <a:off x="365760" y="4901184"/>
            <a:ext cx="11448288" cy="384048"/>
          </a:xfrm>
          <a:prstGeom prst="roundRect">
            <a:avLst>
              <a:gd name="adj" fmla="val 8000"/>
            </a:avLst>
          </a:prstGeom>
          <a:solidFill>
            <a:srgbClr val="FFFCF8"/>
          </a:solidFill>
          <a:ln w="12700">
            <a:solidFill>
              <a:srgbClr val="E4DD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475488" y="4901184"/>
            <a:ext cx="2240280" cy="384048"/>
          </a:xfrm>
          <a:prstGeom prst="rect">
            <a:avLst/>
          </a:prstGeom>
          <a:noFill/>
        </p:spPr>
        <p:txBody>
          <a:bodyPr wrap="square" lIns="0" tIns="0" rIns="0" bIns="0" anchor="ctr"/>
          <a:lstStyle/>
          <a:p>
            <a:pPr algn="l"/>
            <a:r>
              <a:rPr sz="1300" b="1">
                <a:solidFill>
                  <a:srgbClr val="1C1915"/>
                </a:solidFill>
                <a:latin typeface="Calibri"/>
              </a:rPr>
              <a:t>A9  QCAgent</a:t>
            </a:r>
          </a:p>
        </p:txBody>
      </p:sp>
      <p:sp>
        <p:nvSpPr>
          <p:cNvPr id="50" name="TextBox 49"/>
          <p:cNvSpPr txBox="1"/>
          <p:nvPr/>
        </p:nvSpPr>
        <p:spPr>
          <a:xfrm>
            <a:off x="2788920" y="4901184"/>
            <a:ext cx="4663440" cy="384048"/>
          </a:xfrm>
          <a:prstGeom prst="rect">
            <a:avLst/>
          </a:prstGeom>
          <a:noFill/>
        </p:spPr>
        <p:txBody>
          <a:bodyPr wrap="square" lIns="0" tIns="0" rIns="0" bIns="0" anchor="ctr"/>
          <a:lstStyle/>
          <a:p>
            <a:pPr algn="l"/>
            <a:r>
              <a:rPr sz="1300" b="0">
                <a:solidFill>
                  <a:srgbClr val="1C1915"/>
                </a:solidFill>
                <a:latin typeface="Calibri"/>
              </a:rPr>
              <a:t>Misstatement roll-up, completeness, tie-out</a:t>
            </a:r>
          </a:p>
        </p:txBody>
      </p:sp>
      <p:sp>
        <p:nvSpPr>
          <p:cNvPr id="51" name="TextBox 50"/>
          <p:cNvSpPr txBox="1"/>
          <p:nvPr/>
        </p:nvSpPr>
        <p:spPr>
          <a:xfrm>
            <a:off x="7589520" y="4901184"/>
            <a:ext cx="2286000" cy="384048"/>
          </a:xfrm>
          <a:prstGeom prst="rect">
            <a:avLst/>
          </a:prstGeom>
          <a:noFill/>
        </p:spPr>
        <p:txBody>
          <a:bodyPr wrap="square" lIns="0" tIns="0" rIns="0" bIns="0" anchor="ctr"/>
          <a:lstStyle/>
          <a:p>
            <a:pPr algn="l"/>
            <a:r>
              <a:rPr sz="1300" b="0">
                <a:solidFill>
                  <a:srgbClr val="5E584F"/>
                </a:solidFill>
                <a:latin typeface="Calibri"/>
              </a:rPr>
              <a:t>Rules, no model</a:t>
            </a:r>
          </a:p>
        </p:txBody>
      </p:sp>
      <p:sp>
        <p:nvSpPr>
          <p:cNvPr id="52" name="TextBox 51"/>
          <p:cNvSpPr txBox="1"/>
          <p:nvPr/>
        </p:nvSpPr>
        <p:spPr>
          <a:xfrm>
            <a:off x="10012680" y="4901184"/>
            <a:ext cx="1691640" cy="384048"/>
          </a:xfrm>
          <a:prstGeom prst="rect">
            <a:avLst/>
          </a:prstGeom>
          <a:noFill/>
        </p:spPr>
        <p:txBody>
          <a:bodyPr wrap="square" lIns="0" tIns="0" rIns="0" bIns="0" anchor="ctr"/>
          <a:lstStyle/>
          <a:p>
            <a:pPr algn="ctr"/>
            <a:r>
              <a:rPr sz="1300" b="1">
                <a:solidFill>
                  <a:srgbClr val="0F5E5A"/>
                </a:solidFill>
                <a:latin typeface="Calibri"/>
              </a:rPr>
              <a:t>7</a:t>
            </a:r>
          </a:p>
        </p:txBody>
      </p:sp>
      <p:sp>
        <p:nvSpPr>
          <p:cNvPr id="53" name="Rounded Rectangle 52"/>
          <p:cNvSpPr/>
          <p:nvPr/>
        </p:nvSpPr>
        <p:spPr>
          <a:xfrm>
            <a:off x="365760" y="5321808"/>
            <a:ext cx="11448288" cy="384048"/>
          </a:xfrm>
          <a:prstGeom prst="roundRect">
            <a:avLst>
              <a:gd name="adj" fmla="val 8000"/>
            </a:avLst>
          </a:prstGeom>
          <a:solidFill>
            <a:srgbClr val="FFFCF8"/>
          </a:solidFill>
          <a:ln w="12700">
            <a:solidFill>
              <a:srgbClr val="E4DD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475488" y="5321808"/>
            <a:ext cx="2240280" cy="384048"/>
          </a:xfrm>
          <a:prstGeom prst="rect">
            <a:avLst/>
          </a:prstGeom>
          <a:noFill/>
        </p:spPr>
        <p:txBody>
          <a:bodyPr wrap="square" lIns="0" tIns="0" rIns="0" bIns="0" anchor="ctr"/>
          <a:lstStyle/>
          <a:p>
            <a:pPr algn="l"/>
            <a:r>
              <a:rPr sz="1300" b="1">
                <a:solidFill>
                  <a:srgbClr val="1C1915"/>
                </a:solidFill>
                <a:latin typeface="Calibri"/>
              </a:rPr>
              <a:t>A10  Concierge</a:t>
            </a:r>
          </a:p>
        </p:txBody>
      </p:sp>
      <p:sp>
        <p:nvSpPr>
          <p:cNvPr id="55" name="TextBox 54"/>
          <p:cNvSpPr txBox="1"/>
          <p:nvPr/>
        </p:nvSpPr>
        <p:spPr>
          <a:xfrm>
            <a:off x="2788920" y="5321808"/>
            <a:ext cx="4663440" cy="384048"/>
          </a:xfrm>
          <a:prstGeom prst="rect">
            <a:avLst/>
          </a:prstGeom>
          <a:noFill/>
        </p:spPr>
        <p:txBody>
          <a:bodyPr wrap="square" lIns="0" tIns="0" rIns="0" bIns="0" anchor="ctr"/>
          <a:lstStyle/>
          <a:p>
            <a:pPr algn="l"/>
            <a:r>
              <a:rPr sz="1300" b="0">
                <a:solidFill>
                  <a:srgbClr val="1C1915"/>
                </a:solidFill>
                <a:latin typeface="Calibri"/>
              </a:rPr>
              <a:t>Presents the item, records the decision, drafts</a:t>
            </a:r>
          </a:p>
        </p:txBody>
      </p:sp>
      <p:sp>
        <p:nvSpPr>
          <p:cNvPr id="56" name="TextBox 55"/>
          <p:cNvSpPr txBox="1"/>
          <p:nvPr/>
        </p:nvSpPr>
        <p:spPr>
          <a:xfrm>
            <a:off x="7589520" y="5321808"/>
            <a:ext cx="2286000" cy="384048"/>
          </a:xfrm>
          <a:prstGeom prst="rect">
            <a:avLst/>
          </a:prstGeom>
          <a:noFill/>
        </p:spPr>
        <p:txBody>
          <a:bodyPr wrap="square" lIns="0" tIns="0" rIns="0" bIns="0" anchor="ctr"/>
          <a:lstStyle/>
          <a:p>
            <a:pPr algn="l"/>
            <a:r>
              <a:rPr sz="1300" b="0">
                <a:solidFill>
                  <a:srgbClr val="5E584F"/>
                </a:solidFill>
                <a:latin typeface="Calibri"/>
              </a:rPr>
              <a:t>Language model</a:t>
            </a:r>
          </a:p>
        </p:txBody>
      </p:sp>
      <p:sp>
        <p:nvSpPr>
          <p:cNvPr id="57" name="TextBox 56"/>
          <p:cNvSpPr txBox="1"/>
          <p:nvPr/>
        </p:nvSpPr>
        <p:spPr>
          <a:xfrm>
            <a:off x="10012680" y="5321808"/>
            <a:ext cx="1691640" cy="384048"/>
          </a:xfrm>
          <a:prstGeom prst="rect">
            <a:avLst/>
          </a:prstGeom>
          <a:noFill/>
        </p:spPr>
        <p:txBody>
          <a:bodyPr wrap="square" lIns="0" tIns="0" rIns="0" bIns="0" anchor="ctr"/>
          <a:lstStyle/>
          <a:p>
            <a:pPr algn="ctr"/>
            <a:r>
              <a:rPr sz="1300" b="1">
                <a:solidFill>
                  <a:srgbClr val="0F5E5A"/>
                </a:solidFill>
                <a:latin typeface="Calibri"/>
              </a:rPr>
              <a:t>15</a:t>
            </a:r>
          </a:p>
        </p:txBody>
      </p:sp>
      <p:sp>
        <p:nvSpPr>
          <p:cNvPr id="58" name="TextBox 57"/>
          <p:cNvSpPr txBox="1"/>
          <p:nvPr/>
        </p:nvSpPr>
        <p:spPr>
          <a:xfrm>
            <a:off x="365760" y="5852160"/>
            <a:ext cx="11430000" cy="365760"/>
          </a:xfrm>
          <a:prstGeom prst="rect">
            <a:avLst/>
          </a:prstGeom>
          <a:noFill/>
        </p:spPr>
        <p:txBody>
          <a:bodyPr wrap="square" lIns="0" tIns="0" rIns="0" bIns="0" anchor="t"/>
          <a:lstStyle/>
          <a:p>
            <a:pPr algn="l"/>
            <a:r>
              <a:rPr sz="1300" b="0">
                <a:solidFill>
                  <a:srgbClr val="5E584F"/>
                </a:solidFill>
                <a:latin typeface="Calibri"/>
              </a:rPr>
              <a:t>Counts are the specification. This prototype runs 17 procedures. Dashed rows are not wired in. A10 writes the auditor's decision as given.</a:t>
            </a:r>
          </a:p>
        </p:txBody>
      </p:sp>
      <p:sp>
        <p:nvSpPr>
          <p:cNvPr id="59" name="TextBox 58"/>
          <p:cNvSpPr txBox="1"/>
          <p:nvPr/>
        </p:nvSpPr>
        <p:spPr>
          <a:xfrm>
            <a:off x="411480" y="6510528"/>
            <a:ext cx="5486400" cy="256032"/>
          </a:xfrm>
          <a:prstGeom prst="rect">
            <a:avLst/>
          </a:prstGeom>
          <a:noFill/>
        </p:spPr>
        <p:txBody>
          <a:bodyPr wrap="square" lIns="0" tIns="0" rIns="0" bIns="0" anchor="t"/>
          <a:lstStyle/>
          <a:p>
            <a:pPr algn="l"/>
            <a:r>
              <a:rPr sz="1200" b="0">
                <a:solidFill>
                  <a:srgbClr val="5E584F"/>
                </a:solidFill>
                <a:latin typeface="Calibri"/>
              </a:rPr>
              <a:t>ELEC5620 · Group 16</a:t>
            </a:r>
          </a:p>
        </p:txBody>
      </p:sp>
      <p:sp>
        <p:nvSpPr>
          <p:cNvPr id="60" name="TextBox 59"/>
          <p:cNvSpPr txBox="1"/>
          <p:nvPr/>
        </p:nvSpPr>
        <p:spPr>
          <a:xfrm>
            <a:off x="9509760" y="6510528"/>
            <a:ext cx="2286000" cy="256032"/>
          </a:xfrm>
          <a:prstGeom prst="rect">
            <a:avLst/>
          </a:prstGeom>
          <a:noFill/>
        </p:spPr>
        <p:txBody>
          <a:bodyPr wrap="square" lIns="0" tIns="0" rIns="0" bIns="0" anchor="t"/>
          <a:lstStyle/>
          <a:p>
            <a:pPr algn="r"/>
            <a:r>
              <a:rPr sz="1200" b="0">
                <a:solidFill>
                  <a:srgbClr val="5E584F"/>
                </a:solidFill>
                <a:latin typeface="Calibri"/>
              </a:rPr>
              <a:t>5 / 39</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4EE"/>
        </a:solidFill>
        <a:effectLst/>
      </p:bgPr>
    </p:bg>
    <p:spTree>
      <p:nvGrpSpPr>
        <p:cNvPr id="1" name=""/>
        <p:cNvGrpSpPr/>
        <p:nvPr/>
      </p:nvGrpSpPr>
      <p:grpSpPr>
        <a:xfrm>
          <a:off x="0" y="0"/>
          <a:ext cx="0" cy="0"/>
          <a:chOff x="0" y="0"/>
          <a:chExt cx="0" cy="0"/>
        </a:xfrm>
      </p:grpSpPr>
      <p:sp>
        <p:nvSpPr>
          <p:cNvPr id="2" name="TextBox 1"/>
          <p:cNvSpPr txBox="1"/>
          <p:nvPr/>
        </p:nvSpPr>
        <p:spPr>
          <a:xfrm>
            <a:off x="411480" y="256032"/>
            <a:ext cx="3840480" cy="256032"/>
          </a:xfrm>
          <a:prstGeom prst="rect">
            <a:avLst/>
          </a:prstGeom>
          <a:noFill/>
        </p:spPr>
        <p:txBody>
          <a:bodyPr wrap="square" lIns="0" tIns="0" rIns="0" bIns="0" anchor="t"/>
          <a:lstStyle/>
          <a:p>
            <a:pPr algn="l"/>
            <a:r>
              <a:rPr sz="1200" b="1">
                <a:solidFill>
                  <a:srgbClr val="0F5E5A"/>
                </a:solidFill>
                <a:latin typeface="Calibri"/>
              </a:rPr>
              <a:t>MEMBER A</a:t>
            </a:r>
          </a:p>
        </p:txBody>
      </p:sp>
      <p:sp>
        <p:nvSpPr>
          <p:cNvPr id="3" name="Rounded Rectangle 2"/>
          <p:cNvSpPr/>
          <p:nvPr/>
        </p:nvSpPr>
        <p:spPr>
          <a:xfrm>
            <a:off x="4114800" y="237744"/>
            <a:ext cx="2103120" cy="274320"/>
          </a:xfrm>
          <a:prstGeom prst="roundRect">
            <a:avLst>
              <a:gd name="adj" fmla="val 8000"/>
            </a:avLst>
          </a:prstGeom>
          <a:solidFill>
            <a:srgbClr val="F7F4EE"/>
          </a:solidFill>
          <a:ln w="12700">
            <a:solidFill>
              <a:srgbClr val="E4DD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14800" y="237744"/>
            <a:ext cx="2103120" cy="274320"/>
          </a:xfrm>
          <a:prstGeom prst="rect">
            <a:avLst/>
          </a:prstGeom>
          <a:noFill/>
        </p:spPr>
        <p:txBody>
          <a:bodyPr wrap="square" lIns="0" tIns="0" rIns="0" bIns="0" anchor="ctr"/>
          <a:lstStyle/>
          <a:p>
            <a:pPr algn="ctr"/>
            <a:r>
              <a:rPr sz="1200" b="0">
                <a:solidFill>
                  <a:srgbClr val="5E584F"/>
                </a:solidFill>
                <a:latin typeface="Calibri"/>
              </a:rPr>
              <a:t>One agent</a:t>
            </a:r>
          </a:p>
        </p:txBody>
      </p:sp>
      <p:sp>
        <p:nvSpPr>
          <p:cNvPr id="5" name="TextBox 4"/>
          <p:cNvSpPr txBox="1"/>
          <p:nvPr/>
        </p:nvSpPr>
        <p:spPr>
          <a:xfrm>
            <a:off x="365760" y="548640"/>
            <a:ext cx="11430000" cy="365760"/>
          </a:xfrm>
          <a:prstGeom prst="rect">
            <a:avLst/>
          </a:prstGeom>
          <a:noFill/>
        </p:spPr>
        <p:txBody>
          <a:bodyPr wrap="square" lIns="0" tIns="0" rIns="0" bIns="0" anchor="t"/>
          <a:lstStyle/>
          <a:p>
            <a:pPr algn="l"/>
            <a:r>
              <a:rPr sz="2600" b="1">
                <a:solidFill>
                  <a:srgbClr val="1C1915"/>
                </a:solidFill>
                <a:latin typeface="Calibri"/>
              </a:rPr>
              <a:t>A6, one procedure: judge the cutoff</a:t>
            </a:r>
          </a:p>
        </p:txBody>
      </p:sp>
      <p:sp>
        <p:nvSpPr>
          <p:cNvPr id="6" name="TextBox 5"/>
          <p:cNvSpPr txBox="1"/>
          <p:nvPr/>
        </p:nvSpPr>
        <p:spPr>
          <a:xfrm>
            <a:off x="365760" y="960120"/>
            <a:ext cx="11430000" cy="292608"/>
          </a:xfrm>
          <a:prstGeom prst="rect">
            <a:avLst/>
          </a:prstGeom>
          <a:noFill/>
        </p:spPr>
        <p:txBody>
          <a:bodyPr wrap="square" lIns="0" tIns="0" rIns="0" bIns="0" anchor="t"/>
          <a:lstStyle/>
          <a:p>
            <a:pPr algn="l"/>
            <a:r>
              <a:rPr sz="1500" b="0">
                <a:solidFill>
                  <a:srgbClr val="5E584F"/>
                </a:solidFill>
                <a:latin typeface="Calibri"/>
              </a:rPr>
              <a:t>FieldworkAgent · REV-02 · hybrid · level 2. A rule selects the invoices. The model judges each one. The auditor reviews each one.</a:t>
            </a:r>
          </a:p>
        </p:txBody>
      </p:sp>
      <p:sp>
        <p:nvSpPr>
          <p:cNvPr id="7" name="Rounded Rectangle 6"/>
          <p:cNvSpPr/>
          <p:nvPr/>
        </p:nvSpPr>
        <p:spPr>
          <a:xfrm>
            <a:off x="320040" y="1417320"/>
            <a:ext cx="2084831" cy="3246120"/>
          </a:xfrm>
          <a:prstGeom prst="roundRect">
            <a:avLst>
              <a:gd name="adj" fmla="val 8000"/>
            </a:avLst>
          </a:prstGeom>
          <a:solidFill>
            <a:srgbClr val="FFFCF8"/>
          </a:solidFill>
          <a:ln w="12700">
            <a:solidFill>
              <a:srgbClr val="E4DD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48056" y="1563624"/>
            <a:ext cx="1828799" cy="329184"/>
          </a:xfrm>
          <a:prstGeom prst="rect">
            <a:avLst/>
          </a:prstGeom>
          <a:noFill/>
        </p:spPr>
        <p:txBody>
          <a:bodyPr wrap="square" lIns="0" tIns="0" rIns="0" bIns="0" anchor="t"/>
          <a:lstStyle/>
          <a:p>
            <a:pPr algn="l"/>
            <a:r>
              <a:rPr sz="1800" b="1">
                <a:solidFill>
                  <a:srgbClr val="0F5E5A"/>
                </a:solidFill>
                <a:latin typeface="Calibri"/>
              </a:rPr>
              <a:t>01</a:t>
            </a:r>
          </a:p>
        </p:txBody>
      </p:sp>
      <p:sp>
        <p:nvSpPr>
          <p:cNvPr id="9" name="TextBox 8"/>
          <p:cNvSpPr txBox="1"/>
          <p:nvPr/>
        </p:nvSpPr>
        <p:spPr>
          <a:xfrm>
            <a:off x="448056" y="1947672"/>
            <a:ext cx="1828799" cy="365760"/>
          </a:xfrm>
          <a:prstGeom prst="rect">
            <a:avLst/>
          </a:prstGeom>
          <a:noFill/>
        </p:spPr>
        <p:txBody>
          <a:bodyPr wrap="square" lIns="0" tIns="0" rIns="0" bIns="0" anchor="t"/>
          <a:lstStyle/>
          <a:p>
            <a:pPr algn="l"/>
            <a:r>
              <a:rPr sz="1800" b="1">
                <a:solidFill>
                  <a:srgbClr val="1C1915"/>
                </a:solidFill>
                <a:latin typeface="Calibri"/>
              </a:rPr>
              <a:t>Released</a:t>
            </a:r>
          </a:p>
        </p:txBody>
      </p:sp>
      <p:sp>
        <p:nvSpPr>
          <p:cNvPr id="10" name="TextBox 9"/>
          <p:cNvSpPr txBox="1"/>
          <p:nvPr/>
        </p:nvSpPr>
        <p:spPr>
          <a:xfrm>
            <a:off x="448056" y="2468880"/>
            <a:ext cx="1828799" cy="2011680"/>
          </a:xfrm>
          <a:prstGeom prst="rect">
            <a:avLst/>
          </a:prstGeom>
          <a:noFill/>
        </p:spPr>
        <p:txBody>
          <a:bodyPr wrap="square" lIns="0" tIns="0" rIns="0" bIns="0" anchor="t"/>
          <a:lstStyle/>
          <a:p>
            <a:pPr algn="l"/>
            <a:r>
              <a:rPr sz="1400" b="0">
                <a:solidFill>
                  <a:srgbClr val="5E584F"/>
                </a:solidFill>
                <a:latin typeface="Calibri"/>
              </a:rPr>
              <a:t>A1 starts REV-02 only after the three-way match and the contract judgment are in.</a:t>
            </a:r>
          </a:p>
        </p:txBody>
      </p:sp>
      <p:sp>
        <p:nvSpPr>
          <p:cNvPr id="11" name="Right Arrow 10"/>
          <p:cNvSpPr/>
          <p:nvPr/>
        </p:nvSpPr>
        <p:spPr>
          <a:xfrm>
            <a:off x="2441448" y="2834640"/>
            <a:ext cx="219456" cy="182880"/>
          </a:xfrm>
          <a:prstGeom prst="rightArrow">
            <a:avLst/>
          </a:prstGeom>
          <a:solidFill>
            <a:srgbClr val="0F5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2697479" y="1417320"/>
            <a:ext cx="2084831" cy="3246120"/>
          </a:xfrm>
          <a:prstGeom prst="roundRect">
            <a:avLst>
              <a:gd name="adj" fmla="val 8000"/>
            </a:avLst>
          </a:prstGeom>
          <a:solidFill>
            <a:srgbClr val="FFFCF8"/>
          </a:solidFill>
          <a:ln w="12700">
            <a:solidFill>
              <a:srgbClr val="E4DD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825496" y="1563624"/>
            <a:ext cx="1828799" cy="329184"/>
          </a:xfrm>
          <a:prstGeom prst="rect">
            <a:avLst/>
          </a:prstGeom>
          <a:noFill/>
        </p:spPr>
        <p:txBody>
          <a:bodyPr wrap="square" lIns="0" tIns="0" rIns="0" bIns="0" anchor="t"/>
          <a:lstStyle/>
          <a:p>
            <a:pPr algn="l"/>
            <a:r>
              <a:rPr sz="1800" b="1">
                <a:solidFill>
                  <a:srgbClr val="0F5E5A"/>
                </a:solidFill>
                <a:latin typeface="Calibri"/>
              </a:rPr>
              <a:t>02</a:t>
            </a:r>
          </a:p>
        </p:txBody>
      </p:sp>
      <p:sp>
        <p:nvSpPr>
          <p:cNvPr id="14" name="TextBox 13"/>
          <p:cNvSpPr txBox="1"/>
          <p:nvPr/>
        </p:nvSpPr>
        <p:spPr>
          <a:xfrm>
            <a:off x="2825496" y="1947672"/>
            <a:ext cx="1828799" cy="365760"/>
          </a:xfrm>
          <a:prstGeom prst="rect">
            <a:avLst/>
          </a:prstGeom>
          <a:noFill/>
        </p:spPr>
        <p:txBody>
          <a:bodyPr wrap="square" lIns="0" tIns="0" rIns="0" bIns="0" anchor="t"/>
          <a:lstStyle/>
          <a:p>
            <a:pPr algn="l"/>
            <a:r>
              <a:rPr sz="1800" b="1">
                <a:solidFill>
                  <a:srgbClr val="1C1915"/>
                </a:solidFill>
                <a:latin typeface="Calibri"/>
              </a:rPr>
              <a:t>Select</a:t>
            </a:r>
          </a:p>
        </p:txBody>
      </p:sp>
      <p:sp>
        <p:nvSpPr>
          <p:cNvPr id="15" name="TextBox 14"/>
          <p:cNvSpPr txBox="1"/>
          <p:nvPr/>
        </p:nvSpPr>
        <p:spPr>
          <a:xfrm>
            <a:off x="2825496" y="2468880"/>
            <a:ext cx="1828799" cy="2011680"/>
          </a:xfrm>
          <a:prstGeom prst="rect">
            <a:avLst/>
          </a:prstGeom>
          <a:noFill/>
        </p:spPr>
        <p:txBody>
          <a:bodyPr wrap="square" lIns="0" tIns="0" rIns="0" bIns="0" anchor="t"/>
          <a:lstStyle/>
          <a:p>
            <a:pPr algn="l"/>
            <a:r>
              <a:rPr sz="1400" b="0">
                <a:solidFill>
                  <a:srgbClr val="5E584F"/>
                </a:solidFill>
                <a:latin typeface="Calibri"/>
              </a:rPr>
              <a:t>A rule takes invoices in the cutoff window, at or above performance materiality, plus any cutoff exception.</a:t>
            </a:r>
          </a:p>
        </p:txBody>
      </p:sp>
      <p:sp>
        <p:nvSpPr>
          <p:cNvPr id="16" name="Right Arrow 15"/>
          <p:cNvSpPr/>
          <p:nvPr/>
        </p:nvSpPr>
        <p:spPr>
          <a:xfrm>
            <a:off x="4818888" y="2834640"/>
            <a:ext cx="219456" cy="182880"/>
          </a:xfrm>
          <a:prstGeom prst="rightArrow">
            <a:avLst/>
          </a:prstGeom>
          <a:solidFill>
            <a:srgbClr val="0F5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5074919" y="1417320"/>
            <a:ext cx="2084831" cy="3246120"/>
          </a:xfrm>
          <a:prstGeom prst="roundRect">
            <a:avLst>
              <a:gd name="adj" fmla="val 8000"/>
            </a:avLst>
          </a:prstGeom>
          <a:solidFill>
            <a:srgbClr val="FFFCF8"/>
          </a:solidFill>
          <a:ln w="12700">
            <a:solidFill>
              <a:srgbClr val="E4DD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202935" y="1563624"/>
            <a:ext cx="1828799" cy="329184"/>
          </a:xfrm>
          <a:prstGeom prst="rect">
            <a:avLst/>
          </a:prstGeom>
          <a:noFill/>
        </p:spPr>
        <p:txBody>
          <a:bodyPr wrap="square" lIns="0" tIns="0" rIns="0" bIns="0" anchor="t"/>
          <a:lstStyle/>
          <a:p>
            <a:pPr algn="l"/>
            <a:r>
              <a:rPr sz="1800" b="1">
                <a:solidFill>
                  <a:srgbClr val="0F5E5A"/>
                </a:solidFill>
                <a:latin typeface="Calibri"/>
              </a:rPr>
              <a:t>03</a:t>
            </a:r>
          </a:p>
        </p:txBody>
      </p:sp>
      <p:sp>
        <p:nvSpPr>
          <p:cNvPr id="19" name="TextBox 18"/>
          <p:cNvSpPr txBox="1"/>
          <p:nvPr/>
        </p:nvSpPr>
        <p:spPr>
          <a:xfrm>
            <a:off x="5202935" y="1947672"/>
            <a:ext cx="1828799" cy="365760"/>
          </a:xfrm>
          <a:prstGeom prst="rect">
            <a:avLst/>
          </a:prstGeom>
          <a:noFill/>
        </p:spPr>
        <p:txBody>
          <a:bodyPr wrap="square" lIns="0" tIns="0" rIns="0" bIns="0" anchor="t"/>
          <a:lstStyle/>
          <a:p>
            <a:pPr algn="l"/>
            <a:r>
              <a:rPr sz="1800" b="1">
                <a:solidFill>
                  <a:srgbClr val="1C1915"/>
                </a:solidFill>
                <a:latin typeface="Calibri"/>
              </a:rPr>
              <a:t>Judge</a:t>
            </a:r>
          </a:p>
        </p:txBody>
      </p:sp>
      <p:sp>
        <p:nvSpPr>
          <p:cNvPr id="20" name="TextBox 19"/>
          <p:cNvSpPr txBox="1"/>
          <p:nvPr/>
        </p:nvSpPr>
        <p:spPr>
          <a:xfrm>
            <a:off x="5202935" y="2468880"/>
            <a:ext cx="1828799" cy="2011680"/>
          </a:xfrm>
          <a:prstGeom prst="rect">
            <a:avLst/>
          </a:prstGeom>
          <a:noFill/>
        </p:spPr>
        <p:txBody>
          <a:bodyPr wrap="square" lIns="0" tIns="0" rIns="0" bIns="0" anchor="t"/>
          <a:lstStyle/>
          <a:p>
            <a:pPr algn="l"/>
            <a:r>
              <a:rPr sz="1400" b="0">
                <a:solidFill>
                  <a:srgbClr val="5E584F"/>
                </a:solidFill>
                <a:latin typeface="Calibri"/>
              </a:rPr>
              <a:t>One model call per invoice. It sees that invoice, the delivery note, the contract, and two paragraphs of AASB 15.</a:t>
            </a:r>
          </a:p>
        </p:txBody>
      </p:sp>
      <p:sp>
        <p:nvSpPr>
          <p:cNvPr id="21" name="Right Arrow 20"/>
          <p:cNvSpPr/>
          <p:nvPr/>
        </p:nvSpPr>
        <p:spPr>
          <a:xfrm>
            <a:off x="7196327" y="2834640"/>
            <a:ext cx="219456" cy="182880"/>
          </a:xfrm>
          <a:prstGeom prst="rightArrow">
            <a:avLst/>
          </a:prstGeom>
          <a:solidFill>
            <a:srgbClr val="0F5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7452359" y="1417320"/>
            <a:ext cx="2084831" cy="3246120"/>
          </a:xfrm>
          <a:prstGeom prst="roundRect">
            <a:avLst>
              <a:gd name="adj" fmla="val 8000"/>
            </a:avLst>
          </a:prstGeom>
          <a:solidFill>
            <a:srgbClr val="FFFCF8"/>
          </a:solidFill>
          <a:ln w="12700">
            <a:solidFill>
              <a:srgbClr val="E4DD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580375" y="1563624"/>
            <a:ext cx="1828799" cy="329184"/>
          </a:xfrm>
          <a:prstGeom prst="rect">
            <a:avLst/>
          </a:prstGeom>
          <a:noFill/>
        </p:spPr>
        <p:txBody>
          <a:bodyPr wrap="square" lIns="0" tIns="0" rIns="0" bIns="0" anchor="t"/>
          <a:lstStyle/>
          <a:p>
            <a:pPr algn="l"/>
            <a:r>
              <a:rPr sz="1800" b="1">
                <a:solidFill>
                  <a:srgbClr val="0F5E5A"/>
                </a:solidFill>
                <a:latin typeface="Calibri"/>
              </a:rPr>
              <a:t>04</a:t>
            </a:r>
          </a:p>
        </p:txBody>
      </p:sp>
      <p:sp>
        <p:nvSpPr>
          <p:cNvPr id="24" name="TextBox 23"/>
          <p:cNvSpPr txBox="1"/>
          <p:nvPr/>
        </p:nvSpPr>
        <p:spPr>
          <a:xfrm>
            <a:off x="7580375" y="1947672"/>
            <a:ext cx="1828799" cy="365760"/>
          </a:xfrm>
          <a:prstGeom prst="rect">
            <a:avLst/>
          </a:prstGeom>
          <a:noFill/>
        </p:spPr>
        <p:txBody>
          <a:bodyPr wrap="square" lIns="0" tIns="0" rIns="0" bIns="0" anchor="t"/>
          <a:lstStyle/>
          <a:p>
            <a:pPr algn="l"/>
            <a:r>
              <a:rPr sz="1800" b="1">
                <a:solidFill>
                  <a:srgbClr val="1C1915"/>
                </a:solidFill>
                <a:latin typeface="Calibri"/>
              </a:rPr>
              <a:t>Record</a:t>
            </a:r>
          </a:p>
        </p:txBody>
      </p:sp>
      <p:sp>
        <p:nvSpPr>
          <p:cNvPr id="25" name="TextBox 24"/>
          <p:cNvSpPr txBox="1"/>
          <p:nvPr/>
        </p:nvSpPr>
        <p:spPr>
          <a:xfrm>
            <a:off x="7580375" y="2468880"/>
            <a:ext cx="1828799" cy="2011680"/>
          </a:xfrm>
          <a:prstGeom prst="rect">
            <a:avLst/>
          </a:prstGeom>
          <a:noFill/>
        </p:spPr>
        <p:txBody>
          <a:bodyPr wrap="square" lIns="0" tIns="0" rIns="0" bIns="0" anchor="t"/>
          <a:lstStyle/>
          <a:p>
            <a:pPr algn="l"/>
            <a:r>
              <a:rPr sz="1400" b="0">
                <a:solidFill>
                  <a:srgbClr val="5E584F"/>
                </a:solidFill>
                <a:latin typeface="Calibri"/>
              </a:rPr>
              <a:t>A judgment: conclusion, reasoning chain, a counter-argument, and pointers back to the page.</a:t>
            </a:r>
          </a:p>
        </p:txBody>
      </p:sp>
      <p:sp>
        <p:nvSpPr>
          <p:cNvPr id="26" name="Right Arrow 25"/>
          <p:cNvSpPr/>
          <p:nvPr/>
        </p:nvSpPr>
        <p:spPr>
          <a:xfrm>
            <a:off x="9573767" y="2834640"/>
            <a:ext cx="219456" cy="182880"/>
          </a:xfrm>
          <a:prstGeom prst="rightArrow">
            <a:avLst/>
          </a:prstGeom>
          <a:solidFill>
            <a:srgbClr val="0F5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ounded Rectangle 26"/>
          <p:cNvSpPr/>
          <p:nvPr/>
        </p:nvSpPr>
        <p:spPr>
          <a:xfrm>
            <a:off x="9829799" y="1417320"/>
            <a:ext cx="2084831" cy="3246120"/>
          </a:xfrm>
          <a:prstGeom prst="roundRect">
            <a:avLst>
              <a:gd name="adj" fmla="val 8000"/>
            </a:avLst>
          </a:prstGeom>
          <a:solidFill>
            <a:srgbClr val="FFFCF8"/>
          </a:solidFill>
          <a:ln w="12700">
            <a:solidFill>
              <a:srgbClr val="E4DD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9957815" y="1563624"/>
            <a:ext cx="1828799" cy="329184"/>
          </a:xfrm>
          <a:prstGeom prst="rect">
            <a:avLst/>
          </a:prstGeom>
          <a:noFill/>
        </p:spPr>
        <p:txBody>
          <a:bodyPr wrap="square" lIns="0" tIns="0" rIns="0" bIns="0" anchor="t"/>
          <a:lstStyle/>
          <a:p>
            <a:pPr algn="l"/>
            <a:r>
              <a:rPr sz="1800" b="1">
                <a:solidFill>
                  <a:srgbClr val="0F5E5A"/>
                </a:solidFill>
                <a:latin typeface="Calibri"/>
              </a:rPr>
              <a:t>05</a:t>
            </a:r>
          </a:p>
        </p:txBody>
      </p:sp>
      <p:sp>
        <p:nvSpPr>
          <p:cNvPr id="29" name="TextBox 28"/>
          <p:cNvSpPr txBox="1"/>
          <p:nvPr/>
        </p:nvSpPr>
        <p:spPr>
          <a:xfrm>
            <a:off x="9957815" y="1947672"/>
            <a:ext cx="1828799" cy="365760"/>
          </a:xfrm>
          <a:prstGeom prst="rect">
            <a:avLst/>
          </a:prstGeom>
          <a:noFill/>
        </p:spPr>
        <p:txBody>
          <a:bodyPr wrap="square" lIns="0" tIns="0" rIns="0" bIns="0" anchor="t"/>
          <a:lstStyle/>
          <a:p>
            <a:pPr algn="l"/>
            <a:r>
              <a:rPr sz="1800" b="1">
                <a:solidFill>
                  <a:srgbClr val="1C1915"/>
                </a:solidFill>
                <a:latin typeface="Calibri"/>
              </a:rPr>
              <a:t>Review</a:t>
            </a:r>
          </a:p>
        </p:txBody>
      </p:sp>
      <p:sp>
        <p:nvSpPr>
          <p:cNvPr id="30" name="TextBox 29"/>
          <p:cNvSpPr txBox="1"/>
          <p:nvPr/>
        </p:nvSpPr>
        <p:spPr>
          <a:xfrm>
            <a:off x="9957815" y="2468880"/>
            <a:ext cx="1828799" cy="2011680"/>
          </a:xfrm>
          <a:prstGeom prst="rect">
            <a:avLst/>
          </a:prstGeom>
          <a:noFill/>
        </p:spPr>
        <p:txBody>
          <a:bodyPr wrap="square" lIns="0" tIns="0" rIns="0" bIns="0" anchor="t"/>
          <a:lstStyle/>
          <a:p>
            <a:pPr algn="l"/>
            <a:r>
              <a:rPr sz="1400" b="0">
                <a:solidFill>
                  <a:srgbClr val="5E584F"/>
                </a:solidFill>
                <a:latin typeface="Calibri"/>
              </a:rPr>
              <a:t>The item waits. The auditor confirms it, overrides it, or records the misstatement. A6 does not decide.</a:t>
            </a:r>
          </a:p>
        </p:txBody>
      </p:sp>
      <p:sp>
        <p:nvSpPr>
          <p:cNvPr id="31" name="Rounded Rectangle 30"/>
          <p:cNvSpPr/>
          <p:nvPr/>
        </p:nvSpPr>
        <p:spPr>
          <a:xfrm>
            <a:off x="320040" y="4846320"/>
            <a:ext cx="11539728" cy="1371600"/>
          </a:xfrm>
          <a:prstGeom prst="roundRect">
            <a:avLst>
              <a:gd name="adj" fmla="val 8000"/>
            </a:avLst>
          </a:prstGeom>
          <a:solidFill>
            <a:srgbClr val="1B30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502920" y="4956048"/>
            <a:ext cx="11155680" cy="237744"/>
          </a:xfrm>
          <a:prstGeom prst="rect">
            <a:avLst/>
          </a:prstGeom>
          <a:noFill/>
        </p:spPr>
        <p:txBody>
          <a:bodyPr wrap="square" lIns="0" tIns="0" rIns="0" bIns="0" anchor="t"/>
          <a:lstStyle/>
          <a:p>
            <a:pPr algn="l"/>
            <a:r>
              <a:rPr sz="1200" b="1">
                <a:solidFill>
                  <a:srgbClr val="C4A574"/>
                </a:solidFill>
                <a:latin typeface="Calibri"/>
              </a:rPr>
              <a:t>THE ITEM THIS PROTOTYPE RUNS</a:t>
            </a:r>
          </a:p>
        </p:txBody>
      </p:sp>
      <p:sp>
        <p:nvSpPr>
          <p:cNvPr id="33" name="TextBox 32"/>
          <p:cNvSpPr txBox="1"/>
          <p:nvPr/>
        </p:nvSpPr>
        <p:spPr>
          <a:xfrm>
            <a:off x="502920" y="5248656"/>
            <a:ext cx="11155680" cy="329184"/>
          </a:xfrm>
          <a:prstGeom prst="rect">
            <a:avLst/>
          </a:prstGeom>
          <a:noFill/>
        </p:spPr>
        <p:txBody>
          <a:bodyPr wrap="square" lIns="0" tIns="0" rIns="0" bIns="0" anchor="t"/>
          <a:lstStyle/>
          <a:p>
            <a:pPr algn="l"/>
            <a:r>
              <a:rPr sz="1600" b="0">
                <a:solidFill>
                  <a:srgbClr val="F4EFE6"/>
                </a:solidFill>
                <a:latin typeface="Calibri"/>
              </a:rPr>
              <a:t>Invoice SI-2026-0612. Posted 28 June. Signed 3 July. The contract transfers control on signing.</a:t>
            </a:r>
          </a:p>
        </p:txBody>
      </p:sp>
      <p:sp>
        <p:nvSpPr>
          <p:cNvPr id="34" name="TextBox 33"/>
          <p:cNvSpPr txBox="1"/>
          <p:nvPr/>
        </p:nvSpPr>
        <p:spPr>
          <a:xfrm>
            <a:off x="502920" y="5632704"/>
            <a:ext cx="11155680" cy="365760"/>
          </a:xfrm>
          <a:prstGeom prst="rect">
            <a:avLst/>
          </a:prstGeom>
          <a:noFill/>
        </p:spPr>
        <p:txBody>
          <a:bodyPr wrap="square" lIns="0" tIns="0" rIns="0" bIns="0" anchor="t"/>
          <a:lstStyle/>
          <a:p>
            <a:pPr algn="l"/>
            <a:r>
              <a:rPr sz="1600" b="0">
                <a:solidFill>
                  <a:srgbClr val="F4EFE6"/>
                </a:solidFill>
                <a:latin typeface="Calibri"/>
              </a:rPr>
              <a:t>Proposed action: misstatement. Revenue overstated by AUD 142,000. The auditor still has to confirm it.</a:t>
            </a:r>
          </a:p>
        </p:txBody>
      </p:sp>
      <p:sp>
        <p:nvSpPr>
          <p:cNvPr id="35" name="TextBox 34"/>
          <p:cNvSpPr txBox="1"/>
          <p:nvPr/>
        </p:nvSpPr>
        <p:spPr>
          <a:xfrm>
            <a:off x="411480" y="6510528"/>
            <a:ext cx="5486400" cy="256032"/>
          </a:xfrm>
          <a:prstGeom prst="rect">
            <a:avLst/>
          </a:prstGeom>
          <a:noFill/>
        </p:spPr>
        <p:txBody>
          <a:bodyPr wrap="square" lIns="0" tIns="0" rIns="0" bIns="0" anchor="t"/>
          <a:lstStyle/>
          <a:p>
            <a:pPr algn="l"/>
            <a:r>
              <a:rPr sz="1200" b="0">
                <a:solidFill>
                  <a:srgbClr val="5E584F"/>
                </a:solidFill>
                <a:latin typeface="Calibri"/>
              </a:rPr>
              <a:t>ELEC5620 · Group 16</a:t>
            </a:r>
          </a:p>
        </p:txBody>
      </p:sp>
      <p:sp>
        <p:nvSpPr>
          <p:cNvPr id="36" name="TextBox 35"/>
          <p:cNvSpPr txBox="1"/>
          <p:nvPr/>
        </p:nvSpPr>
        <p:spPr>
          <a:xfrm>
            <a:off x="9509760" y="6510528"/>
            <a:ext cx="2286000" cy="256032"/>
          </a:xfrm>
          <a:prstGeom prst="rect">
            <a:avLst/>
          </a:prstGeom>
          <a:noFill/>
        </p:spPr>
        <p:txBody>
          <a:bodyPr wrap="square" lIns="0" tIns="0" rIns="0" bIns="0" anchor="t"/>
          <a:lstStyle/>
          <a:p>
            <a:pPr algn="r"/>
            <a:r>
              <a:rPr sz="1200" b="0">
                <a:solidFill>
                  <a:srgbClr val="5E584F"/>
                </a:solidFill>
                <a:latin typeface="Calibri"/>
              </a:rPr>
              <a:t>6 / 39</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4EE"/>
        </a:solidFill>
        <a:effectLst/>
      </p:bgPr>
    </p:bg>
    <p:spTree>
      <p:nvGrpSpPr>
        <p:cNvPr id="1" name=""/>
        <p:cNvGrpSpPr/>
        <p:nvPr/>
      </p:nvGrpSpPr>
      <p:grpSpPr>
        <a:xfrm>
          <a:off x="0" y="0"/>
          <a:ext cx="0" cy="0"/>
          <a:chOff x="0" y="0"/>
          <a:chExt cx="0" cy="0"/>
        </a:xfrm>
      </p:grpSpPr>
      <p:sp>
        <p:nvSpPr>
          <p:cNvPr id="2" name="TextBox 1"/>
          <p:cNvSpPr txBox="1"/>
          <p:nvPr/>
        </p:nvSpPr>
        <p:spPr>
          <a:xfrm>
            <a:off x="411480" y="256032"/>
            <a:ext cx="3840480" cy="256032"/>
          </a:xfrm>
          <a:prstGeom prst="rect">
            <a:avLst/>
          </a:prstGeom>
          <a:noFill/>
        </p:spPr>
        <p:txBody>
          <a:bodyPr wrap="square" lIns="0" tIns="0" rIns="0" bIns="0" anchor="t"/>
          <a:lstStyle/>
          <a:p>
            <a:pPr algn="l"/>
            <a:r>
              <a:rPr sz="1200" b="1">
                <a:solidFill>
                  <a:srgbClr val="0F5E5A"/>
                </a:solidFill>
                <a:latin typeface="Calibri"/>
              </a:rPr>
              <a:t>MEMBER A</a:t>
            </a:r>
          </a:p>
        </p:txBody>
      </p:sp>
      <p:sp>
        <p:nvSpPr>
          <p:cNvPr id="3" name="Rounded Rectangle 2"/>
          <p:cNvSpPr/>
          <p:nvPr/>
        </p:nvSpPr>
        <p:spPr>
          <a:xfrm>
            <a:off x="4114800" y="237744"/>
            <a:ext cx="2103120" cy="274320"/>
          </a:xfrm>
          <a:prstGeom prst="roundRect">
            <a:avLst>
              <a:gd name="adj" fmla="val 8000"/>
            </a:avLst>
          </a:prstGeom>
          <a:solidFill>
            <a:srgbClr val="F7F4EE"/>
          </a:solidFill>
          <a:ln w="12700">
            <a:solidFill>
              <a:srgbClr val="E4DD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14800" y="237744"/>
            <a:ext cx="2103120" cy="274320"/>
          </a:xfrm>
          <a:prstGeom prst="rect">
            <a:avLst/>
          </a:prstGeom>
          <a:noFill/>
        </p:spPr>
        <p:txBody>
          <a:bodyPr wrap="square" lIns="0" tIns="0" rIns="0" bIns="0" anchor="ctr"/>
          <a:lstStyle/>
          <a:p>
            <a:pPr algn="ctr"/>
            <a:r>
              <a:rPr sz="1200" b="0">
                <a:solidFill>
                  <a:srgbClr val="5E584F"/>
                </a:solidFill>
                <a:latin typeface="Calibri"/>
              </a:rPr>
              <a:t>Figure 1b</a:t>
            </a:r>
          </a:p>
        </p:txBody>
      </p:sp>
      <p:sp>
        <p:nvSpPr>
          <p:cNvPr id="5" name="TextBox 4"/>
          <p:cNvSpPr txBox="1"/>
          <p:nvPr/>
        </p:nvSpPr>
        <p:spPr>
          <a:xfrm>
            <a:off x="6949440" y="201168"/>
            <a:ext cx="4846320" cy="393192"/>
          </a:xfrm>
          <a:prstGeom prst="rect">
            <a:avLst/>
          </a:prstGeom>
          <a:noFill/>
        </p:spPr>
        <p:txBody>
          <a:bodyPr wrap="square" lIns="0" tIns="0" rIns="0" bIns="0" anchor="t"/>
          <a:lstStyle/>
          <a:p>
            <a:pPr algn="r"/>
            <a:r>
              <a:rPr sz="1200" b="0" dirty="0">
                <a:solidFill>
                  <a:srgbClr val="5E584F"/>
                </a:solidFill>
                <a:latin typeface="Calibri"/>
              </a:rPr>
              <a:t>Full source  </a:t>
            </a:r>
            <a:r>
              <a:rPr sz="1200" b="1" u="sng" dirty="0" err="1">
                <a:solidFill>
                  <a:srgbClr val="0F5E5A"/>
                </a:solidFill>
                <a:latin typeface="Calibri"/>
                <a:hlinkClick r:id="rId3"/>
              </a:rPr>
              <a:t>class_agents.puml</a:t>
            </a:r>
            <a:br>
              <a:rPr lang="en-AU" sz="1200" b="1" u="sng" dirty="0">
                <a:solidFill>
                  <a:srgbClr val="0F5E5A"/>
                </a:solidFill>
                <a:latin typeface="Calibri"/>
                <a:hlinkClick r:id="rId3"/>
              </a:rPr>
            </a:br>
            <a:r>
              <a:rPr lang="en-US" sz="1200" b="1" u="sng" dirty="0">
                <a:solidFill>
                  <a:srgbClr val="0F5E5A"/>
                </a:solidFill>
                <a:hlinkClick r:id="rId4"/>
              </a:rPr>
              <a:t>class_agents.png</a:t>
            </a:r>
            <a:endParaRPr sz="1200" b="1" u="sng" dirty="0">
              <a:solidFill>
                <a:srgbClr val="0F5E5A"/>
              </a:solidFill>
              <a:latin typeface="Calibri"/>
              <a:hlinkClick r:id="rId3"/>
            </a:endParaRPr>
          </a:p>
        </p:txBody>
      </p:sp>
      <p:sp>
        <p:nvSpPr>
          <p:cNvPr id="6" name="TextBox 5"/>
          <p:cNvSpPr txBox="1"/>
          <p:nvPr/>
        </p:nvSpPr>
        <p:spPr>
          <a:xfrm>
            <a:off x="365760" y="566928"/>
            <a:ext cx="11338560" cy="365760"/>
          </a:xfrm>
          <a:prstGeom prst="rect">
            <a:avLst/>
          </a:prstGeom>
          <a:noFill/>
        </p:spPr>
        <p:txBody>
          <a:bodyPr wrap="square" lIns="0" tIns="0" rIns="0" bIns="0" anchor="t"/>
          <a:lstStyle/>
          <a:p>
            <a:pPr algn="l"/>
            <a:r>
              <a:rPr sz="2600" b="1">
                <a:solidFill>
                  <a:srgbClr val="1C1915"/>
                </a:solidFill>
                <a:latin typeface="Calibri"/>
              </a:rPr>
              <a:t>Agents meet only at the orchestrator</a:t>
            </a:r>
          </a:p>
        </p:txBody>
      </p:sp>
      <p:sp>
        <p:nvSpPr>
          <p:cNvPr id="7" name="Rounded Rectangle 6"/>
          <p:cNvSpPr/>
          <p:nvPr/>
        </p:nvSpPr>
        <p:spPr>
          <a:xfrm>
            <a:off x="320040" y="1097280"/>
            <a:ext cx="2880360" cy="960120"/>
          </a:xfrm>
          <a:prstGeom prst="roundRect">
            <a:avLst>
              <a:gd name="adj" fmla="val 8000"/>
            </a:avLst>
          </a:prstGeom>
          <a:solidFill>
            <a:srgbClr val="FFFCF8"/>
          </a:solidFill>
          <a:ln w="12700">
            <a:solidFill>
              <a:srgbClr val="E4DD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1207007"/>
            <a:ext cx="2606040" cy="292608"/>
          </a:xfrm>
          <a:prstGeom prst="rect">
            <a:avLst/>
          </a:prstGeom>
          <a:noFill/>
        </p:spPr>
        <p:txBody>
          <a:bodyPr wrap="square" lIns="0" tIns="0" rIns="0" bIns="0" anchor="t"/>
          <a:lstStyle/>
          <a:p>
            <a:pPr algn="l"/>
            <a:r>
              <a:rPr sz="1800" b="1">
                <a:solidFill>
                  <a:srgbClr val="0F5E5A"/>
                </a:solidFill>
                <a:latin typeface="Calibri"/>
              </a:rPr>
              <a:t>A2</a:t>
            </a:r>
          </a:p>
        </p:txBody>
      </p:sp>
      <p:sp>
        <p:nvSpPr>
          <p:cNvPr id="9" name="TextBox 8"/>
          <p:cNvSpPr txBox="1"/>
          <p:nvPr/>
        </p:nvSpPr>
        <p:spPr>
          <a:xfrm>
            <a:off x="457200" y="1536192"/>
            <a:ext cx="2606040" cy="365760"/>
          </a:xfrm>
          <a:prstGeom prst="rect">
            <a:avLst/>
          </a:prstGeom>
          <a:noFill/>
        </p:spPr>
        <p:txBody>
          <a:bodyPr wrap="square" lIns="0" tIns="0" rIns="0" bIns="0" anchor="t"/>
          <a:lstStyle/>
          <a:p>
            <a:pPr algn="l"/>
            <a:r>
              <a:rPr sz="1400" b="0">
                <a:solidFill>
                  <a:srgbClr val="1C1915"/>
                </a:solidFill>
                <a:latin typeface="Calibri"/>
              </a:rPr>
              <a:t>Background and independence</a:t>
            </a:r>
          </a:p>
        </p:txBody>
      </p:sp>
      <p:sp>
        <p:nvSpPr>
          <p:cNvPr id="10" name="Rounded Rectangle 9"/>
          <p:cNvSpPr/>
          <p:nvPr/>
        </p:nvSpPr>
        <p:spPr>
          <a:xfrm>
            <a:off x="320040" y="2148840"/>
            <a:ext cx="2880360" cy="960120"/>
          </a:xfrm>
          <a:prstGeom prst="roundRect">
            <a:avLst>
              <a:gd name="adj" fmla="val 8000"/>
            </a:avLst>
          </a:prstGeom>
          <a:solidFill>
            <a:srgbClr val="FFFCF8"/>
          </a:solidFill>
          <a:ln w="12700">
            <a:solidFill>
              <a:srgbClr val="E4DD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57200" y="2258568"/>
            <a:ext cx="2606040" cy="292608"/>
          </a:xfrm>
          <a:prstGeom prst="rect">
            <a:avLst/>
          </a:prstGeom>
          <a:noFill/>
        </p:spPr>
        <p:txBody>
          <a:bodyPr wrap="square" lIns="0" tIns="0" rIns="0" bIns="0" anchor="t"/>
          <a:lstStyle/>
          <a:p>
            <a:pPr algn="l"/>
            <a:r>
              <a:rPr sz="1800" b="1">
                <a:solidFill>
                  <a:srgbClr val="0F5E5A"/>
                </a:solidFill>
                <a:latin typeface="Calibri"/>
              </a:rPr>
              <a:t>A3</a:t>
            </a:r>
          </a:p>
        </p:txBody>
      </p:sp>
      <p:sp>
        <p:nvSpPr>
          <p:cNvPr id="12" name="TextBox 11"/>
          <p:cNvSpPr txBox="1"/>
          <p:nvPr/>
        </p:nvSpPr>
        <p:spPr>
          <a:xfrm>
            <a:off x="457200" y="2587752"/>
            <a:ext cx="2606040" cy="365760"/>
          </a:xfrm>
          <a:prstGeom prst="rect">
            <a:avLst/>
          </a:prstGeom>
          <a:noFill/>
        </p:spPr>
        <p:txBody>
          <a:bodyPr wrap="square" lIns="0" tIns="0" rIns="0" bIns="0" anchor="t"/>
          <a:lstStyle/>
          <a:p>
            <a:pPr algn="l"/>
            <a:r>
              <a:rPr sz="1400" b="0">
                <a:solidFill>
                  <a:srgbClr val="1C1915"/>
                </a:solidFill>
                <a:latin typeface="Calibri"/>
              </a:rPr>
              <a:t>Contracts and replies</a:t>
            </a:r>
          </a:p>
        </p:txBody>
      </p:sp>
      <p:sp>
        <p:nvSpPr>
          <p:cNvPr id="13" name="Rounded Rectangle 12"/>
          <p:cNvSpPr/>
          <p:nvPr/>
        </p:nvSpPr>
        <p:spPr>
          <a:xfrm>
            <a:off x="320040" y="3200400"/>
            <a:ext cx="2880360" cy="960120"/>
          </a:xfrm>
          <a:prstGeom prst="roundRect">
            <a:avLst>
              <a:gd name="adj" fmla="val 8000"/>
            </a:avLst>
          </a:prstGeom>
          <a:solidFill>
            <a:srgbClr val="FFFCF8"/>
          </a:solidFill>
          <a:ln w="12700">
            <a:solidFill>
              <a:srgbClr val="E4DD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57200" y="3310128"/>
            <a:ext cx="2606040" cy="292608"/>
          </a:xfrm>
          <a:prstGeom prst="rect">
            <a:avLst/>
          </a:prstGeom>
          <a:noFill/>
        </p:spPr>
        <p:txBody>
          <a:bodyPr wrap="square" lIns="0" tIns="0" rIns="0" bIns="0" anchor="t"/>
          <a:lstStyle/>
          <a:p>
            <a:pPr algn="l"/>
            <a:r>
              <a:rPr sz="1800" b="1">
                <a:solidFill>
                  <a:srgbClr val="0F5E5A"/>
                </a:solidFill>
                <a:latin typeface="Calibri"/>
              </a:rPr>
              <a:t>A4</a:t>
            </a:r>
          </a:p>
        </p:txBody>
      </p:sp>
      <p:sp>
        <p:nvSpPr>
          <p:cNvPr id="15" name="TextBox 14"/>
          <p:cNvSpPr txBox="1"/>
          <p:nvPr/>
        </p:nvSpPr>
        <p:spPr>
          <a:xfrm>
            <a:off x="457200" y="3639312"/>
            <a:ext cx="2606040" cy="365760"/>
          </a:xfrm>
          <a:prstGeom prst="rect">
            <a:avLst/>
          </a:prstGeom>
          <a:noFill/>
        </p:spPr>
        <p:txBody>
          <a:bodyPr wrap="square" lIns="0" tIns="0" rIns="0" bIns="0" anchor="t"/>
          <a:lstStyle/>
          <a:p>
            <a:pPr algn="l"/>
            <a:r>
              <a:rPr sz="1400" b="0">
                <a:solidFill>
                  <a:srgbClr val="1C1915"/>
                </a:solidFill>
                <a:latin typeface="Calibri"/>
              </a:rPr>
              <a:t>Risk and materiality</a:t>
            </a:r>
          </a:p>
        </p:txBody>
      </p:sp>
      <p:sp>
        <p:nvSpPr>
          <p:cNvPr id="16" name="Rounded Rectangle 15"/>
          <p:cNvSpPr/>
          <p:nvPr/>
        </p:nvSpPr>
        <p:spPr>
          <a:xfrm>
            <a:off x="320040" y="4251960"/>
            <a:ext cx="2880360" cy="960120"/>
          </a:xfrm>
          <a:prstGeom prst="roundRect">
            <a:avLst>
              <a:gd name="adj" fmla="val 8000"/>
            </a:avLst>
          </a:prstGeom>
          <a:solidFill>
            <a:srgbClr val="FFFCF8"/>
          </a:solidFill>
          <a:ln w="12700">
            <a:solidFill>
              <a:srgbClr val="E4DD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57200" y="4361688"/>
            <a:ext cx="2606040" cy="292608"/>
          </a:xfrm>
          <a:prstGeom prst="rect">
            <a:avLst/>
          </a:prstGeom>
          <a:noFill/>
        </p:spPr>
        <p:txBody>
          <a:bodyPr wrap="square" lIns="0" tIns="0" rIns="0" bIns="0" anchor="t"/>
          <a:lstStyle/>
          <a:p>
            <a:pPr algn="l"/>
            <a:r>
              <a:rPr sz="1800" b="1">
                <a:solidFill>
                  <a:srgbClr val="0F5E5A"/>
                </a:solidFill>
                <a:latin typeface="Calibri"/>
              </a:rPr>
              <a:t>A5</a:t>
            </a:r>
          </a:p>
        </p:txBody>
      </p:sp>
      <p:sp>
        <p:nvSpPr>
          <p:cNvPr id="18" name="TextBox 17"/>
          <p:cNvSpPr txBox="1"/>
          <p:nvPr/>
        </p:nvSpPr>
        <p:spPr>
          <a:xfrm>
            <a:off x="457200" y="4690872"/>
            <a:ext cx="2606040" cy="365760"/>
          </a:xfrm>
          <a:prstGeom prst="rect">
            <a:avLst/>
          </a:prstGeom>
          <a:noFill/>
        </p:spPr>
        <p:txBody>
          <a:bodyPr wrap="square" lIns="0" tIns="0" rIns="0" bIns="0" anchor="t"/>
          <a:lstStyle/>
          <a:p>
            <a:pPr algn="l"/>
            <a:r>
              <a:rPr sz="1400" b="0">
                <a:solidFill>
                  <a:srgbClr val="1C1915"/>
                </a:solidFill>
                <a:latin typeface="Calibri"/>
              </a:rPr>
              <a:t>Outward evidence</a:t>
            </a:r>
          </a:p>
        </p:txBody>
      </p:sp>
      <p:sp>
        <p:nvSpPr>
          <p:cNvPr id="19" name="Rounded Rectangle 18"/>
          <p:cNvSpPr/>
          <p:nvPr/>
        </p:nvSpPr>
        <p:spPr>
          <a:xfrm>
            <a:off x="8979408" y="1097280"/>
            <a:ext cx="2880360" cy="960120"/>
          </a:xfrm>
          <a:prstGeom prst="roundRect">
            <a:avLst>
              <a:gd name="adj" fmla="val 8000"/>
            </a:avLst>
          </a:prstGeom>
          <a:solidFill>
            <a:srgbClr val="FFFCF8"/>
          </a:solidFill>
          <a:ln w="12700">
            <a:solidFill>
              <a:srgbClr val="E4DD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116568" y="1207007"/>
            <a:ext cx="2606040" cy="292608"/>
          </a:xfrm>
          <a:prstGeom prst="rect">
            <a:avLst/>
          </a:prstGeom>
          <a:noFill/>
        </p:spPr>
        <p:txBody>
          <a:bodyPr wrap="square" lIns="0" tIns="0" rIns="0" bIns="0" anchor="t"/>
          <a:lstStyle/>
          <a:p>
            <a:pPr algn="l"/>
            <a:r>
              <a:rPr sz="1800" b="1">
                <a:solidFill>
                  <a:srgbClr val="0F5E5A"/>
                </a:solidFill>
                <a:latin typeface="Calibri"/>
              </a:rPr>
              <a:t>A6</a:t>
            </a:r>
          </a:p>
        </p:txBody>
      </p:sp>
      <p:sp>
        <p:nvSpPr>
          <p:cNvPr id="21" name="TextBox 20"/>
          <p:cNvSpPr txBox="1"/>
          <p:nvPr/>
        </p:nvSpPr>
        <p:spPr>
          <a:xfrm>
            <a:off x="9116568" y="1536192"/>
            <a:ext cx="2606040" cy="384048"/>
          </a:xfrm>
          <a:prstGeom prst="rect">
            <a:avLst/>
          </a:prstGeom>
          <a:noFill/>
        </p:spPr>
        <p:txBody>
          <a:bodyPr wrap="square" lIns="0" tIns="0" rIns="0" bIns="0" anchor="t"/>
          <a:lstStyle/>
          <a:p>
            <a:pPr algn="l"/>
            <a:r>
              <a:rPr sz="1400" b="0">
                <a:solidFill>
                  <a:srgbClr val="1C1915"/>
                </a:solidFill>
                <a:latin typeface="Calibri"/>
              </a:rPr>
              <a:t>Substantive judgments</a:t>
            </a:r>
          </a:p>
        </p:txBody>
      </p:sp>
      <p:sp>
        <p:nvSpPr>
          <p:cNvPr id="22" name="Rounded Rectangle 21"/>
          <p:cNvSpPr/>
          <p:nvPr/>
        </p:nvSpPr>
        <p:spPr>
          <a:xfrm>
            <a:off x="8979408" y="2148840"/>
            <a:ext cx="2880360" cy="960120"/>
          </a:xfrm>
          <a:prstGeom prst="roundRect">
            <a:avLst>
              <a:gd name="adj" fmla="val 8000"/>
            </a:avLst>
          </a:prstGeom>
          <a:solidFill>
            <a:srgbClr val="F7F4EE"/>
          </a:solidFill>
          <a:ln w="12700">
            <a:solidFill>
              <a:srgbClr val="8A8175"/>
            </a:solidFill>
            <a:prstDash val="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116568" y="2258568"/>
            <a:ext cx="2606040" cy="292608"/>
          </a:xfrm>
          <a:prstGeom prst="rect">
            <a:avLst/>
          </a:prstGeom>
          <a:noFill/>
        </p:spPr>
        <p:txBody>
          <a:bodyPr wrap="square" lIns="0" tIns="0" rIns="0" bIns="0" anchor="t"/>
          <a:lstStyle/>
          <a:p>
            <a:pPr algn="l"/>
            <a:r>
              <a:rPr sz="1800" b="1">
                <a:solidFill>
                  <a:srgbClr val="8C4A1F"/>
                </a:solidFill>
                <a:latin typeface="Calibri"/>
              </a:rPr>
              <a:t>A7</a:t>
            </a:r>
          </a:p>
        </p:txBody>
      </p:sp>
      <p:sp>
        <p:nvSpPr>
          <p:cNvPr id="24" name="TextBox 23"/>
          <p:cNvSpPr txBox="1"/>
          <p:nvPr/>
        </p:nvSpPr>
        <p:spPr>
          <a:xfrm>
            <a:off x="9116568" y="2587752"/>
            <a:ext cx="2606040" cy="384048"/>
          </a:xfrm>
          <a:prstGeom prst="rect">
            <a:avLst/>
          </a:prstGeom>
          <a:noFill/>
        </p:spPr>
        <p:txBody>
          <a:bodyPr wrap="square" lIns="0" tIns="0" rIns="0" bIns="0" anchor="t"/>
          <a:lstStyle/>
          <a:p>
            <a:pPr algn="l"/>
            <a:r>
              <a:rPr sz="1400" b="0">
                <a:solidFill>
                  <a:srgbClr val="1C1915"/>
                </a:solidFill>
                <a:latin typeface="Calibri"/>
              </a:rPr>
              <a:t>Second reading, before the merge</a:t>
            </a:r>
          </a:p>
        </p:txBody>
      </p:sp>
      <p:sp>
        <p:nvSpPr>
          <p:cNvPr id="25" name="Rounded Rectangle 24"/>
          <p:cNvSpPr/>
          <p:nvPr/>
        </p:nvSpPr>
        <p:spPr>
          <a:xfrm>
            <a:off x="8979408" y="3200400"/>
            <a:ext cx="2880360" cy="960120"/>
          </a:xfrm>
          <a:prstGeom prst="roundRect">
            <a:avLst>
              <a:gd name="adj" fmla="val 8000"/>
            </a:avLst>
          </a:prstGeom>
          <a:solidFill>
            <a:srgbClr val="F7F4EE"/>
          </a:solidFill>
          <a:ln w="12700">
            <a:solidFill>
              <a:srgbClr val="8A8175"/>
            </a:solidFill>
            <a:prstDash val="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9116568" y="3310128"/>
            <a:ext cx="2606040" cy="292608"/>
          </a:xfrm>
          <a:prstGeom prst="rect">
            <a:avLst/>
          </a:prstGeom>
          <a:noFill/>
        </p:spPr>
        <p:txBody>
          <a:bodyPr wrap="square" lIns="0" tIns="0" rIns="0" bIns="0" anchor="t"/>
          <a:lstStyle/>
          <a:p>
            <a:pPr algn="l"/>
            <a:r>
              <a:rPr sz="1800" b="1">
                <a:solidFill>
                  <a:srgbClr val="8C4A1F"/>
                </a:solidFill>
                <a:latin typeface="Calibri"/>
              </a:rPr>
              <a:t>A8</a:t>
            </a:r>
          </a:p>
        </p:txBody>
      </p:sp>
      <p:sp>
        <p:nvSpPr>
          <p:cNvPr id="27" name="TextBox 26"/>
          <p:cNvSpPr txBox="1"/>
          <p:nvPr/>
        </p:nvSpPr>
        <p:spPr>
          <a:xfrm>
            <a:off x="9116568" y="3639312"/>
            <a:ext cx="2606040" cy="384048"/>
          </a:xfrm>
          <a:prstGeom prst="rect">
            <a:avLst/>
          </a:prstGeom>
          <a:noFill/>
        </p:spPr>
        <p:txBody>
          <a:bodyPr wrap="square" lIns="0" tIns="0" rIns="0" bIns="0" anchor="t"/>
          <a:lstStyle/>
          <a:p>
            <a:pPr algn="l"/>
            <a:r>
              <a:rPr sz="1400" b="0">
                <a:solidFill>
                  <a:srgbClr val="1C1915"/>
                </a:solidFill>
                <a:latin typeface="Calibri"/>
              </a:rPr>
              <a:t>Workpapers</a:t>
            </a:r>
          </a:p>
        </p:txBody>
      </p:sp>
      <p:sp>
        <p:nvSpPr>
          <p:cNvPr id="28" name="Rounded Rectangle 27"/>
          <p:cNvSpPr/>
          <p:nvPr/>
        </p:nvSpPr>
        <p:spPr>
          <a:xfrm>
            <a:off x="8979408" y="4251960"/>
            <a:ext cx="2880360" cy="960120"/>
          </a:xfrm>
          <a:prstGeom prst="roundRect">
            <a:avLst>
              <a:gd name="adj" fmla="val 8000"/>
            </a:avLst>
          </a:prstGeom>
          <a:solidFill>
            <a:srgbClr val="FFFCF8"/>
          </a:solidFill>
          <a:ln w="12700">
            <a:solidFill>
              <a:srgbClr val="E4DD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116568" y="4361688"/>
            <a:ext cx="2606040" cy="292608"/>
          </a:xfrm>
          <a:prstGeom prst="rect">
            <a:avLst/>
          </a:prstGeom>
          <a:noFill/>
        </p:spPr>
        <p:txBody>
          <a:bodyPr wrap="square" lIns="0" tIns="0" rIns="0" bIns="0" anchor="t"/>
          <a:lstStyle/>
          <a:p>
            <a:pPr algn="l"/>
            <a:r>
              <a:rPr sz="1800" b="1">
                <a:solidFill>
                  <a:srgbClr val="0F5E5A"/>
                </a:solidFill>
                <a:latin typeface="Calibri"/>
              </a:rPr>
              <a:t>A9</a:t>
            </a:r>
          </a:p>
        </p:txBody>
      </p:sp>
      <p:sp>
        <p:nvSpPr>
          <p:cNvPr id="30" name="TextBox 29"/>
          <p:cNvSpPr txBox="1"/>
          <p:nvPr/>
        </p:nvSpPr>
        <p:spPr>
          <a:xfrm>
            <a:off x="9116568" y="4690872"/>
            <a:ext cx="2606040" cy="384048"/>
          </a:xfrm>
          <a:prstGeom prst="rect">
            <a:avLst/>
          </a:prstGeom>
          <a:noFill/>
        </p:spPr>
        <p:txBody>
          <a:bodyPr wrap="square" lIns="0" tIns="0" rIns="0" bIns="0" anchor="t"/>
          <a:lstStyle/>
          <a:p>
            <a:pPr algn="l"/>
            <a:r>
              <a:rPr sz="1400" b="0">
                <a:solidFill>
                  <a:srgbClr val="1C1915"/>
                </a:solidFill>
                <a:latin typeface="Calibri"/>
              </a:rPr>
              <a:t>Rule-based quality control</a:t>
            </a:r>
          </a:p>
        </p:txBody>
      </p:sp>
      <p:sp>
        <p:nvSpPr>
          <p:cNvPr id="31" name="Rounded Rectangle 30"/>
          <p:cNvSpPr/>
          <p:nvPr/>
        </p:nvSpPr>
        <p:spPr>
          <a:xfrm>
            <a:off x="4160520" y="1965960"/>
            <a:ext cx="3840480" cy="2148840"/>
          </a:xfrm>
          <a:prstGeom prst="roundRect">
            <a:avLst>
              <a:gd name="adj" fmla="val 8000"/>
            </a:avLst>
          </a:prstGeom>
          <a:solidFill>
            <a:srgbClr val="1B30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4343400" y="2103120"/>
            <a:ext cx="3520440" cy="274320"/>
          </a:xfrm>
          <a:prstGeom prst="rect">
            <a:avLst/>
          </a:prstGeom>
          <a:noFill/>
        </p:spPr>
        <p:txBody>
          <a:bodyPr wrap="square" lIns="0" tIns="0" rIns="0" bIns="0" anchor="t"/>
          <a:lstStyle/>
          <a:p>
            <a:pPr algn="ctr"/>
            <a:r>
              <a:rPr sz="1300" b="1">
                <a:solidFill>
                  <a:srgbClr val="C4A574"/>
                </a:solidFill>
                <a:latin typeface="Calibri"/>
              </a:rPr>
              <a:t>A1  ORCHESTRATOR</a:t>
            </a:r>
          </a:p>
        </p:txBody>
      </p:sp>
      <p:sp>
        <p:nvSpPr>
          <p:cNvPr id="33" name="TextBox 32"/>
          <p:cNvSpPr txBox="1"/>
          <p:nvPr/>
        </p:nvSpPr>
        <p:spPr>
          <a:xfrm>
            <a:off x="4343400" y="2423160"/>
            <a:ext cx="3520440" cy="365760"/>
          </a:xfrm>
          <a:prstGeom prst="rect">
            <a:avLst/>
          </a:prstGeom>
          <a:noFill/>
        </p:spPr>
        <p:txBody>
          <a:bodyPr wrap="square" lIns="0" tIns="0" rIns="0" bIns="0" anchor="t"/>
          <a:lstStyle/>
          <a:p>
            <a:pPr algn="ctr"/>
            <a:r>
              <a:rPr sz="2000" b="1">
                <a:solidFill>
                  <a:srgbClr val="F4EFE6"/>
                </a:solidFill>
                <a:latin typeface="Calibri"/>
              </a:rPr>
              <a:t>Engagement state</a:t>
            </a:r>
          </a:p>
        </p:txBody>
      </p:sp>
      <p:sp>
        <p:nvSpPr>
          <p:cNvPr id="34" name="TextBox 33"/>
          <p:cNvSpPr txBox="1"/>
          <p:nvPr/>
        </p:nvSpPr>
        <p:spPr>
          <a:xfrm>
            <a:off x="4343400" y="2880360"/>
            <a:ext cx="3520440" cy="1051560"/>
          </a:xfrm>
          <a:prstGeom prst="rect">
            <a:avLst/>
          </a:prstGeom>
          <a:noFill/>
        </p:spPr>
        <p:txBody>
          <a:bodyPr wrap="square" lIns="0" tIns="0" rIns="0" bIns="0" anchor="t"/>
          <a:lstStyle/>
          <a:p>
            <a:pPr algn="ctr"/>
            <a:r>
              <a:rPr sz="1400" b="0">
                <a:solidFill>
                  <a:srgbClr val="F4EFE6"/>
                </a:solidFill>
                <a:latin typeface="Calibri"/>
              </a:rPr>
              <a:t>Passes the state out.
Merges the patch after four checks:
rights, type, unique id, references.</a:t>
            </a:r>
          </a:p>
        </p:txBody>
      </p:sp>
      <p:sp>
        <p:nvSpPr>
          <p:cNvPr id="35" name="Rectangle 34"/>
          <p:cNvSpPr/>
          <p:nvPr/>
        </p:nvSpPr>
        <p:spPr>
          <a:xfrm>
            <a:off x="3246120" y="1234440"/>
            <a:ext cx="45720" cy="3977639"/>
          </a:xfrm>
          <a:prstGeom prst="rect">
            <a:avLst/>
          </a:prstGeom>
          <a:solidFill>
            <a:srgbClr val="0F5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8887968" y="1234440"/>
            <a:ext cx="45720" cy="3977639"/>
          </a:xfrm>
          <a:prstGeom prst="rect">
            <a:avLst/>
          </a:prstGeom>
          <a:solidFill>
            <a:srgbClr val="0F5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Left-Right Arrow 36"/>
          <p:cNvSpPr/>
          <p:nvPr/>
        </p:nvSpPr>
        <p:spPr>
          <a:xfrm>
            <a:off x="3310128" y="2880360"/>
            <a:ext cx="804672" cy="256032"/>
          </a:xfrm>
          <a:prstGeom prst="leftRightArrow">
            <a:avLst/>
          </a:prstGeom>
          <a:solidFill>
            <a:srgbClr val="0F5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Left-Right Arrow 37"/>
          <p:cNvSpPr/>
          <p:nvPr/>
        </p:nvSpPr>
        <p:spPr>
          <a:xfrm>
            <a:off x="8092440" y="2880360"/>
            <a:ext cx="804672" cy="256032"/>
          </a:xfrm>
          <a:prstGeom prst="leftRightArrow">
            <a:avLst/>
          </a:prstGeom>
          <a:solidFill>
            <a:srgbClr val="0F5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3108960" y="2578608"/>
            <a:ext cx="1188720" cy="237744"/>
          </a:xfrm>
          <a:prstGeom prst="rect">
            <a:avLst/>
          </a:prstGeom>
          <a:noFill/>
        </p:spPr>
        <p:txBody>
          <a:bodyPr wrap="square" lIns="0" tIns="0" rIns="0" bIns="0" anchor="t"/>
          <a:lstStyle/>
          <a:p>
            <a:pPr algn="ctr"/>
            <a:r>
              <a:rPr sz="1100" b="1">
                <a:solidFill>
                  <a:srgbClr val="0F5E5A"/>
                </a:solidFill>
                <a:latin typeface="Calibri"/>
              </a:rPr>
              <a:t>each agent</a:t>
            </a:r>
          </a:p>
        </p:txBody>
      </p:sp>
      <p:sp>
        <p:nvSpPr>
          <p:cNvPr id="40" name="TextBox 39"/>
          <p:cNvSpPr txBox="1"/>
          <p:nvPr/>
        </p:nvSpPr>
        <p:spPr>
          <a:xfrm>
            <a:off x="7909560" y="2578608"/>
            <a:ext cx="1188720" cy="237744"/>
          </a:xfrm>
          <a:prstGeom prst="rect">
            <a:avLst/>
          </a:prstGeom>
          <a:noFill/>
        </p:spPr>
        <p:txBody>
          <a:bodyPr wrap="square" lIns="0" tIns="0" rIns="0" bIns="0" anchor="t"/>
          <a:lstStyle/>
          <a:p>
            <a:pPr algn="ctr"/>
            <a:r>
              <a:rPr sz="1100" b="1">
                <a:solidFill>
                  <a:srgbClr val="0F5E5A"/>
                </a:solidFill>
                <a:latin typeface="Calibri"/>
              </a:rPr>
              <a:t>each agent</a:t>
            </a:r>
          </a:p>
        </p:txBody>
      </p:sp>
      <p:sp>
        <p:nvSpPr>
          <p:cNvPr id="41" name="Rounded Rectangle 40"/>
          <p:cNvSpPr/>
          <p:nvPr/>
        </p:nvSpPr>
        <p:spPr>
          <a:xfrm>
            <a:off x="320040" y="5486400"/>
            <a:ext cx="7589520" cy="777240"/>
          </a:xfrm>
          <a:prstGeom prst="roundRect">
            <a:avLst>
              <a:gd name="adj" fmla="val 8000"/>
            </a:avLst>
          </a:prstGeom>
          <a:solidFill>
            <a:srgbClr val="FFFCF8"/>
          </a:solidFill>
          <a:ln w="12700">
            <a:solidFill>
              <a:srgbClr val="E4DD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457200" y="5559552"/>
            <a:ext cx="2103120" cy="256032"/>
          </a:xfrm>
          <a:prstGeom prst="rect">
            <a:avLst/>
          </a:prstGeom>
          <a:noFill/>
        </p:spPr>
        <p:txBody>
          <a:bodyPr wrap="square" lIns="0" tIns="0" rIns="0" bIns="0" anchor="t"/>
          <a:lstStyle/>
          <a:p>
            <a:pPr algn="l"/>
            <a:r>
              <a:rPr sz="1200" b="1">
                <a:solidFill>
                  <a:srgbClr val="0F5E5A"/>
                </a:solidFill>
                <a:latin typeface="Calibri"/>
              </a:rPr>
              <a:t>A10  CONCIERGE</a:t>
            </a:r>
          </a:p>
        </p:txBody>
      </p:sp>
      <p:sp>
        <p:nvSpPr>
          <p:cNvPr id="43" name="TextBox 42"/>
          <p:cNvSpPr txBox="1"/>
          <p:nvPr/>
        </p:nvSpPr>
        <p:spPr>
          <a:xfrm>
            <a:off x="457200" y="5833872"/>
            <a:ext cx="4846320" cy="347472"/>
          </a:xfrm>
          <a:prstGeom prst="rect">
            <a:avLst/>
          </a:prstGeom>
          <a:noFill/>
        </p:spPr>
        <p:txBody>
          <a:bodyPr wrap="square" lIns="0" tIns="0" rIns="0" bIns="0" anchor="t"/>
          <a:lstStyle/>
          <a:p>
            <a:pPr algn="l"/>
            <a:r>
              <a:rPr sz="1400" b="0">
                <a:solidFill>
                  <a:srgbClr val="1C1915"/>
                </a:solidFill>
                <a:latin typeface="Calibri"/>
              </a:rPr>
              <a:t>The only door. Shows the item. Writes the decision as given.</a:t>
            </a:r>
          </a:p>
        </p:txBody>
      </p:sp>
      <p:sp>
        <p:nvSpPr>
          <p:cNvPr id="44" name="TextBox 43"/>
          <p:cNvSpPr txBox="1"/>
          <p:nvPr/>
        </p:nvSpPr>
        <p:spPr>
          <a:xfrm>
            <a:off x="5760720" y="5687568"/>
            <a:ext cx="1920240" cy="411480"/>
          </a:xfrm>
          <a:prstGeom prst="rect">
            <a:avLst/>
          </a:prstGeom>
          <a:noFill/>
        </p:spPr>
        <p:txBody>
          <a:bodyPr wrap="square" lIns="0" tIns="0" rIns="0" bIns="0" anchor="ctr"/>
          <a:lstStyle/>
          <a:p>
            <a:pPr algn="ctr"/>
            <a:r>
              <a:rPr sz="1600" b="1">
                <a:solidFill>
                  <a:srgbClr val="1B3048"/>
                </a:solidFill>
                <a:latin typeface="Calibri"/>
              </a:rPr>
              <a:t>Auditor</a:t>
            </a:r>
          </a:p>
        </p:txBody>
      </p:sp>
      <p:sp>
        <p:nvSpPr>
          <p:cNvPr id="45" name="Rounded Rectangle 44"/>
          <p:cNvSpPr/>
          <p:nvPr/>
        </p:nvSpPr>
        <p:spPr>
          <a:xfrm>
            <a:off x="8046720" y="5486400"/>
            <a:ext cx="3794760" cy="777240"/>
          </a:xfrm>
          <a:prstGeom prst="roundRect">
            <a:avLst>
              <a:gd name="adj" fmla="val 8000"/>
            </a:avLst>
          </a:prstGeom>
          <a:solidFill>
            <a:srgbClr val="F8EFE6"/>
          </a:solidFill>
          <a:ln w="12700">
            <a:solidFill>
              <a:srgbClr val="8C4A1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8183879" y="5559552"/>
            <a:ext cx="3520440" cy="237744"/>
          </a:xfrm>
          <a:prstGeom prst="rect">
            <a:avLst/>
          </a:prstGeom>
          <a:noFill/>
        </p:spPr>
        <p:txBody>
          <a:bodyPr wrap="square" lIns="0" tIns="0" rIns="0" bIns="0" anchor="t"/>
          <a:lstStyle/>
          <a:p>
            <a:pPr algn="l"/>
            <a:r>
              <a:rPr sz="1200" b="1">
                <a:solidFill>
                  <a:srgbClr val="8C4A1F"/>
                </a:solidFill>
                <a:latin typeface="Calibri"/>
              </a:rPr>
              <a:t>One exception</a:t>
            </a:r>
          </a:p>
        </p:txBody>
      </p:sp>
      <p:sp>
        <p:nvSpPr>
          <p:cNvPr id="47" name="TextBox 46"/>
          <p:cNvSpPr txBox="1"/>
          <p:nvPr/>
        </p:nvSpPr>
        <p:spPr>
          <a:xfrm>
            <a:off x="8183879" y="5815584"/>
            <a:ext cx="3520440" cy="365760"/>
          </a:xfrm>
          <a:prstGeom prst="rect">
            <a:avLst/>
          </a:prstGeom>
          <a:noFill/>
        </p:spPr>
        <p:txBody>
          <a:bodyPr wrap="square" lIns="0" tIns="0" rIns="0" bIns="0" anchor="t"/>
          <a:lstStyle/>
          <a:p>
            <a:pPr algn="l"/>
            <a:r>
              <a:rPr sz="1300" b="0">
                <a:solidFill>
                  <a:srgbClr val="1C1915"/>
                </a:solidFill>
                <a:latin typeface="Calibri"/>
              </a:rPr>
              <a:t>A6 calls A7 before the merge. Spec only.</a:t>
            </a:r>
          </a:p>
        </p:txBody>
      </p:sp>
      <p:sp>
        <p:nvSpPr>
          <p:cNvPr id="48" name="TextBox 47"/>
          <p:cNvSpPr txBox="1"/>
          <p:nvPr/>
        </p:nvSpPr>
        <p:spPr>
          <a:xfrm>
            <a:off x="411480" y="6510528"/>
            <a:ext cx="5486400" cy="256032"/>
          </a:xfrm>
          <a:prstGeom prst="rect">
            <a:avLst/>
          </a:prstGeom>
          <a:noFill/>
        </p:spPr>
        <p:txBody>
          <a:bodyPr wrap="square" lIns="0" tIns="0" rIns="0" bIns="0" anchor="t"/>
          <a:lstStyle/>
          <a:p>
            <a:pPr algn="l"/>
            <a:r>
              <a:rPr sz="1200" b="0">
                <a:solidFill>
                  <a:srgbClr val="5E584F"/>
                </a:solidFill>
                <a:latin typeface="Calibri"/>
              </a:rPr>
              <a:t>ELEC5620 · Group 16</a:t>
            </a:r>
          </a:p>
        </p:txBody>
      </p:sp>
      <p:sp>
        <p:nvSpPr>
          <p:cNvPr id="49" name="TextBox 48"/>
          <p:cNvSpPr txBox="1"/>
          <p:nvPr/>
        </p:nvSpPr>
        <p:spPr>
          <a:xfrm>
            <a:off x="9509760" y="6510528"/>
            <a:ext cx="2286000" cy="256032"/>
          </a:xfrm>
          <a:prstGeom prst="rect">
            <a:avLst/>
          </a:prstGeom>
          <a:noFill/>
        </p:spPr>
        <p:txBody>
          <a:bodyPr wrap="square" lIns="0" tIns="0" rIns="0" bIns="0" anchor="t"/>
          <a:lstStyle/>
          <a:p>
            <a:pPr algn="r"/>
            <a:r>
              <a:rPr sz="1200" b="0">
                <a:solidFill>
                  <a:srgbClr val="5E584F"/>
                </a:solidFill>
                <a:latin typeface="Calibri"/>
              </a:rPr>
              <a:t>7 / 39</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4EE"/>
        </a:solidFill>
        <a:effectLst/>
      </p:bgPr>
    </p:bg>
    <p:spTree>
      <p:nvGrpSpPr>
        <p:cNvPr id="1" name=""/>
        <p:cNvGrpSpPr/>
        <p:nvPr/>
      </p:nvGrpSpPr>
      <p:grpSpPr>
        <a:xfrm>
          <a:off x="0" y="0"/>
          <a:ext cx="0" cy="0"/>
          <a:chOff x="0" y="0"/>
          <a:chExt cx="0" cy="0"/>
        </a:xfrm>
      </p:grpSpPr>
      <p:sp>
        <p:nvSpPr>
          <p:cNvPr id="2" name="TextBox 1"/>
          <p:cNvSpPr txBox="1"/>
          <p:nvPr/>
        </p:nvSpPr>
        <p:spPr>
          <a:xfrm>
            <a:off x="411480" y="256032"/>
            <a:ext cx="3840480" cy="256032"/>
          </a:xfrm>
          <a:prstGeom prst="rect">
            <a:avLst/>
          </a:prstGeom>
          <a:noFill/>
        </p:spPr>
        <p:txBody>
          <a:bodyPr wrap="square" lIns="0" tIns="0" rIns="0" bIns="0" anchor="t"/>
          <a:lstStyle/>
          <a:p>
            <a:pPr algn="l"/>
            <a:r>
              <a:rPr sz="1200" b="1">
                <a:solidFill>
                  <a:srgbClr val="0F5E5A"/>
                </a:solidFill>
                <a:latin typeface="Calibri"/>
              </a:rPr>
              <a:t>MEMBER A</a:t>
            </a:r>
          </a:p>
        </p:txBody>
      </p:sp>
      <p:sp>
        <p:nvSpPr>
          <p:cNvPr id="3" name="Rounded Rectangle 2"/>
          <p:cNvSpPr/>
          <p:nvPr/>
        </p:nvSpPr>
        <p:spPr>
          <a:xfrm>
            <a:off x="4114800" y="237744"/>
            <a:ext cx="2103120" cy="274320"/>
          </a:xfrm>
          <a:prstGeom prst="roundRect">
            <a:avLst>
              <a:gd name="adj" fmla="val 8000"/>
            </a:avLst>
          </a:prstGeom>
          <a:solidFill>
            <a:srgbClr val="F7F4EE"/>
          </a:solidFill>
          <a:ln w="12700">
            <a:solidFill>
              <a:srgbClr val="E4DD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14800" y="237744"/>
            <a:ext cx="2103120" cy="274320"/>
          </a:xfrm>
          <a:prstGeom prst="rect">
            <a:avLst/>
          </a:prstGeom>
          <a:noFill/>
        </p:spPr>
        <p:txBody>
          <a:bodyPr wrap="square" lIns="0" tIns="0" rIns="0" bIns="0" anchor="ctr"/>
          <a:lstStyle/>
          <a:p>
            <a:pPr algn="ctr"/>
            <a:r>
              <a:rPr sz="1200" b="0">
                <a:solidFill>
                  <a:srgbClr val="5E584F"/>
                </a:solidFill>
                <a:latin typeface="Calibri"/>
              </a:rPr>
              <a:t>Design models</a:t>
            </a:r>
          </a:p>
        </p:txBody>
      </p:sp>
      <p:sp>
        <p:nvSpPr>
          <p:cNvPr id="5" name="TextBox 4"/>
          <p:cNvSpPr txBox="1"/>
          <p:nvPr/>
        </p:nvSpPr>
        <p:spPr>
          <a:xfrm>
            <a:off x="411480" y="621792"/>
            <a:ext cx="10972800" cy="438912"/>
          </a:xfrm>
          <a:prstGeom prst="rect">
            <a:avLst/>
          </a:prstGeom>
          <a:noFill/>
        </p:spPr>
        <p:txBody>
          <a:bodyPr wrap="square" lIns="0" tIns="0" rIns="0" bIns="0" anchor="t"/>
          <a:lstStyle/>
          <a:p>
            <a:pPr algn="l"/>
            <a:r>
              <a:rPr sz="2800" b="1">
                <a:solidFill>
                  <a:srgbClr val="1C1915"/>
                </a:solidFill>
                <a:latin typeface="Calibri"/>
              </a:rPr>
              <a:t>Three constraints on autonomy</a:t>
            </a:r>
          </a:p>
        </p:txBody>
      </p:sp>
      <p:sp>
        <p:nvSpPr>
          <p:cNvPr id="6" name="Rounded Rectangle 5"/>
          <p:cNvSpPr/>
          <p:nvPr/>
        </p:nvSpPr>
        <p:spPr>
          <a:xfrm>
            <a:off x="365760" y="1280160"/>
            <a:ext cx="3749039" cy="4983480"/>
          </a:xfrm>
          <a:prstGeom prst="roundRect">
            <a:avLst>
              <a:gd name="adj" fmla="val 8000"/>
            </a:avLst>
          </a:prstGeom>
          <a:solidFill>
            <a:srgbClr val="FFFCF8"/>
          </a:solidFill>
          <a:ln w="12700">
            <a:solidFill>
              <a:srgbClr val="E4DD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30352" y="1417320"/>
            <a:ext cx="3383280" cy="256032"/>
          </a:xfrm>
          <a:prstGeom prst="rect">
            <a:avLst/>
          </a:prstGeom>
          <a:noFill/>
        </p:spPr>
        <p:txBody>
          <a:bodyPr wrap="square" lIns="0" tIns="0" rIns="0" bIns="0" anchor="t"/>
          <a:lstStyle/>
          <a:p>
            <a:pPr algn="l"/>
            <a:r>
              <a:rPr sz="1200" b="1">
                <a:solidFill>
                  <a:srgbClr val="1B3048"/>
                </a:solidFill>
                <a:latin typeface="Calibri"/>
              </a:rPr>
              <a:t>MODEL 1</a:t>
            </a:r>
          </a:p>
        </p:txBody>
      </p:sp>
      <p:sp>
        <p:nvSpPr>
          <p:cNvPr id="8" name="TextBox 7"/>
          <p:cNvSpPr txBox="1"/>
          <p:nvPr/>
        </p:nvSpPr>
        <p:spPr>
          <a:xfrm>
            <a:off x="530352" y="1719072"/>
            <a:ext cx="3383280" cy="365760"/>
          </a:xfrm>
          <a:prstGeom prst="rect">
            <a:avLst/>
          </a:prstGeom>
          <a:noFill/>
        </p:spPr>
        <p:txBody>
          <a:bodyPr wrap="square" lIns="0" tIns="0" rIns="0" bIns="0" anchor="t"/>
          <a:lstStyle/>
          <a:p>
            <a:pPr algn="l"/>
            <a:r>
              <a:rPr sz="1800" b="1">
                <a:solidFill>
                  <a:srgbClr val="1C1915"/>
                </a:solidFill>
                <a:latin typeface="Calibri"/>
              </a:rPr>
              <a:t>Bounded autonomy</a:t>
            </a:r>
          </a:p>
        </p:txBody>
      </p:sp>
      <p:sp>
        <p:nvSpPr>
          <p:cNvPr id="9" name="TextBox 8"/>
          <p:cNvSpPr txBox="1"/>
          <p:nvPr/>
        </p:nvSpPr>
        <p:spPr>
          <a:xfrm>
            <a:off x="530352" y="2194560"/>
            <a:ext cx="3429000" cy="3840480"/>
          </a:xfrm>
          <a:prstGeom prst="rect">
            <a:avLst/>
          </a:prstGeom>
          <a:noFill/>
        </p:spPr>
        <p:txBody>
          <a:bodyPr wrap="square" lIns="0" tIns="0" rIns="0" bIns="0" anchor="t"/>
          <a:lstStyle/>
          <a:p>
            <a:pPr algn="l"/>
            <a:r>
              <a:rPr sz="1300" b="0">
                <a:solidFill>
                  <a:srgbClr val="1C1915"/>
                </a:solidFill>
                <a:latin typeface="Calibri"/>
              </a:rPr>
              <a:t>The macro flow is a state machine. A gate does not move until the auditor makes an explicit decision.
P0 → acceptance → P1 → planning → P2 → P3 → opinion → P4 → signature.
In execution, procedures run in dependency layers, in parallel within a layer. After the merge the flow continues, waits for a person, or enters completion.</a:t>
            </a:r>
          </a:p>
        </p:txBody>
      </p:sp>
      <p:sp>
        <p:nvSpPr>
          <p:cNvPr id="10" name="Rounded Rectangle 9"/>
          <p:cNvSpPr/>
          <p:nvPr/>
        </p:nvSpPr>
        <p:spPr>
          <a:xfrm>
            <a:off x="4279392" y="1280160"/>
            <a:ext cx="3749039" cy="4983480"/>
          </a:xfrm>
          <a:prstGeom prst="roundRect">
            <a:avLst>
              <a:gd name="adj" fmla="val 8000"/>
            </a:avLst>
          </a:prstGeom>
          <a:solidFill>
            <a:srgbClr val="FFFCF8"/>
          </a:solidFill>
          <a:ln w="12700">
            <a:solidFill>
              <a:srgbClr val="E4DD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443984" y="1417320"/>
            <a:ext cx="3383280" cy="256032"/>
          </a:xfrm>
          <a:prstGeom prst="rect">
            <a:avLst/>
          </a:prstGeom>
          <a:noFill/>
        </p:spPr>
        <p:txBody>
          <a:bodyPr wrap="square" lIns="0" tIns="0" rIns="0" bIns="0" anchor="t"/>
          <a:lstStyle/>
          <a:p>
            <a:pPr algn="l"/>
            <a:r>
              <a:rPr sz="1200" b="1">
                <a:solidFill>
                  <a:srgbClr val="0F5E5A"/>
                </a:solidFill>
                <a:latin typeface="Calibri"/>
              </a:rPr>
              <a:t>MODEL 2</a:t>
            </a:r>
          </a:p>
        </p:txBody>
      </p:sp>
      <p:sp>
        <p:nvSpPr>
          <p:cNvPr id="12" name="TextBox 11"/>
          <p:cNvSpPr txBox="1"/>
          <p:nvPr/>
        </p:nvSpPr>
        <p:spPr>
          <a:xfrm>
            <a:off x="4443984" y="1719072"/>
            <a:ext cx="3383280" cy="365760"/>
          </a:xfrm>
          <a:prstGeom prst="rect">
            <a:avLst/>
          </a:prstGeom>
          <a:noFill/>
        </p:spPr>
        <p:txBody>
          <a:bodyPr wrap="square" lIns="0" tIns="0" rIns="0" bIns="0" anchor="t"/>
          <a:lstStyle/>
          <a:p>
            <a:pPr algn="l"/>
            <a:r>
              <a:rPr sz="1800" b="1">
                <a:solidFill>
                  <a:srgbClr val="1C1915"/>
                </a:solidFill>
                <a:latin typeface="Calibri"/>
              </a:rPr>
              <a:t>Four autonomy levels</a:t>
            </a:r>
          </a:p>
        </p:txBody>
      </p:sp>
      <p:sp>
        <p:nvSpPr>
          <p:cNvPr id="13" name="TextBox 12"/>
          <p:cNvSpPr txBox="1"/>
          <p:nvPr/>
        </p:nvSpPr>
        <p:spPr>
          <a:xfrm>
            <a:off x="4443984" y="2194560"/>
            <a:ext cx="3429000" cy="3840480"/>
          </a:xfrm>
          <a:prstGeom prst="rect">
            <a:avLst/>
          </a:prstGeom>
          <a:noFill/>
        </p:spPr>
        <p:txBody>
          <a:bodyPr wrap="square" lIns="0" tIns="0" rIns="0" bIns="0" anchor="t"/>
          <a:lstStyle/>
          <a:p>
            <a:pPr algn="l"/>
            <a:r>
              <a:rPr sz="1300" b="0">
                <a:solidFill>
                  <a:srgbClr val="1C1915"/>
                </a:solidFill>
                <a:latin typeface="Calibri"/>
              </a:rPr>
              <a:t>L1  Advice only. The person decides each item.
L2  A judgment. The person reviews each item.
L3  The system proceeds. The person sees exceptions.
L4  The system runs. The person samples afterwards.
A significant risk, an amount above performance materiality, or low confidence moves the level down. Thirty-two statutory procedures stay at L1.</a:t>
            </a:r>
          </a:p>
        </p:txBody>
      </p:sp>
      <p:sp>
        <p:nvSpPr>
          <p:cNvPr id="14" name="Rounded Rectangle 13"/>
          <p:cNvSpPr/>
          <p:nvPr/>
        </p:nvSpPr>
        <p:spPr>
          <a:xfrm>
            <a:off x="8193024" y="1280160"/>
            <a:ext cx="3749039" cy="4983480"/>
          </a:xfrm>
          <a:prstGeom prst="roundRect">
            <a:avLst>
              <a:gd name="adj" fmla="val 8000"/>
            </a:avLst>
          </a:prstGeom>
          <a:solidFill>
            <a:srgbClr val="FFFCF8"/>
          </a:solidFill>
          <a:ln w="12700">
            <a:solidFill>
              <a:srgbClr val="E4DD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357616" y="1417320"/>
            <a:ext cx="3383280" cy="256032"/>
          </a:xfrm>
          <a:prstGeom prst="rect">
            <a:avLst/>
          </a:prstGeom>
          <a:noFill/>
        </p:spPr>
        <p:txBody>
          <a:bodyPr wrap="square" lIns="0" tIns="0" rIns="0" bIns="0" anchor="t"/>
          <a:lstStyle/>
          <a:p>
            <a:pPr algn="l"/>
            <a:r>
              <a:rPr sz="1200" b="1">
                <a:solidFill>
                  <a:srgbClr val="8C4A1F"/>
                </a:solidFill>
                <a:latin typeface="Calibri"/>
              </a:rPr>
              <a:t>MODEL 3</a:t>
            </a:r>
          </a:p>
        </p:txBody>
      </p:sp>
      <p:sp>
        <p:nvSpPr>
          <p:cNvPr id="16" name="TextBox 15"/>
          <p:cNvSpPr txBox="1"/>
          <p:nvPr/>
        </p:nvSpPr>
        <p:spPr>
          <a:xfrm>
            <a:off x="8357616" y="1719072"/>
            <a:ext cx="3383280" cy="365760"/>
          </a:xfrm>
          <a:prstGeom prst="rect">
            <a:avLst/>
          </a:prstGeom>
          <a:noFill/>
        </p:spPr>
        <p:txBody>
          <a:bodyPr wrap="square" lIns="0" tIns="0" rIns="0" bIns="0" anchor="t"/>
          <a:lstStyle/>
          <a:p>
            <a:pPr algn="l"/>
            <a:r>
              <a:rPr sz="1800" b="1">
                <a:solidFill>
                  <a:srgbClr val="1C1915"/>
                </a:solidFill>
                <a:latin typeface="Calibri"/>
              </a:rPr>
              <a:t>A traceable judgment</a:t>
            </a:r>
          </a:p>
        </p:txBody>
      </p:sp>
      <p:sp>
        <p:nvSpPr>
          <p:cNvPr id="17" name="TextBox 16"/>
          <p:cNvSpPr txBox="1"/>
          <p:nvPr/>
        </p:nvSpPr>
        <p:spPr>
          <a:xfrm>
            <a:off x="8357616" y="2194560"/>
            <a:ext cx="3429000" cy="3840480"/>
          </a:xfrm>
          <a:prstGeom prst="rect">
            <a:avLst/>
          </a:prstGeom>
          <a:noFill/>
        </p:spPr>
        <p:txBody>
          <a:bodyPr wrap="square" lIns="0" tIns="0" rIns="0" bIns="0" anchor="t"/>
          <a:lstStyle/>
          <a:p>
            <a:pPr algn="l"/>
            <a:r>
              <a:rPr sz="1300" b="0">
                <a:solidFill>
                  <a:srgbClr val="1C1915"/>
                </a:solidFill>
                <a:latin typeface="Calibri"/>
              </a:rPr>
              <a:t>Conclusion and proposed action.
Reasoning chain: fact, standard, inference.
Counter-argument and confidence.
Evidence pointers, back to the page.
Four checks: syntax, structure, references, semantics. A fact needs a pointer. A standard must point at a fragment in the knowledge base.</a:t>
            </a:r>
          </a:p>
        </p:txBody>
      </p:sp>
      <p:sp>
        <p:nvSpPr>
          <p:cNvPr id="18" name="TextBox 17"/>
          <p:cNvSpPr txBox="1"/>
          <p:nvPr/>
        </p:nvSpPr>
        <p:spPr>
          <a:xfrm>
            <a:off x="411480" y="6510528"/>
            <a:ext cx="5486400" cy="256032"/>
          </a:xfrm>
          <a:prstGeom prst="rect">
            <a:avLst/>
          </a:prstGeom>
          <a:noFill/>
        </p:spPr>
        <p:txBody>
          <a:bodyPr wrap="square" lIns="0" tIns="0" rIns="0" bIns="0" anchor="t"/>
          <a:lstStyle/>
          <a:p>
            <a:pPr algn="l"/>
            <a:r>
              <a:rPr sz="1200" b="0">
                <a:solidFill>
                  <a:srgbClr val="5E584F"/>
                </a:solidFill>
                <a:latin typeface="Calibri"/>
              </a:rPr>
              <a:t>ELEC5620 · Group 16</a:t>
            </a:r>
          </a:p>
        </p:txBody>
      </p:sp>
      <p:sp>
        <p:nvSpPr>
          <p:cNvPr id="19" name="TextBox 18"/>
          <p:cNvSpPr txBox="1"/>
          <p:nvPr/>
        </p:nvSpPr>
        <p:spPr>
          <a:xfrm>
            <a:off x="9509760" y="6510528"/>
            <a:ext cx="2286000" cy="256032"/>
          </a:xfrm>
          <a:prstGeom prst="rect">
            <a:avLst/>
          </a:prstGeom>
          <a:noFill/>
        </p:spPr>
        <p:txBody>
          <a:bodyPr wrap="square" lIns="0" tIns="0" rIns="0" bIns="0" anchor="t"/>
          <a:lstStyle/>
          <a:p>
            <a:pPr algn="r"/>
            <a:r>
              <a:rPr sz="1200" b="0">
                <a:solidFill>
                  <a:srgbClr val="5E584F"/>
                </a:solidFill>
                <a:latin typeface="Calibri"/>
              </a:rPr>
              <a:t>8 / 39</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4EE"/>
        </a:solidFill>
        <a:effectLst/>
      </p:bgPr>
    </p:bg>
    <p:spTree>
      <p:nvGrpSpPr>
        <p:cNvPr id="1" name=""/>
        <p:cNvGrpSpPr/>
        <p:nvPr/>
      </p:nvGrpSpPr>
      <p:grpSpPr>
        <a:xfrm>
          <a:off x="0" y="0"/>
          <a:ext cx="0" cy="0"/>
          <a:chOff x="0" y="0"/>
          <a:chExt cx="0" cy="0"/>
        </a:xfrm>
      </p:grpSpPr>
      <p:sp>
        <p:nvSpPr>
          <p:cNvPr id="2" name="TextBox 1"/>
          <p:cNvSpPr txBox="1"/>
          <p:nvPr/>
        </p:nvSpPr>
        <p:spPr>
          <a:xfrm>
            <a:off x="411480" y="256032"/>
            <a:ext cx="3840480" cy="256032"/>
          </a:xfrm>
          <a:prstGeom prst="rect">
            <a:avLst/>
          </a:prstGeom>
          <a:noFill/>
        </p:spPr>
        <p:txBody>
          <a:bodyPr wrap="square" lIns="0" tIns="0" rIns="0" bIns="0" anchor="t"/>
          <a:lstStyle/>
          <a:p>
            <a:pPr algn="l"/>
            <a:r>
              <a:rPr sz="1200" b="1">
                <a:solidFill>
                  <a:srgbClr val="0F5E5A"/>
                </a:solidFill>
                <a:latin typeface="Calibri"/>
              </a:rPr>
              <a:t>MEMBER A</a:t>
            </a:r>
          </a:p>
        </p:txBody>
      </p:sp>
      <p:sp>
        <p:nvSpPr>
          <p:cNvPr id="3" name="Rounded Rectangle 2"/>
          <p:cNvSpPr/>
          <p:nvPr/>
        </p:nvSpPr>
        <p:spPr>
          <a:xfrm>
            <a:off x="4114800" y="237744"/>
            <a:ext cx="2103120" cy="274320"/>
          </a:xfrm>
          <a:prstGeom prst="roundRect">
            <a:avLst>
              <a:gd name="adj" fmla="val 8000"/>
            </a:avLst>
          </a:prstGeom>
          <a:solidFill>
            <a:srgbClr val="F7F4EE"/>
          </a:solidFill>
          <a:ln w="12700">
            <a:solidFill>
              <a:srgbClr val="E4DD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14800" y="237744"/>
            <a:ext cx="2103120" cy="274320"/>
          </a:xfrm>
          <a:prstGeom prst="rect">
            <a:avLst/>
          </a:prstGeom>
          <a:noFill/>
        </p:spPr>
        <p:txBody>
          <a:bodyPr wrap="square" lIns="0" tIns="0" rIns="0" bIns="0" anchor="ctr"/>
          <a:lstStyle/>
          <a:p>
            <a:pPr algn="ctr"/>
            <a:r>
              <a:rPr sz="1200" b="0">
                <a:solidFill>
                  <a:srgbClr val="5E584F"/>
                </a:solidFill>
                <a:latin typeface="Calibri"/>
              </a:rPr>
              <a:t>Figure 3a</a:t>
            </a:r>
          </a:p>
        </p:txBody>
      </p:sp>
      <p:sp>
        <p:nvSpPr>
          <p:cNvPr id="5" name="TextBox 4"/>
          <p:cNvSpPr txBox="1"/>
          <p:nvPr/>
        </p:nvSpPr>
        <p:spPr>
          <a:xfrm>
            <a:off x="6949440" y="201168"/>
            <a:ext cx="4846320" cy="292608"/>
          </a:xfrm>
          <a:prstGeom prst="rect">
            <a:avLst/>
          </a:prstGeom>
          <a:noFill/>
        </p:spPr>
        <p:txBody>
          <a:bodyPr wrap="square" lIns="0" tIns="0" rIns="0" bIns="0" anchor="t"/>
          <a:lstStyle/>
          <a:p>
            <a:pPr algn="r"/>
            <a:r>
              <a:rPr sz="1200" b="0" dirty="0">
                <a:solidFill>
                  <a:srgbClr val="5E584F"/>
                </a:solidFill>
                <a:latin typeface="Calibri"/>
              </a:rPr>
              <a:t>Full source  </a:t>
            </a:r>
            <a:r>
              <a:rPr sz="1200" b="1" u="sng" dirty="0" err="1">
                <a:solidFill>
                  <a:srgbClr val="0F5E5A"/>
                </a:solidFill>
                <a:latin typeface="Calibri"/>
                <a:hlinkClick r:id="rId3"/>
              </a:rPr>
              <a:t>state_main.puml</a:t>
            </a:r>
            <a:br>
              <a:rPr lang="en-AU" sz="1200" b="1" u="sng" dirty="0">
                <a:solidFill>
                  <a:srgbClr val="0F5E5A"/>
                </a:solidFill>
                <a:latin typeface="Calibri"/>
                <a:hlinkClick r:id="rId3"/>
              </a:rPr>
            </a:br>
            <a:r>
              <a:rPr lang="en-AU" sz="1200" b="1" u="sng" dirty="0">
                <a:solidFill>
                  <a:srgbClr val="0F5E5A"/>
                </a:solidFill>
                <a:hlinkClick r:id="rId4"/>
              </a:rPr>
              <a:t>state_main.png</a:t>
            </a:r>
            <a:endParaRPr sz="1200" b="1" u="sng" dirty="0">
              <a:solidFill>
                <a:srgbClr val="0F5E5A"/>
              </a:solidFill>
              <a:latin typeface="Calibri"/>
              <a:hlinkClick r:id="rId3"/>
            </a:endParaRPr>
          </a:p>
        </p:txBody>
      </p:sp>
      <p:sp>
        <p:nvSpPr>
          <p:cNvPr id="6" name="TextBox 5"/>
          <p:cNvSpPr txBox="1"/>
          <p:nvPr/>
        </p:nvSpPr>
        <p:spPr>
          <a:xfrm>
            <a:off x="365760" y="566928"/>
            <a:ext cx="11338560" cy="384048"/>
          </a:xfrm>
          <a:prstGeom prst="rect">
            <a:avLst/>
          </a:prstGeom>
          <a:noFill/>
        </p:spPr>
        <p:txBody>
          <a:bodyPr wrap="square" lIns="0" tIns="0" rIns="0" bIns="0" anchor="t"/>
          <a:lstStyle/>
          <a:p>
            <a:pPr algn="l"/>
            <a:r>
              <a:rPr sz="2600" b="1">
                <a:solidFill>
                  <a:srgbClr val="1C1915"/>
                </a:solidFill>
                <a:latin typeface="Calibri"/>
              </a:rPr>
              <a:t>Five phases. Gold is a human gate.</a:t>
            </a:r>
          </a:p>
        </p:txBody>
      </p:sp>
      <p:sp>
        <p:nvSpPr>
          <p:cNvPr id="7" name="Rounded Rectangle 6"/>
          <p:cNvSpPr/>
          <p:nvPr/>
        </p:nvSpPr>
        <p:spPr>
          <a:xfrm>
            <a:off x="320040" y="1143000"/>
            <a:ext cx="2084831" cy="1965960"/>
          </a:xfrm>
          <a:prstGeom prst="roundRect">
            <a:avLst>
              <a:gd name="adj" fmla="val 8000"/>
            </a:avLst>
          </a:prstGeom>
          <a:solidFill>
            <a:srgbClr val="FFFCF8"/>
          </a:solidFill>
          <a:ln w="12700">
            <a:solidFill>
              <a:srgbClr val="E4DD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29768" y="1234440"/>
            <a:ext cx="1865376" cy="256032"/>
          </a:xfrm>
          <a:prstGeom prst="rect">
            <a:avLst/>
          </a:prstGeom>
          <a:noFill/>
        </p:spPr>
        <p:txBody>
          <a:bodyPr wrap="square" lIns="0" tIns="0" rIns="0" bIns="0" anchor="t"/>
          <a:lstStyle/>
          <a:p>
            <a:pPr algn="l"/>
            <a:r>
              <a:rPr sz="1300" b="1">
                <a:solidFill>
                  <a:srgbClr val="0F5E5A"/>
                </a:solidFill>
                <a:latin typeface="Calibri"/>
              </a:rPr>
              <a:t>P0</a:t>
            </a:r>
          </a:p>
        </p:txBody>
      </p:sp>
      <p:sp>
        <p:nvSpPr>
          <p:cNvPr id="9" name="TextBox 8"/>
          <p:cNvSpPr txBox="1"/>
          <p:nvPr/>
        </p:nvSpPr>
        <p:spPr>
          <a:xfrm>
            <a:off x="429768" y="1499616"/>
            <a:ext cx="1865376" cy="329184"/>
          </a:xfrm>
          <a:prstGeom prst="rect">
            <a:avLst/>
          </a:prstGeom>
          <a:noFill/>
        </p:spPr>
        <p:txBody>
          <a:bodyPr wrap="square" lIns="0" tIns="0" rIns="0" bIns="0" anchor="t"/>
          <a:lstStyle/>
          <a:p>
            <a:pPr algn="l"/>
            <a:r>
              <a:rPr sz="1600" b="1">
                <a:solidFill>
                  <a:srgbClr val="1C1915"/>
                </a:solidFill>
                <a:latin typeface="Calibri"/>
              </a:rPr>
              <a:t>Acceptance</a:t>
            </a:r>
          </a:p>
        </p:txBody>
      </p:sp>
      <p:sp>
        <p:nvSpPr>
          <p:cNvPr id="10" name="TextBox 9"/>
          <p:cNvSpPr txBox="1"/>
          <p:nvPr/>
        </p:nvSpPr>
        <p:spPr>
          <a:xfrm>
            <a:off x="429768" y="1901952"/>
            <a:ext cx="1865376" cy="1051560"/>
          </a:xfrm>
          <a:prstGeom prst="rect">
            <a:avLst/>
          </a:prstGeom>
          <a:noFill/>
        </p:spPr>
        <p:txBody>
          <a:bodyPr wrap="square" lIns="0" tIns="0" rIns="0" bIns="0" anchor="t"/>
          <a:lstStyle/>
          <a:p>
            <a:pPr algn="l"/>
            <a:r>
              <a:rPr sz="1300" b="0">
                <a:solidFill>
                  <a:srgbClr val="5E584F"/>
                </a:solidFill>
                <a:latin typeface="Calibri"/>
              </a:rPr>
              <a:t>Check the ABN and ASIC. Prepare the acceptance file.</a:t>
            </a:r>
          </a:p>
        </p:txBody>
      </p:sp>
      <p:sp>
        <p:nvSpPr>
          <p:cNvPr id="11" name="Rounded Rectangle 10"/>
          <p:cNvSpPr/>
          <p:nvPr/>
        </p:nvSpPr>
        <p:spPr>
          <a:xfrm>
            <a:off x="320040" y="3218688"/>
            <a:ext cx="2084831" cy="640080"/>
          </a:xfrm>
          <a:prstGeom prst="roundRect">
            <a:avLst>
              <a:gd name="adj" fmla="val 8000"/>
            </a:avLst>
          </a:prstGeom>
          <a:solidFill>
            <a:srgbClr val="F8EFD2"/>
          </a:solidFill>
          <a:ln w="12700">
            <a:solidFill>
              <a:srgbClr val="C4A57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11479" y="3236976"/>
            <a:ext cx="1901951" cy="219456"/>
          </a:xfrm>
          <a:prstGeom prst="rect">
            <a:avLst/>
          </a:prstGeom>
          <a:noFill/>
        </p:spPr>
        <p:txBody>
          <a:bodyPr wrap="square" lIns="0" tIns="0" rIns="0" bIns="0" anchor="t"/>
          <a:lstStyle/>
          <a:p>
            <a:pPr algn="ctr"/>
            <a:r>
              <a:rPr sz="1100" b="1">
                <a:solidFill>
                  <a:srgbClr val="8C4A1F"/>
                </a:solidFill>
                <a:latin typeface="Calibri"/>
              </a:rPr>
              <a:t>GATE</a:t>
            </a:r>
          </a:p>
        </p:txBody>
      </p:sp>
      <p:sp>
        <p:nvSpPr>
          <p:cNvPr id="13" name="TextBox 12"/>
          <p:cNvSpPr txBox="1"/>
          <p:nvPr/>
        </p:nvSpPr>
        <p:spPr>
          <a:xfrm>
            <a:off x="411479" y="3438144"/>
            <a:ext cx="1901951" cy="347472"/>
          </a:xfrm>
          <a:prstGeom prst="rect">
            <a:avLst/>
          </a:prstGeom>
          <a:noFill/>
        </p:spPr>
        <p:txBody>
          <a:bodyPr wrap="square" lIns="0" tIns="0" rIns="0" bIns="0" anchor="t"/>
          <a:lstStyle/>
          <a:p>
            <a:pPr algn="ctr"/>
            <a:r>
              <a:rPr sz="1300" b="1">
                <a:solidFill>
                  <a:srgbClr val="1C1915"/>
                </a:solidFill>
                <a:latin typeface="Calibri"/>
              </a:rPr>
              <a:t>Accept or decline</a:t>
            </a:r>
          </a:p>
        </p:txBody>
      </p:sp>
      <p:sp>
        <p:nvSpPr>
          <p:cNvPr id="14" name="Right Arrow 13"/>
          <p:cNvSpPr/>
          <p:nvPr/>
        </p:nvSpPr>
        <p:spPr>
          <a:xfrm>
            <a:off x="2423160" y="1920240"/>
            <a:ext cx="256032" cy="201168"/>
          </a:xfrm>
          <a:prstGeom prst="rightArrow">
            <a:avLst/>
          </a:prstGeom>
          <a:solidFill>
            <a:srgbClr val="0F5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2715768" y="1143000"/>
            <a:ext cx="2084831" cy="1965960"/>
          </a:xfrm>
          <a:prstGeom prst="roundRect">
            <a:avLst>
              <a:gd name="adj" fmla="val 8000"/>
            </a:avLst>
          </a:prstGeom>
          <a:solidFill>
            <a:srgbClr val="FFFCF8"/>
          </a:solidFill>
          <a:ln w="12700">
            <a:solidFill>
              <a:srgbClr val="E4DD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2825496" y="1234440"/>
            <a:ext cx="1865376" cy="256032"/>
          </a:xfrm>
          <a:prstGeom prst="rect">
            <a:avLst/>
          </a:prstGeom>
          <a:noFill/>
        </p:spPr>
        <p:txBody>
          <a:bodyPr wrap="square" lIns="0" tIns="0" rIns="0" bIns="0" anchor="t"/>
          <a:lstStyle/>
          <a:p>
            <a:pPr algn="l"/>
            <a:r>
              <a:rPr sz="1300" b="1">
                <a:solidFill>
                  <a:srgbClr val="0F5E5A"/>
                </a:solidFill>
                <a:latin typeface="Calibri"/>
              </a:rPr>
              <a:t>P1</a:t>
            </a:r>
          </a:p>
        </p:txBody>
      </p:sp>
      <p:sp>
        <p:nvSpPr>
          <p:cNvPr id="17" name="TextBox 16"/>
          <p:cNvSpPr txBox="1"/>
          <p:nvPr/>
        </p:nvSpPr>
        <p:spPr>
          <a:xfrm>
            <a:off x="2825496" y="1499616"/>
            <a:ext cx="1865376" cy="329184"/>
          </a:xfrm>
          <a:prstGeom prst="rect">
            <a:avLst/>
          </a:prstGeom>
          <a:noFill/>
        </p:spPr>
        <p:txBody>
          <a:bodyPr wrap="square" lIns="0" tIns="0" rIns="0" bIns="0" anchor="t"/>
          <a:lstStyle/>
          <a:p>
            <a:pPr algn="l"/>
            <a:r>
              <a:rPr sz="1600" b="1">
                <a:solidFill>
                  <a:srgbClr val="1C1915"/>
                </a:solidFill>
                <a:latin typeface="Calibri"/>
              </a:rPr>
              <a:t>Planning</a:t>
            </a:r>
          </a:p>
        </p:txBody>
      </p:sp>
      <p:sp>
        <p:nvSpPr>
          <p:cNvPr id="18" name="TextBox 17"/>
          <p:cNvSpPr txBox="1"/>
          <p:nvPr/>
        </p:nvSpPr>
        <p:spPr>
          <a:xfrm>
            <a:off x="2825496" y="1901952"/>
            <a:ext cx="1865376" cy="1051560"/>
          </a:xfrm>
          <a:prstGeom prst="rect">
            <a:avLst/>
          </a:prstGeom>
          <a:noFill/>
        </p:spPr>
        <p:txBody>
          <a:bodyPr wrap="square" lIns="0" tIns="0" rIns="0" bIns="0" anchor="t"/>
          <a:lstStyle/>
          <a:p>
            <a:pPr algn="l"/>
            <a:r>
              <a:rPr sz="1300" b="0">
                <a:solidFill>
                  <a:srgbClr val="5E584F"/>
                </a:solidFill>
                <a:latin typeface="Calibri"/>
              </a:rPr>
              <a:t>Materiality, the risk list, then assemble the pack.</a:t>
            </a:r>
          </a:p>
        </p:txBody>
      </p:sp>
      <p:sp>
        <p:nvSpPr>
          <p:cNvPr id="19" name="Rounded Rectangle 18"/>
          <p:cNvSpPr/>
          <p:nvPr/>
        </p:nvSpPr>
        <p:spPr>
          <a:xfrm>
            <a:off x="2715768" y="3218688"/>
            <a:ext cx="2084831" cy="640080"/>
          </a:xfrm>
          <a:prstGeom prst="roundRect">
            <a:avLst>
              <a:gd name="adj" fmla="val 8000"/>
            </a:avLst>
          </a:prstGeom>
          <a:solidFill>
            <a:srgbClr val="F8EFD2"/>
          </a:solidFill>
          <a:ln w="12700">
            <a:solidFill>
              <a:srgbClr val="C4A57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2807208" y="3236976"/>
            <a:ext cx="1901951" cy="219456"/>
          </a:xfrm>
          <a:prstGeom prst="rect">
            <a:avLst/>
          </a:prstGeom>
          <a:noFill/>
        </p:spPr>
        <p:txBody>
          <a:bodyPr wrap="square" lIns="0" tIns="0" rIns="0" bIns="0" anchor="t"/>
          <a:lstStyle/>
          <a:p>
            <a:pPr algn="ctr"/>
            <a:r>
              <a:rPr sz="1100" b="1">
                <a:solidFill>
                  <a:srgbClr val="8C4A1F"/>
                </a:solidFill>
                <a:latin typeface="Calibri"/>
              </a:rPr>
              <a:t>GATE</a:t>
            </a:r>
          </a:p>
        </p:txBody>
      </p:sp>
      <p:sp>
        <p:nvSpPr>
          <p:cNvPr id="21" name="TextBox 20"/>
          <p:cNvSpPr txBox="1"/>
          <p:nvPr/>
        </p:nvSpPr>
        <p:spPr>
          <a:xfrm>
            <a:off x="2807208" y="3438144"/>
            <a:ext cx="1901951" cy="347472"/>
          </a:xfrm>
          <a:prstGeom prst="rect">
            <a:avLst/>
          </a:prstGeom>
          <a:noFill/>
        </p:spPr>
        <p:txBody>
          <a:bodyPr wrap="square" lIns="0" tIns="0" rIns="0" bIns="0" anchor="t"/>
          <a:lstStyle/>
          <a:p>
            <a:pPr algn="ctr"/>
            <a:r>
              <a:rPr sz="1300" b="1">
                <a:solidFill>
                  <a:srgbClr val="1C1915"/>
                </a:solidFill>
                <a:latin typeface="Calibri"/>
              </a:rPr>
              <a:t>Approve the plan</a:t>
            </a:r>
          </a:p>
        </p:txBody>
      </p:sp>
      <p:sp>
        <p:nvSpPr>
          <p:cNvPr id="22" name="Right Arrow 21"/>
          <p:cNvSpPr/>
          <p:nvPr/>
        </p:nvSpPr>
        <p:spPr>
          <a:xfrm>
            <a:off x="4818888" y="1920240"/>
            <a:ext cx="256032" cy="201168"/>
          </a:xfrm>
          <a:prstGeom prst="rightArrow">
            <a:avLst/>
          </a:prstGeom>
          <a:solidFill>
            <a:srgbClr val="0F5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5111496" y="1143000"/>
            <a:ext cx="2084831" cy="1965960"/>
          </a:xfrm>
          <a:prstGeom prst="roundRect">
            <a:avLst>
              <a:gd name="adj" fmla="val 8000"/>
            </a:avLst>
          </a:prstGeom>
          <a:solidFill>
            <a:srgbClr val="FFFCF8"/>
          </a:solidFill>
          <a:ln w="12700">
            <a:solidFill>
              <a:srgbClr val="E4DD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5221224" y="1234440"/>
            <a:ext cx="1865376" cy="256032"/>
          </a:xfrm>
          <a:prstGeom prst="rect">
            <a:avLst/>
          </a:prstGeom>
          <a:noFill/>
        </p:spPr>
        <p:txBody>
          <a:bodyPr wrap="square" lIns="0" tIns="0" rIns="0" bIns="0" anchor="t"/>
          <a:lstStyle/>
          <a:p>
            <a:pPr algn="l"/>
            <a:r>
              <a:rPr sz="1300" b="1">
                <a:solidFill>
                  <a:srgbClr val="0F5E5A"/>
                </a:solidFill>
                <a:latin typeface="Calibri"/>
              </a:rPr>
              <a:t>P2</a:t>
            </a:r>
          </a:p>
        </p:txBody>
      </p:sp>
      <p:sp>
        <p:nvSpPr>
          <p:cNvPr id="25" name="TextBox 24"/>
          <p:cNvSpPr txBox="1"/>
          <p:nvPr/>
        </p:nvSpPr>
        <p:spPr>
          <a:xfrm>
            <a:off x="5221224" y="1499616"/>
            <a:ext cx="1865376" cy="329184"/>
          </a:xfrm>
          <a:prstGeom prst="rect">
            <a:avLst/>
          </a:prstGeom>
          <a:noFill/>
        </p:spPr>
        <p:txBody>
          <a:bodyPr wrap="square" lIns="0" tIns="0" rIns="0" bIns="0" anchor="t"/>
          <a:lstStyle/>
          <a:p>
            <a:pPr algn="l"/>
            <a:r>
              <a:rPr sz="1600" b="1">
                <a:solidFill>
                  <a:srgbClr val="1C1915"/>
                </a:solidFill>
                <a:latin typeface="Calibri"/>
              </a:rPr>
              <a:t>Execution</a:t>
            </a:r>
          </a:p>
        </p:txBody>
      </p:sp>
      <p:sp>
        <p:nvSpPr>
          <p:cNvPr id="26" name="TextBox 25"/>
          <p:cNvSpPr txBox="1"/>
          <p:nvPr/>
        </p:nvSpPr>
        <p:spPr>
          <a:xfrm>
            <a:off x="5221224" y="1901952"/>
            <a:ext cx="1865376" cy="1051560"/>
          </a:xfrm>
          <a:prstGeom prst="rect">
            <a:avLst/>
          </a:prstGeom>
          <a:noFill/>
        </p:spPr>
        <p:txBody>
          <a:bodyPr wrap="square" lIns="0" tIns="0" rIns="0" bIns="0" anchor="t"/>
          <a:lstStyle/>
          <a:p>
            <a:pPr algn="l"/>
            <a:r>
              <a:rPr sz="1300" b="0">
                <a:solidFill>
                  <a:srgbClr val="5E584F"/>
                </a:solidFill>
                <a:latin typeface="Calibri"/>
              </a:rPr>
              <a:t>Substantive work in parallel layers, then merge.</a:t>
            </a:r>
          </a:p>
        </p:txBody>
      </p:sp>
      <p:sp>
        <p:nvSpPr>
          <p:cNvPr id="27" name="TextBox 26"/>
          <p:cNvSpPr txBox="1"/>
          <p:nvPr/>
        </p:nvSpPr>
        <p:spPr>
          <a:xfrm>
            <a:off x="5184648" y="3218688"/>
            <a:ext cx="1938527" cy="640080"/>
          </a:xfrm>
          <a:prstGeom prst="rect">
            <a:avLst/>
          </a:prstGeom>
          <a:noFill/>
        </p:spPr>
        <p:txBody>
          <a:bodyPr wrap="square" lIns="0" tIns="0" rIns="0" bIns="0" anchor="t"/>
          <a:lstStyle/>
          <a:p>
            <a:pPr algn="ctr"/>
            <a:r>
              <a:rPr sz="1200" b="0">
                <a:solidFill>
                  <a:srgbClr val="5E584F"/>
                </a:solidFill>
                <a:latin typeface="Calibri"/>
              </a:rPr>
              <a:t>No gate.
The pack settles, then completion starts.</a:t>
            </a:r>
          </a:p>
        </p:txBody>
      </p:sp>
      <p:sp>
        <p:nvSpPr>
          <p:cNvPr id="28" name="Right Arrow 27"/>
          <p:cNvSpPr/>
          <p:nvPr/>
        </p:nvSpPr>
        <p:spPr>
          <a:xfrm>
            <a:off x="7214615" y="1920240"/>
            <a:ext cx="256032" cy="201168"/>
          </a:xfrm>
          <a:prstGeom prst="rightArrow">
            <a:avLst/>
          </a:prstGeom>
          <a:solidFill>
            <a:srgbClr val="0F5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ounded Rectangle 28"/>
          <p:cNvSpPr/>
          <p:nvPr/>
        </p:nvSpPr>
        <p:spPr>
          <a:xfrm>
            <a:off x="7507223" y="1143000"/>
            <a:ext cx="2084831" cy="1965960"/>
          </a:xfrm>
          <a:prstGeom prst="roundRect">
            <a:avLst>
              <a:gd name="adj" fmla="val 8000"/>
            </a:avLst>
          </a:prstGeom>
          <a:solidFill>
            <a:srgbClr val="FFFCF8"/>
          </a:solidFill>
          <a:ln w="12700">
            <a:solidFill>
              <a:srgbClr val="E4DD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7616951" y="1234440"/>
            <a:ext cx="1865376" cy="256032"/>
          </a:xfrm>
          <a:prstGeom prst="rect">
            <a:avLst/>
          </a:prstGeom>
          <a:noFill/>
        </p:spPr>
        <p:txBody>
          <a:bodyPr wrap="square" lIns="0" tIns="0" rIns="0" bIns="0" anchor="t"/>
          <a:lstStyle/>
          <a:p>
            <a:pPr algn="l"/>
            <a:r>
              <a:rPr sz="1300" b="1">
                <a:solidFill>
                  <a:srgbClr val="0F5E5A"/>
                </a:solidFill>
                <a:latin typeface="Calibri"/>
              </a:rPr>
              <a:t>P3</a:t>
            </a:r>
          </a:p>
        </p:txBody>
      </p:sp>
      <p:sp>
        <p:nvSpPr>
          <p:cNvPr id="31" name="TextBox 30"/>
          <p:cNvSpPr txBox="1"/>
          <p:nvPr/>
        </p:nvSpPr>
        <p:spPr>
          <a:xfrm>
            <a:off x="7616951" y="1499616"/>
            <a:ext cx="1865376" cy="329184"/>
          </a:xfrm>
          <a:prstGeom prst="rect">
            <a:avLst/>
          </a:prstGeom>
          <a:noFill/>
        </p:spPr>
        <p:txBody>
          <a:bodyPr wrap="square" lIns="0" tIns="0" rIns="0" bIns="0" anchor="t"/>
          <a:lstStyle/>
          <a:p>
            <a:pPr algn="l"/>
            <a:r>
              <a:rPr sz="1600" b="1">
                <a:solidFill>
                  <a:srgbClr val="1C1915"/>
                </a:solidFill>
                <a:latin typeface="Calibri"/>
              </a:rPr>
              <a:t>Completion</a:t>
            </a:r>
          </a:p>
        </p:txBody>
      </p:sp>
      <p:sp>
        <p:nvSpPr>
          <p:cNvPr id="32" name="TextBox 31"/>
          <p:cNvSpPr txBox="1"/>
          <p:nvPr/>
        </p:nvSpPr>
        <p:spPr>
          <a:xfrm>
            <a:off x="7616951" y="1901952"/>
            <a:ext cx="1865376" cy="1051560"/>
          </a:xfrm>
          <a:prstGeom prst="rect">
            <a:avLst/>
          </a:prstGeom>
          <a:noFill/>
        </p:spPr>
        <p:txBody>
          <a:bodyPr wrap="square" lIns="0" tIns="0" rIns="0" bIns="0" anchor="t"/>
          <a:lstStyle/>
          <a:p>
            <a:pPr algn="l"/>
            <a:r>
              <a:rPr sz="1300" b="0">
                <a:solidFill>
                  <a:srgbClr val="5E584F"/>
                </a:solidFill>
                <a:latin typeface="Calibri"/>
              </a:rPr>
              <a:t>Add up uncorrected misstatements.</a:t>
            </a:r>
          </a:p>
        </p:txBody>
      </p:sp>
      <p:sp>
        <p:nvSpPr>
          <p:cNvPr id="33" name="Rounded Rectangle 32"/>
          <p:cNvSpPr/>
          <p:nvPr/>
        </p:nvSpPr>
        <p:spPr>
          <a:xfrm>
            <a:off x="7507223" y="3218688"/>
            <a:ext cx="2084831" cy="640080"/>
          </a:xfrm>
          <a:prstGeom prst="roundRect">
            <a:avLst>
              <a:gd name="adj" fmla="val 8000"/>
            </a:avLst>
          </a:prstGeom>
          <a:solidFill>
            <a:srgbClr val="F8EFD2"/>
          </a:solidFill>
          <a:ln w="12700">
            <a:solidFill>
              <a:srgbClr val="C4A57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7598663" y="3236976"/>
            <a:ext cx="1901951" cy="219456"/>
          </a:xfrm>
          <a:prstGeom prst="rect">
            <a:avLst/>
          </a:prstGeom>
          <a:noFill/>
        </p:spPr>
        <p:txBody>
          <a:bodyPr wrap="square" lIns="0" tIns="0" rIns="0" bIns="0" anchor="t"/>
          <a:lstStyle/>
          <a:p>
            <a:pPr algn="ctr"/>
            <a:r>
              <a:rPr sz="1100" b="1">
                <a:solidFill>
                  <a:srgbClr val="8C4A1F"/>
                </a:solidFill>
                <a:latin typeface="Calibri"/>
              </a:rPr>
              <a:t>GATE</a:t>
            </a:r>
          </a:p>
        </p:txBody>
      </p:sp>
      <p:sp>
        <p:nvSpPr>
          <p:cNvPr id="35" name="TextBox 34"/>
          <p:cNvSpPr txBox="1"/>
          <p:nvPr/>
        </p:nvSpPr>
        <p:spPr>
          <a:xfrm>
            <a:off x="7598663" y="3438144"/>
            <a:ext cx="1901951" cy="347472"/>
          </a:xfrm>
          <a:prstGeom prst="rect">
            <a:avLst/>
          </a:prstGeom>
          <a:noFill/>
        </p:spPr>
        <p:txBody>
          <a:bodyPr wrap="square" lIns="0" tIns="0" rIns="0" bIns="0" anchor="t"/>
          <a:lstStyle/>
          <a:p>
            <a:pPr algn="ctr"/>
            <a:r>
              <a:rPr sz="1300" b="1">
                <a:solidFill>
                  <a:srgbClr val="1C1915"/>
                </a:solidFill>
                <a:latin typeface="Calibri"/>
              </a:rPr>
              <a:t>Confirm the opinion</a:t>
            </a:r>
          </a:p>
        </p:txBody>
      </p:sp>
      <p:sp>
        <p:nvSpPr>
          <p:cNvPr id="36" name="Right Arrow 35"/>
          <p:cNvSpPr/>
          <p:nvPr/>
        </p:nvSpPr>
        <p:spPr>
          <a:xfrm>
            <a:off x="9610343" y="1920240"/>
            <a:ext cx="256032" cy="201168"/>
          </a:xfrm>
          <a:prstGeom prst="rightArrow">
            <a:avLst/>
          </a:prstGeom>
          <a:solidFill>
            <a:srgbClr val="0F5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ounded Rectangle 36"/>
          <p:cNvSpPr/>
          <p:nvPr/>
        </p:nvSpPr>
        <p:spPr>
          <a:xfrm>
            <a:off x="9902951" y="1143000"/>
            <a:ext cx="2084831" cy="1965960"/>
          </a:xfrm>
          <a:prstGeom prst="roundRect">
            <a:avLst>
              <a:gd name="adj" fmla="val 8000"/>
            </a:avLst>
          </a:prstGeom>
          <a:solidFill>
            <a:srgbClr val="FFFCF8"/>
          </a:solidFill>
          <a:ln w="12700">
            <a:solidFill>
              <a:srgbClr val="E4DD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10012679" y="1234440"/>
            <a:ext cx="1865376" cy="256032"/>
          </a:xfrm>
          <a:prstGeom prst="rect">
            <a:avLst/>
          </a:prstGeom>
          <a:noFill/>
        </p:spPr>
        <p:txBody>
          <a:bodyPr wrap="square" lIns="0" tIns="0" rIns="0" bIns="0" anchor="t"/>
          <a:lstStyle/>
          <a:p>
            <a:pPr algn="l"/>
            <a:r>
              <a:rPr sz="1300" b="1">
                <a:solidFill>
                  <a:srgbClr val="0F5E5A"/>
                </a:solidFill>
                <a:latin typeface="Calibri"/>
              </a:rPr>
              <a:t>P4</a:t>
            </a:r>
          </a:p>
        </p:txBody>
      </p:sp>
      <p:sp>
        <p:nvSpPr>
          <p:cNvPr id="39" name="TextBox 38"/>
          <p:cNvSpPr txBox="1"/>
          <p:nvPr/>
        </p:nvSpPr>
        <p:spPr>
          <a:xfrm>
            <a:off x="10012679" y="1499616"/>
            <a:ext cx="1865376" cy="329184"/>
          </a:xfrm>
          <a:prstGeom prst="rect">
            <a:avLst/>
          </a:prstGeom>
          <a:noFill/>
        </p:spPr>
        <p:txBody>
          <a:bodyPr wrap="square" lIns="0" tIns="0" rIns="0" bIns="0" anchor="t"/>
          <a:lstStyle/>
          <a:p>
            <a:pPr algn="l"/>
            <a:r>
              <a:rPr sz="1600" b="1">
                <a:solidFill>
                  <a:srgbClr val="1C1915"/>
                </a:solidFill>
                <a:latin typeface="Calibri"/>
              </a:rPr>
              <a:t>Reporting</a:t>
            </a:r>
          </a:p>
        </p:txBody>
      </p:sp>
      <p:sp>
        <p:nvSpPr>
          <p:cNvPr id="40" name="TextBox 39"/>
          <p:cNvSpPr txBox="1"/>
          <p:nvPr/>
        </p:nvSpPr>
        <p:spPr>
          <a:xfrm>
            <a:off x="10012679" y="1901952"/>
            <a:ext cx="1865376" cy="1051560"/>
          </a:xfrm>
          <a:prstGeom prst="rect">
            <a:avLst/>
          </a:prstGeom>
          <a:noFill/>
        </p:spPr>
        <p:txBody>
          <a:bodyPr wrap="square" lIns="0" tIns="0" rIns="0" bIns="0" anchor="t"/>
          <a:lstStyle/>
          <a:p>
            <a:pPr algn="l"/>
            <a:r>
              <a:rPr sz="1300" b="0">
                <a:solidFill>
                  <a:srgbClr val="5E584F"/>
                </a:solidFill>
                <a:latin typeface="Calibri"/>
              </a:rPr>
              <a:t>Draft the report. Comments, or sign and archive.</a:t>
            </a:r>
          </a:p>
        </p:txBody>
      </p:sp>
      <p:sp>
        <p:nvSpPr>
          <p:cNvPr id="41" name="Rounded Rectangle 40"/>
          <p:cNvSpPr/>
          <p:nvPr/>
        </p:nvSpPr>
        <p:spPr>
          <a:xfrm>
            <a:off x="9902951" y="3218688"/>
            <a:ext cx="2084831" cy="640080"/>
          </a:xfrm>
          <a:prstGeom prst="roundRect">
            <a:avLst>
              <a:gd name="adj" fmla="val 8000"/>
            </a:avLst>
          </a:prstGeom>
          <a:solidFill>
            <a:srgbClr val="F8EFD2"/>
          </a:solidFill>
          <a:ln w="12700">
            <a:solidFill>
              <a:srgbClr val="C4A57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9994391" y="3236976"/>
            <a:ext cx="1901951" cy="219456"/>
          </a:xfrm>
          <a:prstGeom prst="rect">
            <a:avLst/>
          </a:prstGeom>
          <a:noFill/>
        </p:spPr>
        <p:txBody>
          <a:bodyPr wrap="square" lIns="0" tIns="0" rIns="0" bIns="0" anchor="t"/>
          <a:lstStyle/>
          <a:p>
            <a:pPr algn="ctr"/>
            <a:r>
              <a:rPr sz="1100" b="1">
                <a:solidFill>
                  <a:srgbClr val="8C4A1F"/>
                </a:solidFill>
                <a:latin typeface="Calibri"/>
              </a:rPr>
              <a:t>GATE</a:t>
            </a:r>
          </a:p>
        </p:txBody>
      </p:sp>
      <p:sp>
        <p:nvSpPr>
          <p:cNvPr id="43" name="TextBox 42"/>
          <p:cNvSpPr txBox="1"/>
          <p:nvPr/>
        </p:nvSpPr>
        <p:spPr>
          <a:xfrm>
            <a:off x="9994391" y="3438144"/>
            <a:ext cx="1901951" cy="347472"/>
          </a:xfrm>
          <a:prstGeom prst="rect">
            <a:avLst/>
          </a:prstGeom>
          <a:noFill/>
        </p:spPr>
        <p:txBody>
          <a:bodyPr wrap="square" lIns="0" tIns="0" rIns="0" bIns="0" anchor="t"/>
          <a:lstStyle/>
          <a:p>
            <a:pPr algn="ctr"/>
            <a:r>
              <a:rPr sz="1300" b="1">
                <a:solidFill>
                  <a:srgbClr val="1C1915"/>
                </a:solidFill>
                <a:latin typeface="Calibri"/>
              </a:rPr>
              <a:t>Sign or send back</a:t>
            </a:r>
          </a:p>
        </p:txBody>
      </p:sp>
      <p:sp>
        <p:nvSpPr>
          <p:cNvPr id="44" name="Rounded Rectangle 43"/>
          <p:cNvSpPr/>
          <p:nvPr/>
        </p:nvSpPr>
        <p:spPr>
          <a:xfrm>
            <a:off x="320040" y="4069080"/>
            <a:ext cx="5669280" cy="1051560"/>
          </a:xfrm>
          <a:prstGeom prst="roundRect">
            <a:avLst>
              <a:gd name="adj" fmla="val 8000"/>
            </a:avLst>
          </a:prstGeom>
          <a:solidFill>
            <a:srgbClr val="E6F2F1"/>
          </a:solidFill>
          <a:ln w="12700">
            <a:solidFill>
              <a:srgbClr val="0F5E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457200" y="4160520"/>
            <a:ext cx="5394960" cy="237744"/>
          </a:xfrm>
          <a:prstGeom prst="rect">
            <a:avLst/>
          </a:prstGeom>
          <a:noFill/>
        </p:spPr>
        <p:txBody>
          <a:bodyPr wrap="square" lIns="0" tIns="0" rIns="0" bIns="0" anchor="t"/>
          <a:lstStyle/>
          <a:p>
            <a:pPr algn="l"/>
            <a:r>
              <a:rPr sz="1200" b="1">
                <a:solidFill>
                  <a:srgbClr val="0F5E5A"/>
                </a:solidFill>
                <a:latin typeface="Calibri"/>
              </a:rPr>
              <a:t>RETURN TO PLANNING</a:t>
            </a:r>
          </a:p>
        </p:txBody>
      </p:sp>
      <p:sp>
        <p:nvSpPr>
          <p:cNvPr id="46" name="TextBox 45"/>
          <p:cNvSpPr txBox="1"/>
          <p:nvPr/>
        </p:nvSpPr>
        <p:spPr>
          <a:xfrm>
            <a:off x="457200" y="4443984"/>
            <a:ext cx="5349240" cy="566928"/>
          </a:xfrm>
          <a:prstGeom prst="rect">
            <a:avLst/>
          </a:prstGeom>
          <a:noFill/>
        </p:spPr>
        <p:txBody>
          <a:bodyPr wrap="square" lIns="0" tIns="0" rIns="0" bIns="0" anchor="t"/>
          <a:lstStyle/>
          <a:p>
            <a:pPr algn="l"/>
            <a:r>
              <a:rPr sz="1400" b="0">
                <a:solidFill>
                  <a:srgbClr val="1C1915"/>
                </a:solidFill>
                <a:latin typeface="Calibri"/>
              </a:rPr>
              <a:t>A risk flag in execution pauses the dispatch and sends the work back to planning. It does not ingest the file again.</a:t>
            </a:r>
          </a:p>
        </p:txBody>
      </p:sp>
      <p:sp>
        <p:nvSpPr>
          <p:cNvPr id="47" name="Rounded Rectangle 46"/>
          <p:cNvSpPr/>
          <p:nvPr/>
        </p:nvSpPr>
        <p:spPr>
          <a:xfrm>
            <a:off x="6126480" y="4069080"/>
            <a:ext cx="5687568" cy="1051560"/>
          </a:xfrm>
          <a:prstGeom prst="roundRect">
            <a:avLst>
              <a:gd name="adj" fmla="val 8000"/>
            </a:avLst>
          </a:prstGeom>
          <a:solidFill>
            <a:srgbClr val="F8ECEC"/>
          </a:solidFill>
          <a:ln w="12700">
            <a:solidFill>
              <a:srgbClr val="8F2D2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6263640" y="4160520"/>
            <a:ext cx="5394960" cy="237744"/>
          </a:xfrm>
          <a:prstGeom prst="rect">
            <a:avLst/>
          </a:prstGeom>
          <a:noFill/>
        </p:spPr>
        <p:txBody>
          <a:bodyPr wrap="square" lIns="0" tIns="0" rIns="0" bIns="0" anchor="t"/>
          <a:lstStyle/>
          <a:p>
            <a:pPr algn="l"/>
            <a:r>
              <a:rPr sz="1200" b="1">
                <a:solidFill>
                  <a:srgbClr val="8F2D2D"/>
                </a:solidFill>
                <a:latin typeface="Calibri"/>
              </a:rPr>
              <a:t>TWO EXITS</a:t>
            </a:r>
          </a:p>
        </p:txBody>
      </p:sp>
      <p:sp>
        <p:nvSpPr>
          <p:cNvPr id="49" name="TextBox 48"/>
          <p:cNvSpPr txBox="1"/>
          <p:nvPr/>
        </p:nvSpPr>
        <p:spPr>
          <a:xfrm>
            <a:off x="6263640" y="4443984"/>
            <a:ext cx="5394960" cy="566928"/>
          </a:xfrm>
          <a:prstGeom prst="rect">
            <a:avLst/>
          </a:prstGeom>
          <a:noFill/>
        </p:spPr>
        <p:txBody>
          <a:bodyPr wrap="square" lIns="0" tIns="0" rIns="0" bIns="0" anchor="t"/>
          <a:lstStyle/>
          <a:p>
            <a:pPr algn="l"/>
            <a:r>
              <a:rPr sz="1400" b="0">
                <a:solidFill>
                  <a:srgbClr val="1C1915"/>
                </a:solidFill>
                <a:latin typeface="Calibri"/>
              </a:rPr>
              <a:t>Decline at acceptance. Or withdraw from any phase and seal the file.</a:t>
            </a:r>
          </a:p>
        </p:txBody>
      </p:sp>
      <p:sp>
        <p:nvSpPr>
          <p:cNvPr id="50" name="TextBox 49"/>
          <p:cNvSpPr txBox="1"/>
          <p:nvPr/>
        </p:nvSpPr>
        <p:spPr>
          <a:xfrm>
            <a:off x="365760" y="5303520"/>
            <a:ext cx="11430000" cy="320040"/>
          </a:xfrm>
          <a:prstGeom prst="rect">
            <a:avLst/>
          </a:prstGeom>
          <a:noFill/>
        </p:spPr>
        <p:txBody>
          <a:bodyPr wrap="square" lIns="0" tIns="0" rIns="0" bIns="0" anchor="t"/>
          <a:lstStyle/>
          <a:p>
            <a:pPr algn="l"/>
            <a:r>
              <a:rPr sz="1400" b="0">
                <a:solidFill>
                  <a:srgbClr val="5E584F"/>
                </a:solidFill>
                <a:latin typeface="Calibri"/>
              </a:rPr>
              <a:t>The flow resumes from a checkpoint. A gate does not move until the auditor decides.</a:t>
            </a:r>
          </a:p>
        </p:txBody>
      </p:sp>
      <p:sp>
        <p:nvSpPr>
          <p:cNvPr id="51" name="TextBox 50"/>
          <p:cNvSpPr txBox="1"/>
          <p:nvPr/>
        </p:nvSpPr>
        <p:spPr>
          <a:xfrm>
            <a:off x="411480" y="6510528"/>
            <a:ext cx="5486400" cy="256032"/>
          </a:xfrm>
          <a:prstGeom prst="rect">
            <a:avLst/>
          </a:prstGeom>
          <a:noFill/>
        </p:spPr>
        <p:txBody>
          <a:bodyPr wrap="square" lIns="0" tIns="0" rIns="0" bIns="0" anchor="t"/>
          <a:lstStyle/>
          <a:p>
            <a:pPr algn="l"/>
            <a:r>
              <a:rPr sz="1200" b="0">
                <a:solidFill>
                  <a:srgbClr val="5E584F"/>
                </a:solidFill>
                <a:latin typeface="Calibri"/>
              </a:rPr>
              <a:t>ELEC5620 · Group 16</a:t>
            </a:r>
          </a:p>
        </p:txBody>
      </p:sp>
      <p:sp>
        <p:nvSpPr>
          <p:cNvPr id="52" name="TextBox 51"/>
          <p:cNvSpPr txBox="1"/>
          <p:nvPr/>
        </p:nvSpPr>
        <p:spPr>
          <a:xfrm>
            <a:off x="9509760" y="6510528"/>
            <a:ext cx="2286000" cy="256032"/>
          </a:xfrm>
          <a:prstGeom prst="rect">
            <a:avLst/>
          </a:prstGeom>
          <a:noFill/>
        </p:spPr>
        <p:txBody>
          <a:bodyPr wrap="square" lIns="0" tIns="0" rIns="0" bIns="0" anchor="t"/>
          <a:lstStyle/>
          <a:p>
            <a:pPr algn="r"/>
            <a:r>
              <a:rPr sz="1200" b="0">
                <a:solidFill>
                  <a:srgbClr val="5E584F"/>
                </a:solidFill>
                <a:latin typeface="Calibri"/>
              </a:rPr>
              <a:t>9 / 39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4EE"/>
        </a:solidFill>
        <a:effectLst/>
      </p:bgPr>
    </p:bg>
    <p:spTree>
      <p:nvGrpSpPr>
        <p:cNvPr id="1" name=""/>
        <p:cNvGrpSpPr/>
        <p:nvPr/>
      </p:nvGrpSpPr>
      <p:grpSpPr>
        <a:xfrm>
          <a:off x="0" y="0"/>
          <a:ext cx="0" cy="0"/>
          <a:chOff x="0" y="0"/>
          <a:chExt cx="0" cy="0"/>
        </a:xfrm>
      </p:grpSpPr>
      <p:sp>
        <p:nvSpPr>
          <p:cNvPr id="2" name="TextBox 1"/>
          <p:cNvSpPr txBox="1"/>
          <p:nvPr/>
        </p:nvSpPr>
        <p:spPr>
          <a:xfrm>
            <a:off x="411480" y="256032"/>
            <a:ext cx="3840480" cy="256032"/>
          </a:xfrm>
          <a:prstGeom prst="rect">
            <a:avLst/>
          </a:prstGeom>
          <a:noFill/>
        </p:spPr>
        <p:txBody>
          <a:bodyPr wrap="square" lIns="0" tIns="0" rIns="0" bIns="0" anchor="t"/>
          <a:lstStyle/>
          <a:p>
            <a:pPr algn="l"/>
            <a:r>
              <a:rPr sz="1200" b="1">
                <a:solidFill>
                  <a:srgbClr val="0F5E5A"/>
                </a:solidFill>
                <a:latin typeface="Calibri"/>
              </a:rPr>
              <a:t>MEMBER B</a:t>
            </a:r>
          </a:p>
        </p:txBody>
      </p:sp>
      <p:sp>
        <p:nvSpPr>
          <p:cNvPr id="3" name="Rounded Rectangle 2"/>
          <p:cNvSpPr/>
          <p:nvPr/>
        </p:nvSpPr>
        <p:spPr>
          <a:xfrm>
            <a:off x="4114800" y="237744"/>
            <a:ext cx="2103120" cy="274320"/>
          </a:xfrm>
          <a:prstGeom prst="roundRect">
            <a:avLst>
              <a:gd name="adj" fmla="val 8000"/>
            </a:avLst>
          </a:prstGeom>
          <a:solidFill>
            <a:srgbClr val="F7F4EE"/>
          </a:solidFill>
          <a:ln w="12700">
            <a:solidFill>
              <a:srgbClr val="E4DD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14800" y="237744"/>
            <a:ext cx="2103120" cy="274320"/>
          </a:xfrm>
          <a:prstGeom prst="rect">
            <a:avLst/>
          </a:prstGeom>
          <a:noFill/>
        </p:spPr>
        <p:txBody>
          <a:bodyPr wrap="square" lIns="0" tIns="0" rIns="0" bIns="0" anchor="ctr"/>
          <a:lstStyle/>
          <a:p>
            <a:pPr algn="ctr"/>
            <a:r>
              <a:rPr sz="1200" b="0">
                <a:solidFill>
                  <a:srgbClr val="5E584F"/>
                </a:solidFill>
                <a:latin typeface="Calibri"/>
              </a:rPr>
              <a:t>Use cases</a:t>
            </a:r>
          </a:p>
        </p:txBody>
      </p:sp>
      <p:sp>
        <p:nvSpPr>
          <p:cNvPr id="5" name="TextBox 4"/>
          <p:cNvSpPr txBox="1"/>
          <p:nvPr/>
        </p:nvSpPr>
        <p:spPr>
          <a:xfrm>
            <a:off x="411480" y="621792"/>
            <a:ext cx="10972800" cy="438912"/>
          </a:xfrm>
          <a:prstGeom prst="rect">
            <a:avLst/>
          </a:prstGeom>
          <a:noFill/>
        </p:spPr>
        <p:txBody>
          <a:bodyPr wrap="square" lIns="0" tIns="0" rIns="0" bIns="0" anchor="t"/>
          <a:lstStyle/>
          <a:p>
            <a:pPr algn="l"/>
            <a:r>
              <a:rPr sz="2800" b="1">
                <a:solidFill>
                  <a:srgbClr val="1C1915"/>
                </a:solidFill>
                <a:latin typeface="Calibri"/>
              </a:rPr>
              <a:t>Nine use cases cover the whole engagement</a:t>
            </a:r>
          </a:p>
        </p:txBody>
      </p:sp>
      <p:sp>
        <p:nvSpPr>
          <p:cNvPr id="6" name="Rounded Rectangle 5"/>
          <p:cNvSpPr/>
          <p:nvPr/>
        </p:nvSpPr>
        <p:spPr>
          <a:xfrm>
            <a:off x="365760" y="1234440"/>
            <a:ext cx="3767328" cy="1298448"/>
          </a:xfrm>
          <a:prstGeom prst="roundRect">
            <a:avLst>
              <a:gd name="adj" fmla="val 8000"/>
            </a:avLst>
          </a:prstGeom>
          <a:solidFill>
            <a:srgbClr val="FFFCF8"/>
          </a:solidFill>
          <a:ln w="12700">
            <a:solidFill>
              <a:srgbClr val="E4DD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12064" y="1325880"/>
            <a:ext cx="3474720" cy="237744"/>
          </a:xfrm>
          <a:prstGeom prst="rect">
            <a:avLst/>
          </a:prstGeom>
          <a:noFill/>
        </p:spPr>
        <p:txBody>
          <a:bodyPr wrap="square" lIns="0" tIns="0" rIns="0" bIns="0" anchor="t"/>
          <a:lstStyle/>
          <a:p>
            <a:pPr algn="l"/>
            <a:r>
              <a:rPr sz="1200" b="1">
                <a:solidFill>
                  <a:srgbClr val="0F5E5A"/>
                </a:solidFill>
                <a:latin typeface="Calibri"/>
              </a:rPr>
              <a:t>UC-01 · P0</a:t>
            </a:r>
          </a:p>
        </p:txBody>
      </p:sp>
      <p:sp>
        <p:nvSpPr>
          <p:cNvPr id="8" name="TextBox 7"/>
          <p:cNvSpPr txBox="1"/>
          <p:nvPr/>
        </p:nvSpPr>
        <p:spPr>
          <a:xfrm>
            <a:off x="512064" y="1563624"/>
            <a:ext cx="3474720" cy="292608"/>
          </a:xfrm>
          <a:prstGeom prst="rect">
            <a:avLst/>
          </a:prstGeom>
          <a:noFill/>
        </p:spPr>
        <p:txBody>
          <a:bodyPr wrap="square" lIns="0" tIns="0" rIns="0" bIns="0" anchor="t"/>
          <a:lstStyle/>
          <a:p>
            <a:pPr algn="l"/>
            <a:r>
              <a:rPr sz="1600" b="1">
                <a:solidFill>
                  <a:srgbClr val="1C1915"/>
                </a:solidFill>
                <a:latin typeface="Calibri"/>
              </a:rPr>
              <a:t>Acceptance</a:t>
            </a:r>
          </a:p>
        </p:txBody>
      </p:sp>
      <p:sp>
        <p:nvSpPr>
          <p:cNvPr id="9" name="TextBox 8"/>
          <p:cNvSpPr txBox="1"/>
          <p:nvPr/>
        </p:nvSpPr>
        <p:spPr>
          <a:xfrm>
            <a:off x="512064" y="1892808"/>
            <a:ext cx="3474720" cy="530352"/>
          </a:xfrm>
          <a:prstGeom prst="rect">
            <a:avLst/>
          </a:prstGeom>
          <a:noFill/>
        </p:spPr>
        <p:txBody>
          <a:bodyPr wrap="square" lIns="0" tIns="0" rIns="0" bIns="0" anchor="t"/>
          <a:lstStyle/>
          <a:p>
            <a:pPr algn="l"/>
            <a:r>
              <a:rPr sz="1300" b="0">
                <a:solidFill>
                  <a:srgbClr val="5E584F"/>
                </a:solidFill>
                <a:latin typeface="Calibri"/>
              </a:rPr>
              <a:t>After the register check, the auditor accepts or declines.</a:t>
            </a:r>
          </a:p>
        </p:txBody>
      </p:sp>
      <p:sp>
        <p:nvSpPr>
          <p:cNvPr id="10" name="Rounded Rectangle 9"/>
          <p:cNvSpPr/>
          <p:nvPr/>
        </p:nvSpPr>
        <p:spPr>
          <a:xfrm>
            <a:off x="4279392" y="1234440"/>
            <a:ext cx="3767328" cy="1298448"/>
          </a:xfrm>
          <a:prstGeom prst="roundRect">
            <a:avLst>
              <a:gd name="adj" fmla="val 8000"/>
            </a:avLst>
          </a:prstGeom>
          <a:solidFill>
            <a:srgbClr val="FFFCF8"/>
          </a:solidFill>
          <a:ln w="12700">
            <a:solidFill>
              <a:srgbClr val="E4DD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425696" y="1325880"/>
            <a:ext cx="3474720" cy="237744"/>
          </a:xfrm>
          <a:prstGeom prst="rect">
            <a:avLst/>
          </a:prstGeom>
          <a:noFill/>
        </p:spPr>
        <p:txBody>
          <a:bodyPr wrap="square" lIns="0" tIns="0" rIns="0" bIns="0" anchor="t"/>
          <a:lstStyle/>
          <a:p>
            <a:pPr algn="l"/>
            <a:r>
              <a:rPr sz="1200" b="1">
                <a:solidFill>
                  <a:srgbClr val="0F5E5A"/>
                </a:solidFill>
                <a:latin typeface="Calibri"/>
              </a:rPr>
              <a:t>UC-02 · P1</a:t>
            </a:r>
          </a:p>
        </p:txBody>
      </p:sp>
      <p:sp>
        <p:nvSpPr>
          <p:cNvPr id="12" name="TextBox 11"/>
          <p:cNvSpPr txBox="1"/>
          <p:nvPr/>
        </p:nvSpPr>
        <p:spPr>
          <a:xfrm>
            <a:off x="4425696" y="1563624"/>
            <a:ext cx="3474720" cy="292608"/>
          </a:xfrm>
          <a:prstGeom prst="rect">
            <a:avLst/>
          </a:prstGeom>
          <a:noFill/>
        </p:spPr>
        <p:txBody>
          <a:bodyPr wrap="square" lIns="0" tIns="0" rIns="0" bIns="0" anchor="t"/>
          <a:lstStyle/>
          <a:p>
            <a:pPr algn="l"/>
            <a:r>
              <a:rPr sz="1600" b="1">
                <a:solidFill>
                  <a:srgbClr val="1C1915"/>
                </a:solidFill>
                <a:latin typeface="Calibri"/>
              </a:rPr>
              <a:t>Planning and risk</a:t>
            </a:r>
          </a:p>
        </p:txBody>
      </p:sp>
      <p:sp>
        <p:nvSpPr>
          <p:cNvPr id="13" name="TextBox 12"/>
          <p:cNvSpPr txBox="1"/>
          <p:nvPr/>
        </p:nvSpPr>
        <p:spPr>
          <a:xfrm>
            <a:off x="4425696" y="1892808"/>
            <a:ext cx="3474720" cy="530352"/>
          </a:xfrm>
          <a:prstGeom prst="rect">
            <a:avLst/>
          </a:prstGeom>
          <a:noFill/>
        </p:spPr>
        <p:txBody>
          <a:bodyPr wrap="square" lIns="0" tIns="0" rIns="0" bIns="0" anchor="t"/>
          <a:lstStyle/>
          <a:p>
            <a:pPr algn="l"/>
            <a:r>
              <a:rPr sz="1300" b="0">
                <a:solidFill>
                  <a:srgbClr val="5E584F"/>
                </a:solidFill>
                <a:latin typeface="Calibri"/>
              </a:rPr>
              <a:t>Materiality and the risk list. The pack is assembled only after approval.</a:t>
            </a:r>
          </a:p>
        </p:txBody>
      </p:sp>
      <p:sp>
        <p:nvSpPr>
          <p:cNvPr id="14" name="Rounded Rectangle 13"/>
          <p:cNvSpPr/>
          <p:nvPr/>
        </p:nvSpPr>
        <p:spPr>
          <a:xfrm>
            <a:off x="8193024" y="1234440"/>
            <a:ext cx="3767328" cy="1298448"/>
          </a:xfrm>
          <a:prstGeom prst="roundRect">
            <a:avLst>
              <a:gd name="adj" fmla="val 8000"/>
            </a:avLst>
          </a:prstGeom>
          <a:solidFill>
            <a:srgbClr val="FFFCF8"/>
          </a:solidFill>
          <a:ln w="12700">
            <a:solidFill>
              <a:srgbClr val="E4DD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339328" y="1325880"/>
            <a:ext cx="3474720" cy="237744"/>
          </a:xfrm>
          <a:prstGeom prst="rect">
            <a:avLst/>
          </a:prstGeom>
          <a:noFill/>
        </p:spPr>
        <p:txBody>
          <a:bodyPr wrap="square" lIns="0" tIns="0" rIns="0" bIns="0" anchor="t"/>
          <a:lstStyle/>
          <a:p>
            <a:pPr algn="l"/>
            <a:r>
              <a:rPr sz="1200" b="1">
                <a:solidFill>
                  <a:srgbClr val="0F5E5A"/>
                </a:solidFill>
                <a:latin typeface="Calibri"/>
              </a:rPr>
              <a:t>UC-03 · P2</a:t>
            </a:r>
          </a:p>
        </p:txBody>
      </p:sp>
      <p:sp>
        <p:nvSpPr>
          <p:cNvPr id="16" name="TextBox 15"/>
          <p:cNvSpPr txBox="1"/>
          <p:nvPr/>
        </p:nvSpPr>
        <p:spPr>
          <a:xfrm>
            <a:off x="8339328" y="1563624"/>
            <a:ext cx="3474720" cy="292608"/>
          </a:xfrm>
          <a:prstGeom prst="rect">
            <a:avLst/>
          </a:prstGeom>
          <a:noFill/>
        </p:spPr>
        <p:txBody>
          <a:bodyPr wrap="square" lIns="0" tIns="0" rIns="0" bIns="0" anchor="t"/>
          <a:lstStyle/>
          <a:p>
            <a:pPr algn="l"/>
            <a:r>
              <a:rPr sz="1600" b="1">
                <a:solidFill>
                  <a:srgbClr val="1C1915"/>
                </a:solidFill>
                <a:latin typeface="Calibri"/>
              </a:rPr>
              <a:t>Procedure execution</a:t>
            </a:r>
          </a:p>
        </p:txBody>
      </p:sp>
      <p:sp>
        <p:nvSpPr>
          <p:cNvPr id="17" name="TextBox 16"/>
          <p:cNvSpPr txBox="1"/>
          <p:nvPr/>
        </p:nvSpPr>
        <p:spPr>
          <a:xfrm>
            <a:off x="8339328" y="1892808"/>
            <a:ext cx="3474720" cy="530352"/>
          </a:xfrm>
          <a:prstGeom prst="rect">
            <a:avLst/>
          </a:prstGeom>
          <a:noFill/>
        </p:spPr>
        <p:txBody>
          <a:bodyPr wrap="square" lIns="0" tIns="0" rIns="0" bIns="0" anchor="t"/>
          <a:lstStyle/>
          <a:p>
            <a:pPr algn="l"/>
            <a:r>
              <a:rPr sz="1300" b="0">
                <a:solidFill>
                  <a:srgbClr val="5E584F"/>
                </a:solidFill>
                <a:latin typeface="Calibri"/>
              </a:rPr>
              <a:t>Full-population checks and substantive procedures, including confirmations.</a:t>
            </a:r>
          </a:p>
        </p:txBody>
      </p:sp>
      <p:sp>
        <p:nvSpPr>
          <p:cNvPr id="18" name="Rounded Rectangle 17"/>
          <p:cNvSpPr/>
          <p:nvPr/>
        </p:nvSpPr>
        <p:spPr>
          <a:xfrm>
            <a:off x="365760" y="2651760"/>
            <a:ext cx="3767328" cy="1298448"/>
          </a:xfrm>
          <a:prstGeom prst="roundRect">
            <a:avLst>
              <a:gd name="adj" fmla="val 8000"/>
            </a:avLst>
          </a:prstGeom>
          <a:solidFill>
            <a:srgbClr val="FFFCF8"/>
          </a:solidFill>
          <a:ln w="12700">
            <a:solidFill>
              <a:srgbClr val="E4DD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12064" y="2743200"/>
            <a:ext cx="3474720" cy="237744"/>
          </a:xfrm>
          <a:prstGeom prst="rect">
            <a:avLst/>
          </a:prstGeom>
          <a:noFill/>
        </p:spPr>
        <p:txBody>
          <a:bodyPr wrap="square" lIns="0" tIns="0" rIns="0" bIns="0" anchor="t"/>
          <a:lstStyle/>
          <a:p>
            <a:pPr algn="l"/>
            <a:r>
              <a:rPr sz="1200" b="1">
                <a:solidFill>
                  <a:srgbClr val="0F5E5A"/>
                </a:solidFill>
                <a:latin typeface="Calibri"/>
              </a:rPr>
              <a:t>UC-04 · P2</a:t>
            </a:r>
          </a:p>
        </p:txBody>
      </p:sp>
      <p:sp>
        <p:nvSpPr>
          <p:cNvPr id="20" name="TextBox 19"/>
          <p:cNvSpPr txBox="1"/>
          <p:nvPr/>
        </p:nvSpPr>
        <p:spPr>
          <a:xfrm>
            <a:off x="512064" y="2980944"/>
            <a:ext cx="3474720" cy="292608"/>
          </a:xfrm>
          <a:prstGeom prst="rect">
            <a:avLst/>
          </a:prstGeom>
          <a:noFill/>
        </p:spPr>
        <p:txBody>
          <a:bodyPr wrap="square" lIns="0" tIns="0" rIns="0" bIns="0" anchor="t"/>
          <a:lstStyle/>
          <a:p>
            <a:pPr algn="l"/>
            <a:r>
              <a:rPr sz="1600" b="1">
                <a:solidFill>
                  <a:srgbClr val="1C1915"/>
                </a:solidFill>
                <a:latin typeface="Calibri"/>
              </a:rPr>
              <a:t>Exception review</a:t>
            </a:r>
          </a:p>
        </p:txBody>
      </p:sp>
      <p:sp>
        <p:nvSpPr>
          <p:cNvPr id="21" name="TextBox 20"/>
          <p:cNvSpPr txBox="1"/>
          <p:nvPr/>
        </p:nvSpPr>
        <p:spPr>
          <a:xfrm>
            <a:off x="512064" y="3310128"/>
            <a:ext cx="3474720" cy="530352"/>
          </a:xfrm>
          <a:prstGeom prst="rect">
            <a:avLst/>
          </a:prstGeom>
          <a:noFill/>
        </p:spPr>
        <p:txBody>
          <a:bodyPr wrap="square" lIns="0" tIns="0" rIns="0" bIns="0" anchor="t"/>
          <a:lstStyle/>
          <a:p>
            <a:pPr algn="l"/>
            <a:r>
              <a:rPr sz="1300" b="0">
                <a:solidFill>
                  <a:srgbClr val="5E584F"/>
                </a:solidFill>
                <a:latin typeface="Calibri"/>
              </a:rPr>
              <a:t>Confirm, override, record a misstatement, or rerun.</a:t>
            </a:r>
          </a:p>
        </p:txBody>
      </p:sp>
      <p:sp>
        <p:nvSpPr>
          <p:cNvPr id="22" name="Rounded Rectangle 21"/>
          <p:cNvSpPr/>
          <p:nvPr/>
        </p:nvSpPr>
        <p:spPr>
          <a:xfrm>
            <a:off x="4279392" y="2651760"/>
            <a:ext cx="3767328" cy="1298448"/>
          </a:xfrm>
          <a:prstGeom prst="roundRect">
            <a:avLst>
              <a:gd name="adj" fmla="val 8000"/>
            </a:avLst>
          </a:prstGeom>
          <a:solidFill>
            <a:srgbClr val="FFFCF8"/>
          </a:solidFill>
          <a:ln w="12700">
            <a:solidFill>
              <a:srgbClr val="E4DD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425696" y="2743200"/>
            <a:ext cx="3474720" cy="237744"/>
          </a:xfrm>
          <a:prstGeom prst="rect">
            <a:avLst/>
          </a:prstGeom>
          <a:noFill/>
        </p:spPr>
        <p:txBody>
          <a:bodyPr wrap="square" lIns="0" tIns="0" rIns="0" bIns="0" anchor="t"/>
          <a:lstStyle/>
          <a:p>
            <a:pPr algn="l"/>
            <a:r>
              <a:rPr sz="1200" b="1">
                <a:solidFill>
                  <a:srgbClr val="0F5E5A"/>
                </a:solidFill>
                <a:latin typeface="Calibri"/>
              </a:rPr>
              <a:t>UC-05 · P2→P1</a:t>
            </a:r>
          </a:p>
        </p:txBody>
      </p:sp>
      <p:sp>
        <p:nvSpPr>
          <p:cNvPr id="24" name="TextBox 23"/>
          <p:cNvSpPr txBox="1"/>
          <p:nvPr/>
        </p:nvSpPr>
        <p:spPr>
          <a:xfrm>
            <a:off x="4425696" y="2980944"/>
            <a:ext cx="3474720" cy="292608"/>
          </a:xfrm>
          <a:prstGeom prst="rect">
            <a:avLst/>
          </a:prstGeom>
          <a:noFill/>
        </p:spPr>
        <p:txBody>
          <a:bodyPr wrap="square" lIns="0" tIns="0" rIns="0" bIns="0" anchor="t"/>
          <a:lstStyle/>
          <a:p>
            <a:pPr algn="l"/>
            <a:r>
              <a:rPr sz="1600" b="1">
                <a:solidFill>
                  <a:srgbClr val="1C1915"/>
                </a:solidFill>
                <a:latin typeface="Calibri"/>
              </a:rPr>
              <a:t>Risk re-assessment</a:t>
            </a:r>
          </a:p>
        </p:txBody>
      </p:sp>
      <p:sp>
        <p:nvSpPr>
          <p:cNvPr id="25" name="TextBox 24"/>
          <p:cNvSpPr txBox="1"/>
          <p:nvPr/>
        </p:nvSpPr>
        <p:spPr>
          <a:xfrm>
            <a:off x="4425696" y="3310128"/>
            <a:ext cx="3474720" cy="530352"/>
          </a:xfrm>
          <a:prstGeom prst="rect">
            <a:avLst/>
          </a:prstGeom>
          <a:noFill/>
        </p:spPr>
        <p:txBody>
          <a:bodyPr wrap="square" lIns="0" tIns="0" rIns="0" bIns="0" anchor="t"/>
          <a:lstStyle/>
          <a:p>
            <a:pPr algn="l"/>
            <a:r>
              <a:rPr sz="1300" b="0">
                <a:solidFill>
                  <a:srgbClr val="5E584F"/>
                </a:solidFill>
                <a:latin typeface="Calibri"/>
              </a:rPr>
              <a:t>New evidence that changes the risk pulls the work back to planning.</a:t>
            </a:r>
          </a:p>
        </p:txBody>
      </p:sp>
      <p:sp>
        <p:nvSpPr>
          <p:cNvPr id="26" name="Rounded Rectangle 25"/>
          <p:cNvSpPr/>
          <p:nvPr/>
        </p:nvSpPr>
        <p:spPr>
          <a:xfrm>
            <a:off x="8193024" y="2651760"/>
            <a:ext cx="3767328" cy="1298448"/>
          </a:xfrm>
          <a:prstGeom prst="roundRect">
            <a:avLst>
              <a:gd name="adj" fmla="val 8000"/>
            </a:avLst>
          </a:prstGeom>
          <a:solidFill>
            <a:srgbClr val="FFFCF8"/>
          </a:solidFill>
          <a:ln w="12700">
            <a:solidFill>
              <a:srgbClr val="E4DD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8339328" y="2743200"/>
            <a:ext cx="3474720" cy="237744"/>
          </a:xfrm>
          <a:prstGeom prst="rect">
            <a:avLst/>
          </a:prstGeom>
          <a:noFill/>
        </p:spPr>
        <p:txBody>
          <a:bodyPr wrap="square" lIns="0" tIns="0" rIns="0" bIns="0" anchor="t"/>
          <a:lstStyle/>
          <a:p>
            <a:pPr algn="l"/>
            <a:r>
              <a:rPr sz="1200" b="1">
                <a:solidFill>
                  <a:srgbClr val="0F5E5A"/>
                </a:solidFill>
                <a:latin typeface="Calibri"/>
              </a:rPr>
              <a:t>UC-06 · P3→P4</a:t>
            </a:r>
          </a:p>
        </p:txBody>
      </p:sp>
      <p:sp>
        <p:nvSpPr>
          <p:cNvPr id="28" name="TextBox 27"/>
          <p:cNvSpPr txBox="1"/>
          <p:nvPr/>
        </p:nvSpPr>
        <p:spPr>
          <a:xfrm>
            <a:off x="8339328" y="2980944"/>
            <a:ext cx="3474720" cy="292608"/>
          </a:xfrm>
          <a:prstGeom prst="rect">
            <a:avLst/>
          </a:prstGeom>
          <a:noFill/>
        </p:spPr>
        <p:txBody>
          <a:bodyPr wrap="square" lIns="0" tIns="0" rIns="0" bIns="0" anchor="t"/>
          <a:lstStyle/>
          <a:p>
            <a:pPr algn="l"/>
            <a:r>
              <a:rPr sz="1600" b="1">
                <a:solidFill>
                  <a:srgbClr val="1C1915"/>
                </a:solidFill>
                <a:latin typeface="Calibri"/>
              </a:rPr>
              <a:t>Completion and report</a:t>
            </a:r>
          </a:p>
        </p:txBody>
      </p:sp>
      <p:sp>
        <p:nvSpPr>
          <p:cNvPr id="29" name="TextBox 28"/>
          <p:cNvSpPr txBox="1"/>
          <p:nvPr/>
        </p:nvSpPr>
        <p:spPr>
          <a:xfrm>
            <a:off x="8339328" y="3310128"/>
            <a:ext cx="3474720" cy="530352"/>
          </a:xfrm>
          <a:prstGeom prst="rect">
            <a:avLst/>
          </a:prstGeom>
          <a:noFill/>
        </p:spPr>
        <p:txBody>
          <a:bodyPr wrap="square" lIns="0" tIns="0" rIns="0" bIns="0" anchor="t"/>
          <a:lstStyle/>
          <a:p>
            <a:pPr algn="l"/>
            <a:r>
              <a:rPr sz="1300" b="0">
                <a:solidFill>
                  <a:srgbClr val="5E584F"/>
                </a:solidFill>
                <a:latin typeface="Calibri"/>
              </a:rPr>
              <a:t>Evaluate misstatements, draft the report, review before signature.</a:t>
            </a:r>
          </a:p>
        </p:txBody>
      </p:sp>
      <p:sp>
        <p:nvSpPr>
          <p:cNvPr id="30" name="Rounded Rectangle 29"/>
          <p:cNvSpPr/>
          <p:nvPr/>
        </p:nvSpPr>
        <p:spPr>
          <a:xfrm>
            <a:off x="365760" y="4069080"/>
            <a:ext cx="3767328" cy="1298448"/>
          </a:xfrm>
          <a:prstGeom prst="roundRect">
            <a:avLst>
              <a:gd name="adj" fmla="val 8000"/>
            </a:avLst>
          </a:prstGeom>
          <a:solidFill>
            <a:srgbClr val="FFFCF8"/>
          </a:solidFill>
          <a:ln w="12700">
            <a:solidFill>
              <a:srgbClr val="E4DD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512064" y="4160520"/>
            <a:ext cx="3474720" cy="237744"/>
          </a:xfrm>
          <a:prstGeom prst="rect">
            <a:avLst/>
          </a:prstGeom>
          <a:noFill/>
        </p:spPr>
        <p:txBody>
          <a:bodyPr wrap="square" lIns="0" tIns="0" rIns="0" bIns="0" anchor="t"/>
          <a:lstStyle/>
          <a:p>
            <a:pPr algn="l"/>
            <a:r>
              <a:rPr sz="1200" b="1">
                <a:solidFill>
                  <a:srgbClr val="0F5E5A"/>
                </a:solidFill>
                <a:latin typeface="Calibri"/>
              </a:rPr>
              <a:t>UC-07 · P4</a:t>
            </a:r>
          </a:p>
        </p:txBody>
      </p:sp>
      <p:sp>
        <p:nvSpPr>
          <p:cNvPr id="32" name="TextBox 31"/>
          <p:cNvSpPr txBox="1"/>
          <p:nvPr/>
        </p:nvSpPr>
        <p:spPr>
          <a:xfrm>
            <a:off x="512064" y="4398264"/>
            <a:ext cx="3474720" cy="292608"/>
          </a:xfrm>
          <a:prstGeom prst="rect">
            <a:avLst/>
          </a:prstGeom>
          <a:noFill/>
        </p:spPr>
        <p:txBody>
          <a:bodyPr wrap="square" lIns="0" tIns="0" rIns="0" bIns="0" anchor="t"/>
          <a:lstStyle/>
          <a:p>
            <a:pPr algn="l"/>
            <a:r>
              <a:rPr sz="1600" b="1">
                <a:solidFill>
                  <a:srgbClr val="1C1915"/>
                </a:solidFill>
                <a:latin typeface="Calibri"/>
              </a:rPr>
              <a:t>Archiving</a:t>
            </a:r>
          </a:p>
        </p:txBody>
      </p:sp>
      <p:sp>
        <p:nvSpPr>
          <p:cNvPr id="33" name="TextBox 32"/>
          <p:cNvSpPr txBox="1"/>
          <p:nvPr/>
        </p:nvSpPr>
        <p:spPr>
          <a:xfrm>
            <a:off x="512064" y="4727448"/>
            <a:ext cx="3474720" cy="530352"/>
          </a:xfrm>
          <a:prstGeom prst="rect">
            <a:avLst/>
          </a:prstGeom>
          <a:noFill/>
        </p:spPr>
        <p:txBody>
          <a:bodyPr wrap="square" lIns="0" tIns="0" rIns="0" bIns="0" anchor="t"/>
          <a:lstStyle/>
          <a:p>
            <a:pPr algn="l"/>
            <a:r>
              <a:rPr sz="1300" b="0">
                <a:solidFill>
                  <a:srgbClr val="5E584F"/>
                </a:solidFill>
                <a:latin typeface="Calibri"/>
              </a:rPr>
              <a:t>After signature the file is locked and read-only.</a:t>
            </a:r>
          </a:p>
        </p:txBody>
      </p:sp>
      <p:sp>
        <p:nvSpPr>
          <p:cNvPr id="34" name="Rounded Rectangle 33"/>
          <p:cNvSpPr/>
          <p:nvPr/>
        </p:nvSpPr>
        <p:spPr>
          <a:xfrm>
            <a:off x="4279392" y="4069080"/>
            <a:ext cx="3767328" cy="1298448"/>
          </a:xfrm>
          <a:prstGeom prst="roundRect">
            <a:avLst>
              <a:gd name="adj" fmla="val 8000"/>
            </a:avLst>
          </a:prstGeom>
          <a:solidFill>
            <a:srgbClr val="FFFCF8"/>
          </a:solidFill>
          <a:ln w="12700">
            <a:solidFill>
              <a:srgbClr val="E4DD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4425696" y="4160520"/>
            <a:ext cx="3474720" cy="237744"/>
          </a:xfrm>
          <a:prstGeom prst="rect">
            <a:avLst/>
          </a:prstGeom>
          <a:noFill/>
        </p:spPr>
        <p:txBody>
          <a:bodyPr wrap="square" lIns="0" tIns="0" rIns="0" bIns="0" anchor="t"/>
          <a:lstStyle/>
          <a:p>
            <a:pPr algn="l"/>
            <a:r>
              <a:rPr sz="1200" b="1">
                <a:solidFill>
                  <a:srgbClr val="0F5E5A"/>
                </a:solidFill>
                <a:latin typeface="Calibri"/>
              </a:rPr>
              <a:t>UC-08 · any</a:t>
            </a:r>
          </a:p>
        </p:txBody>
      </p:sp>
      <p:sp>
        <p:nvSpPr>
          <p:cNvPr id="36" name="TextBox 35"/>
          <p:cNvSpPr txBox="1"/>
          <p:nvPr/>
        </p:nvSpPr>
        <p:spPr>
          <a:xfrm>
            <a:off x="4425696" y="4398264"/>
            <a:ext cx="3474720" cy="292608"/>
          </a:xfrm>
          <a:prstGeom prst="rect">
            <a:avLst/>
          </a:prstGeom>
          <a:noFill/>
        </p:spPr>
        <p:txBody>
          <a:bodyPr wrap="square" lIns="0" tIns="0" rIns="0" bIns="0" anchor="t"/>
          <a:lstStyle/>
          <a:p>
            <a:pPr algn="l"/>
            <a:r>
              <a:rPr sz="1600" b="1">
                <a:solidFill>
                  <a:srgbClr val="1C1915"/>
                </a:solidFill>
                <a:latin typeface="Calibri"/>
              </a:rPr>
              <a:t>Progress and source</a:t>
            </a:r>
          </a:p>
        </p:txBody>
      </p:sp>
      <p:sp>
        <p:nvSpPr>
          <p:cNvPr id="37" name="TextBox 36"/>
          <p:cNvSpPr txBox="1"/>
          <p:nvPr/>
        </p:nvSpPr>
        <p:spPr>
          <a:xfrm>
            <a:off x="4425696" y="4727448"/>
            <a:ext cx="3474720" cy="530352"/>
          </a:xfrm>
          <a:prstGeom prst="rect">
            <a:avLst/>
          </a:prstGeom>
          <a:noFill/>
        </p:spPr>
        <p:txBody>
          <a:bodyPr wrap="square" lIns="0" tIns="0" rIns="0" bIns="0" anchor="t"/>
          <a:lstStyle/>
          <a:p>
            <a:pPr algn="l"/>
            <a:r>
              <a:rPr sz="1300" b="0">
                <a:solidFill>
                  <a:srgbClr val="5E584F"/>
                </a:solidFill>
                <a:latin typeface="Calibri"/>
              </a:rPr>
              <a:t>Ask which step this is, and open the evidence.</a:t>
            </a:r>
          </a:p>
        </p:txBody>
      </p:sp>
      <p:sp>
        <p:nvSpPr>
          <p:cNvPr id="38" name="Rounded Rectangle 37"/>
          <p:cNvSpPr/>
          <p:nvPr/>
        </p:nvSpPr>
        <p:spPr>
          <a:xfrm>
            <a:off x="8193024" y="4069080"/>
            <a:ext cx="3767328" cy="1298448"/>
          </a:xfrm>
          <a:prstGeom prst="roundRect">
            <a:avLst>
              <a:gd name="adj" fmla="val 8000"/>
            </a:avLst>
          </a:prstGeom>
          <a:solidFill>
            <a:srgbClr val="FFFCF8"/>
          </a:solidFill>
          <a:ln w="12700">
            <a:solidFill>
              <a:srgbClr val="E4DD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8339328" y="4160520"/>
            <a:ext cx="3474720" cy="237744"/>
          </a:xfrm>
          <a:prstGeom prst="rect">
            <a:avLst/>
          </a:prstGeom>
          <a:noFill/>
        </p:spPr>
        <p:txBody>
          <a:bodyPr wrap="square" lIns="0" tIns="0" rIns="0" bIns="0" anchor="t"/>
          <a:lstStyle/>
          <a:p>
            <a:pPr algn="l"/>
            <a:r>
              <a:rPr sz="1200" b="1">
                <a:solidFill>
                  <a:srgbClr val="0F5E5A"/>
                </a:solidFill>
                <a:latin typeface="Calibri"/>
              </a:rPr>
              <a:t>UC-09 · any</a:t>
            </a:r>
          </a:p>
        </p:txBody>
      </p:sp>
      <p:sp>
        <p:nvSpPr>
          <p:cNvPr id="40" name="TextBox 39"/>
          <p:cNvSpPr txBox="1"/>
          <p:nvPr/>
        </p:nvSpPr>
        <p:spPr>
          <a:xfrm>
            <a:off x="8339328" y="4398264"/>
            <a:ext cx="3474720" cy="292608"/>
          </a:xfrm>
          <a:prstGeom prst="rect">
            <a:avLst/>
          </a:prstGeom>
          <a:noFill/>
        </p:spPr>
        <p:txBody>
          <a:bodyPr wrap="square" lIns="0" tIns="0" rIns="0" bIns="0" anchor="t"/>
          <a:lstStyle/>
          <a:p>
            <a:pPr algn="l"/>
            <a:r>
              <a:rPr sz="1600" b="1">
                <a:solidFill>
                  <a:srgbClr val="1C1915"/>
                </a:solidFill>
                <a:latin typeface="Calibri"/>
              </a:rPr>
              <a:t>Notice and withdrawal</a:t>
            </a:r>
          </a:p>
        </p:txBody>
      </p:sp>
      <p:sp>
        <p:nvSpPr>
          <p:cNvPr id="41" name="TextBox 40"/>
          <p:cNvSpPr txBox="1"/>
          <p:nvPr/>
        </p:nvSpPr>
        <p:spPr>
          <a:xfrm>
            <a:off x="8339328" y="4727448"/>
            <a:ext cx="3474720" cy="530352"/>
          </a:xfrm>
          <a:prstGeom prst="rect">
            <a:avLst/>
          </a:prstGeom>
          <a:noFill/>
        </p:spPr>
        <p:txBody>
          <a:bodyPr wrap="square" lIns="0" tIns="0" rIns="0" bIns="0" anchor="t"/>
          <a:lstStyle/>
          <a:p>
            <a:pPr algn="l"/>
            <a:r>
              <a:rPr sz="1300" b="0">
                <a:solidFill>
                  <a:srgbClr val="5E584F"/>
                </a:solidFill>
                <a:latin typeface="Calibri"/>
              </a:rPr>
              <a:t>Statutory clocks, or withdraw and seal the file.</a:t>
            </a:r>
          </a:p>
        </p:txBody>
      </p:sp>
      <p:sp>
        <p:nvSpPr>
          <p:cNvPr id="42" name="TextBox 41"/>
          <p:cNvSpPr txBox="1"/>
          <p:nvPr/>
        </p:nvSpPr>
        <p:spPr>
          <a:xfrm>
            <a:off x="411480" y="6510528"/>
            <a:ext cx="5486400" cy="256032"/>
          </a:xfrm>
          <a:prstGeom prst="rect">
            <a:avLst/>
          </a:prstGeom>
          <a:noFill/>
        </p:spPr>
        <p:txBody>
          <a:bodyPr wrap="square" lIns="0" tIns="0" rIns="0" bIns="0" anchor="t"/>
          <a:lstStyle/>
          <a:p>
            <a:pPr algn="l"/>
            <a:r>
              <a:rPr sz="1200" b="0">
                <a:solidFill>
                  <a:srgbClr val="5E584F"/>
                </a:solidFill>
                <a:latin typeface="Calibri"/>
              </a:rPr>
              <a:t>ELEC5620 · Group 16</a:t>
            </a:r>
          </a:p>
        </p:txBody>
      </p:sp>
      <p:sp>
        <p:nvSpPr>
          <p:cNvPr id="43" name="TextBox 42"/>
          <p:cNvSpPr txBox="1"/>
          <p:nvPr/>
        </p:nvSpPr>
        <p:spPr>
          <a:xfrm>
            <a:off x="9509760" y="6510528"/>
            <a:ext cx="2286000" cy="256032"/>
          </a:xfrm>
          <a:prstGeom prst="rect">
            <a:avLst/>
          </a:prstGeom>
          <a:noFill/>
        </p:spPr>
        <p:txBody>
          <a:bodyPr wrap="square" lIns="0" tIns="0" rIns="0" bIns="0" anchor="t"/>
          <a:lstStyle/>
          <a:p>
            <a:pPr algn="r"/>
            <a:r>
              <a:rPr sz="1200" b="0">
                <a:solidFill>
                  <a:srgbClr val="5E584F"/>
                </a:solidFill>
                <a:latin typeface="Calibri"/>
              </a:rPr>
              <a:t>10 / 39</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7F4EE"/>
        </a:solidFill>
        <a:effectLst/>
      </p:bgPr>
    </p:bg>
    <p:spTree>
      <p:nvGrpSpPr>
        <p:cNvPr id="1" name=""/>
        <p:cNvGrpSpPr/>
        <p:nvPr/>
      </p:nvGrpSpPr>
      <p:grpSpPr>
        <a:xfrm>
          <a:off x="0" y="0"/>
          <a:ext cx="0" cy="0"/>
          <a:chOff x="0" y="0"/>
          <a:chExt cx="0" cy="0"/>
        </a:xfrm>
      </p:grpSpPr>
      <p:sp>
        <p:nvSpPr>
          <p:cNvPr id="2" name="TextBox 1"/>
          <p:cNvSpPr txBox="1"/>
          <p:nvPr/>
        </p:nvSpPr>
        <p:spPr>
          <a:xfrm>
            <a:off x="411480" y="256032"/>
            <a:ext cx="3840480" cy="256032"/>
          </a:xfrm>
          <a:prstGeom prst="rect">
            <a:avLst/>
          </a:prstGeom>
          <a:noFill/>
        </p:spPr>
        <p:txBody>
          <a:bodyPr wrap="square" lIns="0" tIns="0" rIns="0" bIns="0" anchor="t"/>
          <a:lstStyle/>
          <a:p>
            <a:pPr algn="l"/>
            <a:r>
              <a:rPr sz="1200" b="1">
                <a:solidFill>
                  <a:srgbClr val="0F5E5A"/>
                </a:solidFill>
                <a:latin typeface="Calibri"/>
              </a:rPr>
              <a:t>MEMBER B</a:t>
            </a:r>
          </a:p>
        </p:txBody>
      </p:sp>
      <p:sp>
        <p:nvSpPr>
          <p:cNvPr id="3" name="Rounded Rectangle 2"/>
          <p:cNvSpPr/>
          <p:nvPr/>
        </p:nvSpPr>
        <p:spPr>
          <a:xfrm>
            <a:off x="4114800" y="237744"/>
            <a:ext cx="2103120" cy="274320"/>
          </a:xfrm>
          <a:prstGeom prst="roundRect">
            <a:avLst>
              <a:gd name="adj" fmla="val 8000"/>
            </a:avLst>
          </a:prstGeom>
          <a:solidFill>
            <a:srgbClr val="F7F4EE"/>
          </a:solidFill>
          <a:ln w="12700">
            <a:solidFill>
              <a:srgbClr val="E4DD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14800" y="237744"/>
            <a:ext cx="2103120" cy="274320"/>
          </a:xfrm>
          <a:prstGeom prst="rect">
            <a:avLst/>
          </a:prstGeom>
          <a:noFill/>
        </p:spPr>
        <p:txBody>
          <a:bodyPr wrap="square" lIns="0" tIns="0" rIns="0" bIns="0" anchor="ctr"/>
          <a:lstStyle/>
          <a:p>
            <a:pPr algn="ctr"/>
            <a:r>
              <a:rPr sz="1200" b="0">
                <a:solidFill>
                  <a:srgbClr val="5E584F"/>
                </a:solidFill>
                <a:latin typeface="Calibri"/>
              </a:rPr>
              <a:t>Figure 6</a:t>
            </a:r>
          </a:p>
        </p:txBody>
      </p:sp>
      <p:sp>
        <p:nvSpPr>
          <p:cNvPr id="5" name="TextBox 4"/>
          <p:cNvSpPr txBox="1"/>
          <p:nvPr/>
        </p:nvSpPr>
        <p:spPr>
          <a:xfrm>
            <a:off x="6949440" y="201168"/>
            <a:ext cx="4846320" cy="292608"/>
          </a:xfrm>
          <a:prstGeom prst="rect">
            <a:avLst/>
          </a:prstGeom>
          <a:noFill/>
        </p:spPr>
        <p:txBody>
          <a:bodyPr wrap="square" lIns="0" tIns="0" rIns="0" bIns="0" anchor="t"/>
          <a:lstStyle/>
          <a:p>
            <a:pPr algn="r"/>
            <a:r>
              <a:rPr sz="1200" b="0" dirty="0">
                <a:solidFill>
                  <a:srgbClr val="5E584F"/>
                </a:solidFill>
                <a:latin typeface="Calibri"/>
              </a:rPr>
              <a:t>Full source  </a:t>
            </a:r>
            <a:r>
              <a:rPr sz="1200" b="1" u="sng" dirty="0" err="1">
                <a:solidFill>
                  <a:srgbClr val="0F5E5A"/>
                </a:solidFill>
                <a:latin typeface="Calibri"/>
                <a:hlinkClick r:id="rId3"/>
              </a:rPr>
              <a:t>usecase.puml</a:t>
            </a:r>
            <a:br>
              <a:rPr lang="en-AU" sz="1200" b="1" u="sng" dirty="0">
                <a:solidFill>
                  <a:srgbClr val="0F5E5A"/>
                </a:solidFill>
                <a:latin typeface="Calibri"/>
                <a:hlinkClick r:id="rId3"/>
              </a:rPr>
            </a:br>
            <a:r>
              <a:rPr lang="en-AU" sz="1200" b="1" u="sng" dirty="0">
                <a:solidFill>
                  <a:srgbClr val="0F5E5A"/>
                </a:solidFill>
                <a:hlinkClick r:id="rId4"/>
              </a:rPr>
              <a:t>usecase.png</a:t>
            </a:r>
            <a:endParaRPr sz="1200" b="1" u="sng" dirty="0">
              <a:solidFill>
                <a:srgbClr val="0F5E5A"/>
              </a:solidFill>
              <a:latin typeface="Calibri"/>
              <a:hlinkClick r:id="rId3"/>
            </a:endParaRPr>
          </a:p>
        </p:txBody>
      </p:sp>
      <p:sp>
        <p:nvSpPr>
          <p:cNvPr id="6" name="TextBox 5"/>
          <p:cNvSpPr txBox="1"/>
          <p:nvPr/>
        </p:nvSpPr>
        <p:spPr>
          <a:xfrm>
            <a:off x="365760" y="566928"/>
            <a:ext cx="11338560" cy="365760"/>
          </a:xfrm>
          <a:prstGeom prst="rect">
            <a:avLst/>
          </a:prstGeom>
          <a:noFill/>
        </p:spPr>
        <p:txBody>
          <a:bodyPr wrap="square" lIns="0" tIns="0" rIns="0" bIns="0" anchor="t"/>
          <a:lstStyle/>
          <a:p>
            <a:pPr algn="l"/>
            <a:r>
              <a:rPr sz="2600" b="1">
                <a:solidFill>
                  <a:srgbClr val="1C1915"/>
                </a:solidFill>
                <a:latin typeface="Calibri"/>
              </a:rPr>
              <a:t>Nine use cases, and who takes part</a:t>
            </a:r>
          </a:p>
        </p:txBody>
      </p:sp>
      <p:sp>
        <p:nvSpPr>
          <p:cNvPr id="7" name="Rounded Rectangle 6"/>
          <p:cNvSpPr/>
          <p:nvPr/>
        </p:nvSpPr>
        <p:spPr>
          <a:xfrm>
            <a:off x="320040" y="1051560"/>
            <a:ext cx="2852928" cy="1051560"/>
          </a:xfrm>
          <a:prstGeom prst="roundRect">
            <a:avLst>
              <a:gd name="adj" fmla="val 8000"/>
            </a:avLst>
          </a:prstGeom>
          <a:solidFill>
            <a:srgbClr val="1B30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29768" y="1115568"/>
            <a:ext cx="2633472" cy="274320"/>
          </a:xfrm>
          <a:prstGeom prst="rect">
            <a:avLst/>
          </a:prstGeom>
          <a:noFill/>
        </p:spPr>
        <p:txBody>
          <a:bodyPr wrap="square" lIns="0" tIns="0" rIns="0" bIns="0" anchor="t"/>
          <a:lstStyle/>
          <a:p>
            <a:pPr algn="l"/>
            <a:r>
              <a:rPr sz="1500" b="1">
                <a:solidFill>
                  <a:srgbClr val="F4EFE6"/>
                </a:solidFill>
                <a:latin typeface="Calibri"/>
              </a:rPr>
              <a:t>RCA</a:t>
            </a:r>
          </a:p>
        </p:txBody>
      </p:sp>
      <p:sp>
        <p:nvSpPr>
          <p:cNvPr id="9" name="TextBox 8"/>
          <p:cNvSpPr txBox="1"/>
          <p:nvPr/>
        </p:nvSpPr>
        <p:spPr>
          <a:xfrm>
            <a:off x="429768" y="1389888"/>
            <a:ext cx="2633472" cy="640080"/>
          </a:xfrm>
          <a:prstGeom prst="rect">
            <a:avLst/>
          </a:prstGeom>
          <a:noFill/>
        </p:spPr>
        <p:txBody>
          <a:bodyPr wrap="square" lIns="0" tIns="0" rIns="0" bIns="0" anchor="t"/>
          <a:lstStyle/>
          <a:p>
            <a:pPr algn="l"/>
            <a:r>
              <a:rPr sz="1200" b="0">
                <a:solidFill>
                  <a:srgbClr val="F4EFE6"/>
                </a:solidFill>
                <a:latin typeface="Calibri"/>
              </a:rPr>
              <a:t>All nine. Also runs the manual procedures inside execution.</a:t>
            </a:r>
          </a:p>
        </p:txBody>
      </p:sp>
      <p:sp>
        <p:nvSpPr>
          <p:cNvPr id="10" name="Rounded Rectangle 9"/>
          <p:cNvSpPr/>
          <p:nvPr/>
        </p:nvSpPr>
        <p:spPr>
          <a:xfrm>
            <a:off x="3291840" y="1051560"/>
            <a:ext cx="2852928" cy="1051560"/>
          </a:xfrm>
          <a:prstGeom prst="roundRect">
            <a:avLst>
              <a:gd name="adj" fmla="val 8000"/>
            </a:avLst>
          </a:prstGeom>
          <a:solidFill>
            <a:srgbClr val="0F5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401568" y="1115568"/>
            <a:ext cx="2633472" cy="274320"/>
          </a:xfrm>
          <a:prstGeom prst="rect">
            <a:avLst/>
          </a:prstGeom>
          <a:noFill/>
        </p:spPr>
        <p:txBody>
          <a:bodyPr wrap="square" lIns="0" tIns="0" rIns="0" bIns="0" anchor="t"/>
          <a:lstStyle/>
          <a:p>
            <a:pPr algn="l"/>
            <a:r>
              <a:rPr sz="1500" b="1">
                <a:solidFill>
                  <a:srgbClr val="F4EFE6"/>
                </a:solidFill>
                <a:latin typeface="Calibri"/>
              </a:rPr>
              <a:t>Client</a:t>
            </a:r>
          </a:p>
        </p:txBody>
      </p:sp>
      <p:sp>
        <p:nvSpPr>
          <p:cNvPr id="12" name="TextBox 11"/>
          <p:cNvSpPr txBox="1"/>
          <p:nvPr/>
        </p:nvSpPr>
        <p:spPr>
          <a:xfrm>
            <a:off x="3401568" y="1389888"/>
            <a:ext cx="2633472" cy="640080"/>
          </a:xfrm>
          <a:prstGeom prst="rect">
            <a:avLst/>
          </a:prstGeom>
          <a:noFill/>
        </p:spPr>
        <p:txBody>
          <a:bodyPr wrap="square" lIns="0" tIns="0" rIns="0" bIns="0" anchor="t"/>
          <a:lstStyle/>
          <a:p>
            <a:pPr algn="l"/>
            <a:r>
              <a:rPr sz="1200" b="0">
                <a:solidFill>
                  <a:srgbClr val="F4EFE6"/>
                </a:solidFill>
                <a:latin typeface="Calibri"/>
              </a:rPr>
              <a:t>The letter, the file, replies on misstatements, fraud and NOCLAR talks.</a:t>
            </a:r>
          </a:p>
        </p:txBody>
      </p:sp>
      <p:sp>
        <p:nvSpPr>
          <p:cNvPr id="13" name="Rounded Rectangle 12"/>
          <p:cNvSpPr/>
          <p:nvPr/>
        </p:nvSpPr>
        <p:spPr>
          <a:xfrm>
            <a:off x="6263640" y="1051560"/>
            <a:ext cx="2852928" cy="1051560"/>
          </a:xfrm>
          <a:prstGeom prst="roundRect">
            <a:avLst>
              <a:gd name="adj" fmla="val 8000"/>
            </a:avLst>
          </a:prstGeom>
          <a:solidFill>
            <a:srgbClr val="8C4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373368" y="1115568"/>
            <a:ext cx="2633472" cy="274320"/>
          </a:xfrm>
          <a:prstGeom prst="rect">
            <a:avLst/>
          </a:prstGeom>
          <a:noFill/>
        </p:spPr>
        <p:txBody>
          <a:bodyPr wrap="square" lIns="0" tIns="0" rIns="0" bIns="0" anchor="t"/>
          <a:lstStyle/>
          <a:p>
            <a:pPr algn="l"/>
            <a:r>
              <a:rPr sz="1500" b="1">
                <a:solidFill>
                  <a:srgbClr val="F4EFE6"/>
                </a:solidFill>
                <a:latin typeface="Calibri"/>
              </a:rPr>
              <a:t>External data</a:t>
            </a:r>
          </a:p>
        </p:txBody>
      </p:sp>
      <p:sp>
        <p:nvSpPr>
          <p:cNvPr id="15" name="TextBox 14"/>
          <p:cNvSpPr txBox="1"/>
          <p:nvPr/>
        </p:nvSpPr>
        <p:spPr>
          <a:xfrm>
            <a:off x="6373368" y="1389888"/>
            <a:ext cx="2633472" cy="640080"/>
          </a:xfrm>
          <a:prstGeom prst="rect">
            <a:avLst/>
          </a:prstGeom>
          <a:noFill/>
        </p:spPr>
        <p:txBody>
          <a:bodyPr wrap="square" lIns="0" tIns="0" rIns="0" bIns="0" anchor="t"/>
          <a:lstStyle/>
          <a:p>
            <a:pPr algn="l"/>
            <a:r>
              <a:rPr sz="1200" b="0">
                <a:solidFill>
                  <a:srgbClr val="F4EFE6"/>
                </a:solidFill>
                <a:latin typeface="Calibri"/>
              </a:rPr>
              <a:t>ASIC and the ABN, the accounting system, confirmations, lodgement.</a:t>
            </a:r>
          </a:p>
        </p:txBody>
      </p:sp>
      <p:sp>
        <p:nvSpPr>
          <p:cNvPr id="16" name="Rounded Rectangle 15"/>
          <p:cNvSpPr/>
          <p:nvPr/>
        </p:nvSpPr>
        <p:spPr>
          <a:xfrm>
            <a:off x="9235440" y="1051560"/>
            <a:ext cx="2852928" cy="1051560"/>
          </a:xfrm>
          <a:prstGeom prst="roundRect">
            <a:avLst>
              <a:gd name="adj" fmla="val 8000"/>
            </a:avLst>
          </a:prstGeom>
          <a:solidFill>
            <a:srgbClr val="3D4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345167" y="1115568"/>
            <a:ext cx="2633472" cy="274320"/>
          </a:xfrm>
          <a:prstGeom prst="rect">
            <a:avLst/>
          </a:prstGeom>
          <a:noFill/>
        </p:spPr>
        <p:txBody>
          <a:bodyPr wrap="square" lIns="0" tIns="0" rIns="0" bIns="0" anchor="t"/>
          <a:lstStyle/>
          <a:p>
            <a:pPr algn="l"/>
            <a:r>
              <a:rPr sz="1500" b="1">
                <a:solidFill>
                  <a:srgbClr val="F4EFE6"/>
                </a:solidFill>
                <a:latin typeface="Calibri"/>
              </a:rPr>
              <a:t>EQR reviewer</a:t>
            </a:r>
          </a:p>
        </p:txBody>
      </p:sp>
      <p:sp>
        <p:nvSpPr>
          <p:cNvPr id="18" name="TextBox 17"/>
          <p:cNvSpPr txBox="1"/>
          <p:nvPr/>
        </p:nvSpPr>
        <p:spPr>
          <a:xfrm>
            <a:off x="9345167" y="1389888"/>
            <a:ext cx="2633472" cy="640080"/>
          </a:xfrm>
          <a:prstGeom prst="rect">
            <a:avLst/>
          </a:prstGeom>
          <a:noFill/>
        </p:spPr>
        <p:txBody>
          <a:bodyPr wrap="square" lIns="0" tIns="0" rIns="0" bIns="0" anchor="t"/>
          <a:lstStyle/>
          <a:p>
            <a:pPr algn="l"/>
            <a:r>
              <a:rPr sz="1200" b="0">
                <a:solidFill>
                  <a:srgbClr val="F4EFE6"/>
                </a:solidFill>
                <a:latin typeface="Calibri"/>
              </a:rPr>
              <a:t>A pre-signature review, then read-only access to the archive.</a:t>
            </a:r>
          </a:p>
        </p:txBody>
      </p:sp>
      <p:sp>
        <p:nvSpPr>
          <p:cNvPr id="19" name="Rectangle 18"/>
          <p:cNvSpPr/>
          <p:nvPr/>
        </p:nvSpPr>
        <p:spPr>
          <a:xfrm>
            <a:off x="320040" y="2286000"/>
            <a:ext cx="11539728" cy="3246120"/>
          </a:xfrm>
          <a:prstGeom prst="rect">
            <a:avLst/>
          </a:prstGeom>
          <a:solidFill>
            <a:srgbClr val="FFFCF8"/>
          </a:solidFill>
          <a:ln w="12700">
            <a:solidFill>
              <a:srgbClr val="1B304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57200" y="2359152"/>
            <a:ext cx="7315200" cy="256032"/>
          </a:xfrm>
          <a:prstGeom prst="rect">
            <a:avLst/>
          </a:prstGeom>
          <a:noFill/>
        </p:spPr>
        <p:txBody>
          <a:bodyPr wrap="square" lIns="0" tIns="0" rIns="0" bIns="0" anchor="t"/>
          <a:lstStyle/>
          <a:p>
            <a:pPr algn="l"/>
            <a:r>
              <a:rPr sz="1200" b="1">
                <a:solidFill>
                  <a:srgbClr val="1B3048"/>
                </a:solidFill>
                <a:latin typeface="Calibri"/>
              </a:rPr>
              <a:t>AUDIT SUPPORT SYSTEM</a:t>
            </a:r>
          </a:p>
        </p:txBody>
      </p:sp>
      <p:sp>
        <p:nvSpPr>
          <p:cNvPr id="21" name="Rounded Rectangle 20"/>
          <p:cNvSpPr/>
          <p:nvPr/>
        </p:nvSpPr>
        <p:spPr>
          <a:xfrm>
            <a:off x="502920" y="2743200"/>
            <a:ext cx="3566160" cy="749808"/>
          </a:xfrm>
          <a:prstGeom prst="roundRect">
            <a:avLst>
              <a:gd name="adj" fmla="val 8000"/>
            </a:avLst>
          </a:prstGeom>
          <a:solidFill>
            <a:srgbClr val="F7F4EE"/>
          </a:solidFill>
          <a:ln w="12700">
            <a:solidFill>
              <a:srgbClr val="E4DD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30936" y="2816352"/>
            <a:ext cx="3291840" cy="237744"/>
          </a:xfrm>
          <a:prstGeom prst="rect">
            <a:avLst/>
          </a:prstGeom>
          <a:noFill/>
        </p:spPr>
        <p:txBody>
          <a:bodyPr wrap="square" lIns="0" tIns="0" rIns="0" bIns="0" anchor="t"/>
          <a:lstStyle/>
          <a:p>
            <a:pPr algn="l"/>
            <a:r>
              <a:rPr sz="1200" b="1">
                <a:solidFill>
                  <a:srgbClr val="0F5E5A"/>
                </a:solidFill>
                <a:latin typeface="Calibri"/>
              </a:rPr>
              <a:t>UC-01   P0</a:t>
            </a:r>
          </a:p>
        </p:txBody>
      </p:sp>
      <p:sp>
        <p:nvSpPr>
          <p:cNvPr id="23" name="TextBox 22"/>
          <p:cNvSpPr txBox="1"/>
          <p:nvPr/>
        </p:nvSpPr>
        <p:spPr>
          <a:xfrm>
            <a:off x="630936" y="3072384"/>
            <a:ext cx="3291840" cy="329184"/>
          </a:xfrm>
          <a:prstGeom prst="rect">
            <a:avLst/>
          </a:prstGeom>
          <a:noFill/>
        </p:spPr>
        <p:txBody>
          <a:bodyPr wrap="square" lIns="0" tIns="0" rIns="0" bIns="0" anchor="t"/>
          <a:lstStyle/>
          <a:p>
            <a:pPr algn="l"/>
            <a:r>
              <a:rPr sz="1600" b="1">
                <a:solidFill>
                  <a:srgbClr val="1C1915"/>
                </a:solidFill>
                <a:latin typeface="Calibri"/>
              </a:rPr>
              <a:t>Acceptance</a:t>
            </a:r>
          </a:p>
        </p:txBody>
      </p:sp>
      <p:sp>
        <p:nvSpPr>
          <p:cNvPr id="24" name="Rounded Rectangle 23"/>
          <p:cNvSpPr/>
          <p:nvPr/>
        </p:nvSpPr>
        <p:spPr>
          <a:xfrm>
            <a:off x="4251959" y="2743200"/>
            <a:ext cx="3566160" cy="749808"/>
          </a:xfrm>
          <a:prstGeom prst="roundRect">
            <a:avLst>
              <a:gd name="adj" fmla="val 8000"/>
            </a:avLst>
          </a:prstGeom>
          <a:solidFill>
            <a:srgbClr val="F7F4EE"/>
          </a:solidFill>
          <a:ln w="12700">
            <a:solidFill>
              <a:srgbClr val="E4DD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4379975" y="2816352"/>
            <a:ext cx="3291840" cy="237744"/>
          </a:xfrm>
          <a:prstGeom prst="rect">
            <a:avLst/>
          </a:prstGeom>
          <a:noFill/>
        </p:spPr>
        <p:txBody>
          <a:bodyPr wrap="square" lIns="0" tIns="0" rIns="0" bIns="0" anchor="t"/>
          <a:lstStyle/>
          <a:p>
            <a:pPr algn="l"/>
            <a:r>
              <a:rPr sz="1200" b="1">
                <a:solidFill>
                  <a:srgbClr val="0F5E5A"/>
                </a:solidFill>
                <a:latin typeface="Calibri"/>
              </a:rPr>
              <a:t>UC-02   P1</a:t>
            </a:r>
          </a:p>
        </p:txBody>
      </p:sp>
      <p:sp>
        <p:nvSpPr>
          <p:cNvPr id="26" name="TextBox 25"/>
          <p:cNvSpPr txBox="1"/>
          <p:nvPr/>
        </p:nvSpPr>
        <p:spPr>
          <a:xfrm>
            <a:off x="4379975" y="3072384"/>
            <a:ext cx="3291840" cy="329184"/>
          </a:xfrm>
          <a:prstGeom prst="rect">
            <a:avLst/>
          </a:prstGeom>
          <a:noFill/>
        </p:spPr>
        <p:txBody>
          <a:bodyPr wrap="square" lIns="0" tIns="0" rIns="0" bIns="0" anchor="t"/>
          <a:lstStyle/>
          <a:p>
            <a:pPr algn="l"/>
            <a:r>
              <a:rPr sz="1600" b="1">
                <a:solidFill>
                  <a:srgbClr val="1C1915"/>
                </a:solidFill>
                <a:latin typeface="Calibri"/>
              </a:rPr>
              <a:t>Planning and risk</a:t>
            </a:r>
          </a:p>
        </p:txBody>
      </p:sp>
      <p:sp>
        <p:nvSpPr>
          <p:cNvPr id="27" name="Rounded Rectangle 26"/>
          <p:cNvSpPr/>
          <p:nvPr/>
        </p:nvSpPr>
        <p:spPr>
          <a:xfrm>
            <a:off x="8001000" y="2743200"/>
            <a:ext cx="3566160" cy="749808"/>
          </a:xfrm>
          <a:prstGeom prst="roundRect">
            <a:avLst>
              <a:gd name="adj" fmla="val 8000"/>
            </a:avLst>
          </a:prstGeom>
          <a:solidFill>
            <a:srgbClr val="F7F4EE"/>
          </a:solidFill>
          <a:ln w="12700">
            <a:solidFill>
              <a:srgbClr val="E4DD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8129016" y="2816352"/>
            <a:ext cx="3291840" cy="237744"/>
          </a:xfrm>
          <a:prstGeom prst="rect">
            <a:avLst/>
          </a:prstGeom>
          <a:noFill/>
        </p:spPr>
        <p:txBody>
          <a:bodyPr wrap="square" lIns="0" tIns="0" rIns="0" bIns="0" anchor="t"/>
          <a:lstStyle/>
          <a:p>
            <a:pPr algn="l"/>
            <a:r>
              <a:rPr sz="1200" b="1">
                <a:solidFill>
                  <a:srgbClr val="0F5E5A"/>
                </a:solidFill>
                <a:latin typeface="Calibri"/>
              </a:rPr>
              <a:t>UC-03   P2</a:t>
            </a:r>
          </a:p>
        </p:txBody>
      </p:sp>
      <p:sp>
        <p:nvSpPr>
          <p:cNvPr id="29" name="TextBox 28"/>
          <p:cNvSpPr txBox="1"/>
          <p:nvPr/>
        </p:nvSpPr>
        <p:spPr>
          <a:xfrm>
            <a:off x="8129016" y="3072384"/>
            <a:ext cx="3291840" cy="329184"/>
          </a:xfrm>
          <a:prstGeom prst="rect">
            <a:avLst/>
          </a:prstGeom>
          <a:noFill/>
        </p:spPr>
        <p:txBody>
          <a:bodyPr wrap="square" lIns="0" tIns="0" rIns="0" bIns="0" anchor="t"/>
          <a:lstStyle/>
          <a:p>
            <a:pPr algn="l"/>
            <a:r>
              <a:rPr sz="1600" b="1">
                <a:solidFill>
                  <a:srgbClr val="1C1915"/>
                </a:solidFill>
                <a:latin typeface="Calibri"/>
              </a:rPr>
              <a:t>Execution</a:t>
            </a:r>
          </a:p>
        </p:txBody>
      </p:sp>
      <p:sp>
        <p:nvSpPr>
          <p:cNvPr id="30" name="Rounded Rectangle 29"/>
          <p:cNvSpPr/>
          <p:nvPr/>
        </p:nvSpPr>
        <p:spPr>
          <a:xfrm>
            <a:off x="502920" y="3611880"/>
            <a:ext cx="3566160" cy="749808"/>
          </a:xfrm>
          <a:prstGeom prst="roundRect">
            <a:avLst>
              <a:gd name="adj" fmla="val 8000"/>
            </a:avLst>
          </a:prstGeom>
          <a:solidFill>
            <a:srgbClr val="F7F4EE"/>
          </a:solidFill>
          <a:ln w="12700">
            <a:solidFill>
              <a:srgbClr val="E4DD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30936" y="3685032"/>
            <a:ext cx="3291840" cy="237744"/>
          </a:xfrm>
          <a:prstGeom prst="rect">
            <a:avLst/>
          </a:prstGeom>
          <a:noFill/>
        </p:spPr>
        <p:txBody>
          <a:bodyPr wrap="square" lIns="0" tIns="0" rIns="0" bIns="0" anchor="t"/>
          <a:lstStyle/>
          <a:p>
            <a:pPr algn="l"/>
            <a:r>
              <a:rPr sz="1200" b="1">
                <a:solidFill>
                  <a:srgbClr val="0F5E5A"/>
                </a:solidFill>
                <a:latin typeface="Calibri"/>
              </a:rPr>
              <a:t>UC-04   P2</a:t>
            </a:r>
          </a:p>
        </p:txBody>
      </p:sp>
      <p:sp>
        <p:nvSpPr>
          <p:cNvPr id="32" name="TextBox 31"/>
          <p:cNvSpPr txBox="1"/>
          <p:nvPr/>
        </p:nvSpPr>
        <p:spPr>
          <a:xfrm>
            <a:off x="630936" y="3941064"/>
            <a:ext cx="3291840" cy="329184"/>
          </a:xfrm>
          <a:prstGeom prst="rect">
            <a:avLst/>
          </a:prstGeom>
          <a:noFill/>
        </p:spPr>
        <p:txBody>
          <a:bodyPr wrap="square" lIns="0" tIns="0" rIns="0" bIns="0" anchor="t"/>
          <a:lstStyle/>
          <a:p>
            <a:pPr algn="l"/>
            <a:r>
              <a:rPr sz="1600" b="1">
                <a:solidFill>
                  <a:srgbClr val="1C1915"/>
                </a:solidFill>
                <a:latin typeface="Calibri"/>
              </a:rPr>
              <a:t>Exception review</a:t>
            </a:r>
          </a:p>
        </p:txBody>
      </p:sp>
      <p:sp>
        <p:nvSpPr>
          <p:cNvPr id="33" name="Rounded Rectangle 32"/>
          <p:cNvSpPr/>
          <p:nvPr/>
        </p:nvSpPr>
        <p:spPr>
          <a:xfrm>
            <a:off x="4251959" y="3611880"/>
            <a:ext cx="3566160" cy="749808"/>
          </a:xfrm>
          <a:prstGeom prst="roundRect">
            <a:avLst>
              <a:gd name="adj" fmla="val 8000"/>
            </a:avLst>
          </a:prstGeom>
          <a:solidFill>
            <a:srgbClr val="F7F4EE"/>
          </a:solidFill>
          <a:ln w="12700">
            <a:solidFill>
              <a:srgbClr val="E4DD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4379975" y="3685032"/>
            <a:ext cx="3291840" cy="237744"/>
          </a:xfrm>
          <a:prstGeom prst="rect">
            <a:avLst/>
          </a:prstGeom>
          <a:noFill/>
        </p:spPr>
        <p:txBody>
          <a:bodyPr wrap="square" lIns="0" tIns="0" rIns="0" bIns="0" anchor="t"/>
          <a:lstStyle/>
          <a:p>
            <a:pPr algn="l"/>
            <a:r>
              <a:rPr sz="1200" b="1">
                <a:solidFill>
                  <a:srgbClr val="0F5E5A"/>
                </a:solidFill>
                <a:latin typeface="Calibri"/>
              </a:rPr>
              <a:t>UC-05   P2 → P1</a:t>
            </a:r>
          </a:p>
        </p:txBody>
      </p:sp>
      <p:sp>
        <p:nvSpPr>
          <p:cNvPr id="35" name="TextBox 34"/>
          <p:cNvSpPr txBox="1"/>
          <p:nvPr/>
        </p:nvSpPr>
        <p:spPr>
          <a:xfrm>
            <a:off x="4379975" y="3941064"/>
            <a:ext cx="3291840" cy="329184"/>
          </a:xfrm>
          <a:prstGeom prst="rect">
            <a:avLst/>
          </a:prstGeom>
          <a:noFill/>
        </p:spPr>
        <p:txBody>
          <a:bodyPr wrap="square" lIns="0" tIns="0" rIns="0" bIns="0" anchor="t"/>
          <a:lstStyle/>
          <a:p>
            <a:pPr algn="l"/>
            <a:r>
              <a:rPr sz="1600" b="1">
                <a:solidFill>
                  <a:srgbClr val="1C1915"/>
                </a:solidFill>
                <a:latin typeface="Calibri"/>
              </a:rPr>
              <a:t>Risk re-assessment</a:t>
            </a:r>
          </a:p>
        </p:txBody>
      </p:sp>
      <p:sp>
        <p:nvSpPr>
          <p:cNvPr id="36" name="Rounded Rectangle 35"/>
          <p:cNvSpPr/>
          <p:nvPr/>
        </p:nvSpPr>
        <p:spPr>
          <a:xfrm>
            <a:off x="8001000" y="3611880"/>
            <a:ext cx="3566160" cy="749808"/>
          </a:xfrm>
          <a:prstGeom prst="roundRect">
            <a:avLst>
              <a:gd name="adj" fmla="val 8000"/>
            </a:avLst>
          </a:prstGeom>
          <a:solidFill>
            <a:srgbClr val="F7F4EE"/>
          </a:solidFill>
          <a:ln w="12700">
            <a:solidFill>
              <a:srgbClr val="E4DD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8129016" y="3685032"/>
            <a:ext cx="3291840" cy="237744"/>
          </a:xfrm>
          <a:prstGeom prst="rect">
            <a:avLst/>
          </a:prstGeom>
          <a:noFill/>
        </p:spPr>
        <p:txBody>
          <a:bodyPr wrap="square" lIns="0" tIns="0" rIns="0" bIns="0" anchor="t"/>
          <a:lstStyle/>
          <a:p>
            <a:pPr algn="l"/>
            <a:r>
              <a:rPr sz="1200" b="1">
                <a:solidFill>
                  <a:srgbClr val="0F5E5A"/>
                </a:solidFill>
                <a:latin typeface="Calibri"/>
              </a:rPr>
              <a:t>UC-06   P3 → P4</a:t>
            </a:r>
          </a:p>
        </p:txBody>
      </p:sp>
      <p:sp>
        <p:nvSpPr>
          <p:cNvPr id="38" name="TextBox 37"/>
          <p:cNvSpPr txBox="1"/>
          <p:nvPr/>
        </p:nvSpPr>
        <p:spPr>
          <a:xfrm>
            <a:off x="8129016" y="3941064"/>
            <a:ext cx="3291840" cy="329184"/>
          </a:xfrm>
          <a:prstGeom prst="rect">
            <a:avLst/>
          </a:prstGeom>
          <a:noFill/>
        </p:spPr>
        <p:txBody>
          <a:bodyPr wrap="square" lIns="0" tIns="0" rIns="0" bIns="0" anchor="t"/>
          <a:lstStyle/>
          <a:p>
            <a:pPr algn="l"/>
            <a:r>
              <a:rPr sz="1600" b="1">
                <a:solidFill>
                  <a:srgbClr val="1C1915"/>
                </a:solidFill>
                <a:latin typeface="Calibri"/>
              </a:rPr>
              <a:t>Completion and report</a:t>
            </a:r>
          </a:p>
        </p:txBody>
      </p:sp>
      <p:sp>
        <p:nvSpPr>
          <p:cNvPr id="39" name="Rounded Rectangle 38"/>
          <p:cNvSpPr/>
          <p:nvPr/>
        </p:nvSpPr>
        <p:spPr>
          <a:xfrm>
            <a:off x="502920" y="4480560"/>
            <a:ext cx="3566160" cy="749808"/>
          </a:xfrm>
          <a:prstGeom prst="roundRect">
            <a:avLst>
              <a:gd name="adj" fmla="val 8000"/>
            </a:avLst>
          </a:prstGeom>
          <a:solidFill>
            <a:srgbClr val="F7F4EE"/>
          </a:solidFill>
          <a:ln w="12700">
            <a:solidFill>
              <a:srgbClr val="E4DD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630936" y="4553712"/>
            <a:ext cx="3291840" cy="237744"/>
          </a:xfrm>
          <a:prstGeom prst="rect">
            <a:avLst/>
          </a:prstGeom>
          <a:noFill/>
        </p:spPr>
        <p:txBody>
          <a:bodyPr wrap="square" lIns="0" tIns="0" rIns="0" bIns="0" anchor="t"/>
          <a:lstStyle/>
          <a:p>
            <a:pPr algn="l"/>
            <a:r>
              <a:rPr sz="1200" b="1">
                <a:solidFill>
                  <a:srgbClr val="0F5E5A"/>
                </a:solidFill>
                <a:latin typeface="Calibri"/>
              </a:rPr>
              <a:t>UC-07   P4</a:t>
            </a:r>
          </a:p>
        </p:txBody>
      </p:sp>
      <p:sp>
        <p:nvSpPr>
          <p:cNvPr id="41" name="TextBox 40"/>
          <p:cNvSpPr txBox="1"/>
          <p:nvPr/>
        </p:nvSpPr>
        <p:spPr>
          <a:xfrm>
            <a:off x="630936" y="4809744"/>
            <a:ext cx="3291840" cy="329184"/>
          </a:xfrm>
          <a:prstGeom prst="rect">
            <a:avLst/>
          </a:prstGeom>
          <a:noFill/>
        </p:spPr>
        <p:txBody>
          <a:bodyPr wrap="square" lIns="0" tIns="0" rIns="0" bIns="0" anchor="t"/>
          <a:lstStyle/>
          <a:p>
            <a:pPr algn="l"/>
            <a:r>
              <a:rPr sz="1600" b="1">
                <a:solidFill>
                  <a:srgbClr val="1C1915"/>
                </a:solidFill>
                <a:latin typeface="Calibri"/>
              </a:rPr>
              <a:t>Archive</a:t>
            </a:r>
          </a:p>
        </p:txBody>
      </p:sp>
      <p:sp>
        <p:nvSpPr>
          <p:cNvPr id="42" name="Rounded Rectangle 41"/>
          <p:cNvSpPr/>
          <p:nvPr/>
        </p:nvSpPr>
        <p:spPr>
          <a:xfrm>
            <a:off x="4251959" y="4480560"/>
            <a:ext cx="3566160" cy="749808"/>
          </a:xfrm>
          <a:prstGeom prst="roundRect">
            <a:avLst>
              <a:gd name="adj" fmla="val 8000"/>
            </a:avLst>
          </a:prstGeom>
          <a:solidFill>
            <a:srgbClr val="F7F4EE"/>
          </a:solidFill>
          <a:ln w="12700">
            <a:solidFill>
              <a:srgbClr val="E4DD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4379975" y="4553712"/>
            <a:ext cx="3291840" cy="237744"/>
          </a:xfrm>
          <a:prstGeom prst="rect">
            <a:avLst/>
          </a:prstGeom>
          <a:noFill/>
        </p:spPr>
        <p:txBody>
          <a:bodyPr wrap="square" lIns="0" tIns="0" rIns="0" bIns="0" anchor="t"/>
          <a:lstStyle/>
          <a:p>
            <a:pPr algn="l"/>
            <a:r>
              <a:rPr sz="1200" b="1">
                <a:solidFill>
                  <a:srgbClr val="0F5E5A"/>
                </a:solidFill>
                <a:latin typeface="Calibri"/>
              </a:rPr>
              <a:t>UC-08   Any phase</a:t>
            </a:r>
          </a:p>
        </p:txBody>
      </p:sp>
      <p:sp>
        <p:nvSpPr>
          <p:cNvPr id="44" name="TextBox 43"/>
          <p:cNvSpPr txBox="1"/>
          <p:nvPr/>
        </p:nvSpPr>
        <p:spPr>
          <a:xfrm>
            <a:off x="4379975" y="4809744"/>
            <a:ext cx="3291840" cy="329184"/>
          </a:xfrm>
          <a:prstGeom prst="rect">
            <a:avLst/>
          </a:prstGeom>
          <a:noFill/>
        </p:spPr>
        <p:txBody>
          <a:bodyPr wrap="square" lIns="0" tIns="0" rIns="0" bIns="0" anchor="t"/>
          <a:lstStyle/>
          <a:p>
            <a:pPr algn="l"/>
            <a:r>
              <a:rPr sz="1600" b="1">
                <a:solidFill>
                  <a:srgbClr val="1C1915"/>
                </a:solidFill>
                <a:latin typeface="Calibri"/>
              </a:rPr>
              <a:t>Progress and source</a:t>
            </a:r>
          </a:p>
        </p:txBody>
      </p:sp>
      <p:sp>
        <p:nvSpPr>
          <p:cNvPr id="45" name="Rounded Rectangle 44"/>
          <p:cNvSpPr/>
          <p:nvPr/>
        </p:nvSpPr>
        <p:spPr>
          <a:xfrm>
            <a:off x="8001000" y="4480560"/>
            <a:ext cx="3566160" cy="749808"/>
          </a:xfrm>
          <a:prstGeom prst="roundRect">
            <a:avLst>
              <a:gd name="adj" fmla="val 8000"/>
            </a:avLst>
          </a:prstGeom>
          <a:solidFill>
            <a:srgbClr val="F7F4EE"/>
          </a:solidFill>
          <a:ln w="12700">
            <a:solidFill>
              <a:srgbClr val="E4DD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8129016" y="4553712"/>
            <a:ext cx="3291840" cy="237744"/>
          </a:xfrm>
          <a:prstGeom prst="rect">
            <a:avLst/>
          </a:prstGeom>
          <a:noFill/>
        </p:spPr>
        <p:txBody>
          <a:bodyPr wrap="square" lIns="0" tIns="0" rIns="0" bIns="0" anchor="t"/>
          <a:lstStyle/>
          <a:p>
            <a:pPr algn="l"/>
            <a:r>
              <a:rPr sz="1200" b="1">
                <a:solidFill>
                  <a:srgbClr val="0F5E5A"/>
                </a:solidFill>
                <a:latin typeface="Calibri"/>
              </a:rPr>
              <a:t>UC-09   Any phase</a:t>
            </a:r>
          </a:p>
        </p:txBody>
      </p:sp>
      <p:sp>
        <p:nvSpPr>
          <p:cNvPr id="47" name="TextBox 46"/>
          <p:cNvSpPr txBox="1"/>
          <p:nvPr/>
        </p:nvSpPr>
        <p:spPr>
          <a:xfrm>
            <a:off x="8129016" y="4809744"/>
            <a:ext cx="3291840" cy="329184"/>
          </a:xfrm>
          <a:prstGeom prst="rect">
            <a:avLst/>
          </a:prstGeom>
          <a:noFill/>
        </p:spPr>
        <p:txBody>
          <a:bodyPr wrap="square" lIns="0" tIns="0" rIns="0" bIns="0" anchor="t"/>
          <a:lstStyle/>
          <a:p>
            <a:pPr algn="l"/>
            <a:r>
              <a:rPr sz="1600" b="1">
                <a:solidFill>
                  <a:srgbClr val="1C1915"/>
                </a:solidFill>
                <a:latin typeface="Calibri"/>
              </a:rPr>
              <a:t>Notice and withdrawal</a:t>
            </a:r>
          </a:p>
        </p:txBody>
      </p:sp>
      <p:sp>
        <p:nvSpPr>
          <p:cNvPr id="48" name="TextBox 47"/>
          <p:cNvSpPr txBox="1"/>
          <p:nvPr/>
        </p:nvSpPr>
        <p:spPr>
          <a:xfrm>
            <a:off x="411480" y="6510528"/>
            <a:ext cx="5486400" cy="256032"/>
          </a:xfrm>
          <a:prstGeom prst="rect">
            <a:avLst/>
          </a:prstGeom>
          <a:noFill/>
        </p:spPr>
        <p:txBody>
          <a:bodyPr wrap="square" lIns="0" tIns="0" rIns="0" bIns="0" anchor="t"/>
          <a:lstStyle/>
          <a:p>
            <a:pPr algn="l"/>
            <a:r>
              <a:rPr sz="1200" b="0">
                <a:solidFill>
                  <a:srgbClr val="5E584F"/>
                </a:solidFill>
                <a:latin typeface="Calibri"/>
              </a:rPr>
              <a:t>ELEC5620 · Group 16</a:t>
            </a:r>
          </a:p>
        </p:txBody>
      </p:sp>
      <p:sp>
        <p:nvSpPr>
          <p:cNvPr id="49" name="TextBox 48"/>
          <p:cNvSpPr txBox="1"/>
          <p:nvPr/>
        </p:nvSpPr>
        <p:spPr>
          <a:xfrm>
            <a:off x="9509760" y="6510528"/>
            <a:ext cx="2286000" cy="256032"/>
          </a:xfrm>
          <a:prstGeom prst="rect">
            <a:avLst/>
          </a:prstGeom>
          <a:noFill/>
        </p:spPr>
        <p:txBody>
          <a:bodyPr wrap="square" lIns="0" tIns="0" rIns="0" bIns="0" anchor="t"/>
          <a:lstStyle/>
          <a:p>
            <a:pPr algn="r"/>
            <a:r>
              <a:rPr sz="1200" b="0">
                <a:solidFill>
                  <a:srgbClr val="5E584F"/>
                </a:solidFill>
                <a:latin typeface="Calibri"/>
              </a:rPr>
              <a:t>11 / 39</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7F4EE"/>
        </a:solidFill>
        <a:effectLst/>
      </p:bgPr>
    </p:bg>
    <p:spTree>
      <p:nvGrpSpPr>
        <p:cNvPr id="1" name=""/>
        <p:cNvGrpSpPr/>
        <p:nvPr/>
      </p:nvGrpSpPr>
      <p:grpSpPr>
        <a:xfrm>
          <a:off x="0" y="0"/>
          <a:ext cx="0" cy="0"/>
          <a:chOff x="0" y="0"/>
          <a:chExt cx="0" cy="0"/>
        </a:xfrm>
      </p:grpSpPr>
      <p:sp>
        <p:nvSpPr>
          <p:cNvPr id="2" name="TextBox 1"/>
          <p:cNvSpPr txBox="1"/>
          <p:nvPr/>
        </p:nvSpPr>
        <p:spPr>
          <a:xfrm>
            <a:off x="411480" y="256032"/>
            <a:ext cx="3840480" cy="256032"/>
          </a:xfrm>
          <a:prstGeom prst="rect">
            <a:avLst/>
          </a:prstGeom>
          <a:noFill/>
        </p:spPr>
        <p:txBody>
          <a:bodyPr wrap="square" lIns="0" tIns="0" rIns="0" bIns="0" anchor="t"/>
          <a:lstStyle/>
          <a:p>
            <a:pPr algn="l"/>
            <a:r>
              <a:rPr sz="1200" b="1">
                <a:solidFill>
                  <a:srgbClr val="0F5E5A"/>
                </a:solidFill>
                <a:latin typeface="Calibri"/>
              </a:rPr>
              <a:t>MEMBER B</a:t>
            </a:r>
          </a:p>
        </p:txBody>
      </p:sp>
      <p:sp>
        <p:nvSpPr>
          <p:cNvPr id="3" name="Rounded Rectangle 2"/>
          <p:cNvSpPr/>
          <p:nvPr/>
        </p:nvSpPr>
        <p:spPr>
          <a:xfrm>
            <a:off x="4114800" y="237744"/>
            <a:ext cx="2103120" cy="274320"/>
          </a:xfrm>
          <a:prstGeom prst="roundRect">
            <a:avLst>
              <a:gd name="adj" fmla="val 8000"/>
            </a:avLst>
          </a:prstGeom>
          <a:solidFill>
            <a:srgbClr val="F7F4EE"/>
          </a:solidFill>
          <a:ln w="12700">
            <a:solidFill>
              <a:srgbClr val="E4DD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14800" y="237744"/>
            <a:ext cx="2103120" cy="274320"/>
          </a:xfrm>
          <a:prstGeom prst="rect">
            <a:avLst/>
          </a:prstGeom>
          <a:noFill/>
        </p:spPr>
        <p:txBody>
          <a:bodyPr wrap="square" lIns="0" tIns="0" rIns="0" bIns="0" anchor="ctr"/>
          <a:lstStyle/>
          <a:p>
            <a:pPr algn="ctr"/>
            <a:r>
              <a:rPr sz="1200" b="0">
                <a:solidFill>
                  <a:srgbClr val="5E584F"/>
                </a:solidFill>
                <a:latin typeface="Calibri"/>
              </a:rPr>
              <a:t>Prototype</a:t>
            </a:r>
          </a:p>
        </p:txBody>
      </p:sp>
      <p:sp>
        <p:nvSpPr>
          <p:cNvPr id="5" name="TextBox 4"/>
          <p:cNvSpPr txBox="1"/>
          <p:nvPr/>
        </p:nvSpPr>
        <p:spPr>
          <a:xfrm>
            <a:off x="365760" y="548640"/>
            <a:ext cx="11430000" cy="347472"/>
          </a:xfrm>
          <a:prstGeom prst="rect">
            <a:avLst/>
          </a:prstGeom>
          <a:noFill/>
        </p:spPr>
        <p:txBody>
          <a:bodyPr wrap="square" lIns="0" tIns="0" rIns="0" bIns="0" anchor="t"/>
          <a:lstStyle/>
          <a:p>
            <a:pPr algn="l"/>
            <a:r>
              <a:rPr sz="2600" b="1">
                <a:solidFill>
                  <a:srgbClr val="1C1915"/>
                </a:solidFill>
                <a:latin typeface="Calibri"/>
              </a:rPr>
              <a:t>How this prototype runs one engagement</a:t>
            </a:r>
          </a:p>
        </p:txBody>
      </p:sp>
      <p:sp>
        <p:nvSpPr>
          <p:cNvPr id="6" name="TextBox 5"/>
          <p:cNvSpPr txBox="1"/>
          <p:nvPr/>
        </p:nvSpPr>
        <p:spPr>
          <a:xfrm>
            <a:off x="365760" y="932688"/>
            <a:ext cx="11430000" cy="256032"/>
          </a:xfrm>
          <a:prstGeom prst="rect">
            <a:avLst/>
          </a:prstGeom>
          <a:noFill/>
        </p:spPr>
        <p:txBody>
          <a:bodyPr wrap="square" lIns="0" tIns="0" rIns="0" bIns="0" anchor="t"/>
          <a:lstStyle/>
          <a:p>
            <a:pPr algn="l"/>
            <a:r>
              <a:rPr sz="1400" b="0">
                <a:solidFill>
                  <a:srgbClr val="5E584F"/>
                </a:solidFill>
                <a:latin typeface="Calibri"/>
              </a:rPr>
              <a:t>Execution only. A1 schedules three layers. A patch comes back, A1 merges it, then the next layer starts.</a:t>
            </a:r>
          </a:p>
        </p:txBody>
      </p:sp>
      <p:sp>
        <p:nvSpPr>
          <p:cNvPr id="7" name="Rounded Rectangle 6"/>
          <p:cNvSpPr/>
          <p:nvPr/>
        </p:nvSpPr>
        <p:spPr>
          <a:xfrm>
            <a:off x="320040" y="1280160"/>
            <a:ext cx="1325880" cy="1298448"/>
          </a:xfrm>
          <a:prstGeom prst="roundRect">
            <a:avLst>
              <a:gd name="adj" fmla="val 8000"/>
            </a:avLst>
          </a:prstGeom>
          <a:solidFill>
            <a:srgbClr val="1B30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84048" y="1389888"/>
            <a:ext cx="1188720" cy="256032"/>
          </a:xfrm>
          <a:prstGeom prst="rect">
            <a:avLst/>
          </a:prstGeom>
          <a:noFill/>
        </p:spPr>
        <p:txBody>
          <a:bodyPr wrap="square" lIns="0" tIns="0" rIns="0" bIns="0" anchor="t"/>
          <a:lstStyle/>
          <a:p>
            <a:pPr algn="ctr"/>
            <a:r>
              <a:rPr sz="1300" b="1">
                <a:solidFill>
                  <a:srgbClr val="C4A574"/>
                </a:solidFill>
                <a:latin typeface="Calibri"/>
              </a:rPr>
              <a:t>LAYER 0</a:t>
            </a:r>
          </a:p>
        </p:txBody>
      </p:sp>
      <p:sp>
        <p:nvSpPr>
          <p:cNvPr id="9" name="TextBox 8"/>
          <p:cNvSpPr txBox="1"/>
          <p:nvPr/>
        </p:nvSpPr>
        <p:spPr>
          <a:xfrm>
            <a:off x="384048" y="1664207"/>
            <a:ext cx="1188720" cy="822959"/>
          </a:xfrm>
          <a:prstGeom prst="rect">
            <a:avLst/>
          </a:prstGeom>
          <a:noFill/>
        </p:spPr>
        <p:txBody>
          <a:bodyPr wrap="square" lIns="0" tIns="0" rIns="0" bIns="0" anchor="t"/>
          <a:lstStyle/>
          <a:p>
            <a:pPr algn="ctr"/>
            <a:r>
              <a:rPr sz="1200" b="0">
                <a:solidFill>
                  <a:srgbClr val="F4EFE6"/>
                </a:solidFill>
                <a:latin typeface="Calibri"/>
              </a:rPr>
              <a:t>In parallel</a:t>
            </a:r>
          </a:p>
        </p:txBody>
      </p:sp>
      <p:sp>
        <p:nvSpPr>
          <p:cNvPr id="10" name="Rounded Rectangle 9"/>
          <p:cNvSpPr/>
          <p:nvPr/>
        </p:nvSpPr>
        <p:spPr>
          <a:xfrm>
            <a:off x="1783080" y="1280160"/>
            <a:ext cx="2457450" cy="1298448"/>
          </a:xfrm>
          <a:prstGeom prst="roundRect">
            <a:avLst>
              <a:gd name="adj" fmla="val 8000"/>
            </a:avLst>
          </a:prstGeom>
          <a:solidFill>
            <a:srgbClr val="FFFCF8"/>
          </a:solidFill>
          <a:ln w="12700">
            <a:solidFill>
              <a:srgbClr val="E4DD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892807" y="1353312"/>
            <a:ext cx="2256282" cy="237744"/>
          </a:xfrm>
          <a:prstGeom prst="rect">
            <a:avLst/>
          </a:prstGeom>
          <a:noFill/>
        </p:spPr>
        <p:txBody>
          <a:bodyPr wrap="square" lIns="0" tIns="0" rIns="0" bIns="0" anchor="t"/>
          <a:lstStyle/>
          <a:p>
            <a:pPr algn="l"/>
            <a:r>
              <a:rPr sz="1300" b="1">
                <a:solidFill>
                  <a:srgbClr val="0F5E5A"/>
                </a:solidFill>
                <a:latin typeface="Calibri"/>
              </a:rPr>
              <a:t>A6   REV-08</a:t>
            </a:r>
          </a:p>
        </p:txBody>
      </p:sp>
      <p:sp>
        <p:nvSpPr>
          <p:cNvPr id="12" name="TextBox 11"/>
          <p:cNvSpPr txBox="1"/>
          <p:nvPr/>
        </p:nvSpPr>
        <p:spPr>
          <a:xfrm>
            <a:off x="1892807" y="1609343"/>
            <a:ext cx="2256282" cy="896112"/>
          </a:xfrm>
          <a:prstGeom prst="rect">
            <a:avLst/>
          </a:prstGeom>
          <a:noFill/>
        </p:spPr>
        <p:txBody>
          <a:bodyPr wrap="square" lIns="0" tIns="0" rIns="0" bIns="0" anchor="t"/>
          <a:lstStyle/>
          <a:p>
            <a:pPr algn="l"/>
            <a:r>
              <a:rPr sz="1300" b="0">
                <a:solidFill>
                  <a:srgbClr val="1C1915"/>
                </a:solidFill>
                <a:latin typeface="Calibri"/>
              </a:rPr>
              <a:t>Three-way match. Invoice posted 28 June, signed 3 July.</a:t>
            </a:r>
          </a:p>
        </p:txBody>
      </p:sp>
      <p:sp>
        <p:nvSpPr>
          <p:cNvPr id="13" name="Rounded Rectangle 12"/>
          <p:cNvSpPr/>
          <p:nvPr/>
        </p:nvSpPr>
        <p:spPr>
          <a:xfrm>
            <a:off x="4331970" y="1280160"/>
            <a:ext cx="2457450" cy="1298448"/>
          </a:xfrm>
          <a:prstGeom prst="roundRect">
            <a:avLst>
              <a:gd name="adj" fmla="val 8000"/>
            </a:avLst>
          </a:prstGeom>
          <a:solidFill>
            <a:srgbClr val="FFFCF8"/>
          </a:solidFill>
          <a:ln w="12700">
            <a:solidFill>
              <a:srgbClr val="E4DD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441698" y="1353312"/>
            <a:ext cx="2256282" cy="237744"/>
          </a:xfrm>
          <a:prstGeom prst="rect">
            <a:avLst/>
          </a:prstGeom>
          <a:noFill/>
        </p:spPr>
        <p:txBody>
          <a:bodyPr wrap="square" lIns="0" tIns="0" rIns="0" bIns="0" anchor="t"/>
          <a:lstStyle/>
          <a:p>
            <a:pPr algn="l"/>
            <a:r>
              <a:rPr sz="1300" b="1">
                <a:solidFill>
                  <a:srgbClr val="0F5E5A"/>
                </a:solidFill>
                <a:latin typeface="Calibri"/>
              </a:rPr>
              <a:t>A6   REV-03</a:t>
            </a:r>
          </a:p>
        </p:txBody>
      </p:sp>
      <p:sp>
        <p:nvSpPr>
          <p:cNvPr id="15" name="TextBox 14"/>
          <p:cNvSpPr txBox="1"/>
          <p:nvPr/>
        </p:nvSpPr>
        <p:spPr>
          <a:xfrm>
            <a:off x="4441698" y="1609343"/>
            <a:ext cx="2256282" cy="896112"/>
          </a:xfrm>
          <a:prstGeom prst="rect">
            <a:avLst/>
          </a:prstGeom>
          <a:noFill/>
        </p:spPr>
        <p:txBody>
          <a:bodyPr wrap="square" lIns="0" tIns="0" rIns="0" bIns="0" anchor="t"/>
          <a:lstStyle/>
          <a:p>
            <a:pPr algn="l"/>
            <a:r>
              <a:rPr sz="1300" b="0">
                <a:solidFill>
                  <a:srgbClr val="1C1915"/>
                </a:solidFill>
                <a:latin typeface="Calibri"/>
              </a:rPr>
              <a:t>Reads the contract. Control transfers on signing.</a:t>
            </a:r>
          </a:p>
        </p:txBody>
      </p:sp>
      <p:sp>
        <p:nvSpPr>
          <p:cNvPr id="16" name="Rounded Rectangle 15"/>
          <p:cNvSpPr/>
          <p:nvPr/>
        </p:nvSpPr>
        <p:spPr>
          <a:xfrm>
            <a:off x="6880860" y="1280160"/>
            <a:ext cx="2457450" cy="1298448"/>
          </a:xfrm>
          <a:prstGeom prst="roundRect">
            <a:avLst>
              <a:gd name="adj" fmla="val 8000"/>
            </a:avLst>
          </a:prstGeom>
          <a:solidFill>
            <a:srgbClr val="FFFCF8"/>
          </a:solidFill>
          <a:ln w="12700">
            <a:solidFill>
              <a:srgbClr val="E4DD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990588" y="1353312"/>
            <a:ext cx="2256282" cy="237744"/>
          </a:xfrm>
          <a:prstGeom prst="rect">
            <a:avLst/>
          </a:prstGeom>
          <a:noFill/>
        </p:spPr>
        <p:txBody>
          <a:bodyPr wrap="square" lIns="0" tIns="0" rIns="0" bIns="0" anchor="t"/>
          <a:lstStyle/>
          <a:p>
            <a:pPr algn="l"/>
            <a:r>
              <a:rPr sz="1300" b="1">
                <a:solidFill>
                  <a:srgbClr val="0F5E5A"/>
                </a:solidFill>
                <a:latin typeface="Calibri"/>
              </a:rPr>
              <a:t>A5   CSH-04</a:t>
            </a:r>
          </a:p>
        </p:txBody>
      </p:sp>
      <p:sp>
        <p:nvSpPr>
          <p:cNvPr id="18" name="TextBox 17"/>
          <p:cNvSpPr txBox="1"/>
          <p:nvPr/>
        </p:nvSpPr>
        <p:spPr>
          <a:xfrm>
            <a:off x="6990588" y="1609343"/>
            <a:ext cx="2256282" cy="896112"/>
          </a:xfrm>
          <a:prstGeom prst="rect">
            <a:avLst/>
          </a:prstGeom>
          <a:noFill/>
        </p:spPr>
        <p:txBody>
          <a:bodyPr wrap="square" lIns="0" tIns="0" rIns="0" bIns="0" anchor="t"/>
          <a:lstStyle/>
          <a:p>
            <a:pPr algn="l"/>
            <a:r>
              <a:rPr sz="1300" b="0">
                <a:solidFill>
                  <a:srgbClr val="1C1915"/>
                </a:solidFill>
                <a:latin typeface="Calibri"/>
              </a:rPr>
              <a:t>Sends the bank confirmation. The mock reply comes back.</a:t>
            </a:r>
          </a:p>
        </p:txBody>
      </p:sp>
      <p:sp>
        <p:nvSpPr>
          <p:cNvPr id="19" name="Rounded Rectangle 18"/>
          <p:cNvSpPr/>
          <p:nvPr/>
        </p:nvSpPr>
        <p:spPr>
          <a:xfrm>
            <a:off x="9429750" y="1280160"/>
            <a:ext cx="2457450" cy="1298448"/>
          </a:xfrm>
          <a:prstGeom prst="roundRect">
            <a:avLst>
              <a:gd name="adj" fmla="val 8000"/>
            </a:avLst>
          </a:prstGeom>
          <a:solidFill>
            <a:srgbClr val="FFFCF8"/>
          </a:solidFill>
          <a:ln w="12700">
            <a:solidFill>
              <a:srgbClr val="E4DD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539478" y="1353312"/>
            <a:ext cx="2256282" cy="237744"/>
          </a:xfrm>
          <a:prstGeom prst="rect">
            <a:avLst/>
          </a:prstGeom>
          <a:noFill/>
        </p:spPr>
        <p:txBody>
          <a:bodyPr wrap="square" lIns="0" tIns="0" rIns="0" bIns="0" anchor="t"/>
          <a:lstStyle/>
          <a:p>
            <a:pPr algn="l"/>
            <a:r>
              <a:rPr sz="1300" b="1">
                <a:solidFill>
                  <a:srgbClr val="0F5E5A"/>
                </a:solidFill>
                <a:latin typeface="Calibri"/>
              </a:rPr>
              <a:t>A6   CSH-05</a:t>
            </a:r>
          </a:p>
        </p:txBody>
      </p:sp>
      <p:sp>
        <p:nvSpPr>
          <p:cNvPr id="21" name="TextBox 20"/>
          <p:cNvSpPr txBox="1"/>
          <p:nvPr/>
        </p:nvSpPr>
        <p:spPr>
          <a:xfrm>
            <a:off x="9539478" y="1609343"/>
            <a:ext cx="2256282" cy="896112"/>
          </a:xfrm>
          <a:prstGeom prst="rect">
            <a:avLst/>
          </a:prstGeom>
          <a:noFill/>
        </p:spPr>
        <p:txBody>
          <a:bodyPr wrap="square" lIns="0" tIns="0" rIns="0" bIns="0" anchor="t"/>
          <a:lstStyle/>
          <a:p>
            <a:pPr algn="l"/>
            <a:r>
              <a:rPr sz="1300" b="0">
                <a:solidFill>
                  <a:srgbClr val="1C1915"/>
                </a:solidFill>
                <a:latin typeface="Calibri"/>
              </a:rPr>
              <a:t>Compares the book with the statement. Gap of AUD 50,000.</a:t>
            </a:r>
          </a:p>
        </p:txBody>
      </p:sp>
      <p:sp>
        <p:nvSpPr>
          <p:cNvPr id="22" name="TextBox 21"/>
          <p:cNvSpPr txBox="1"/>
          <p:nvPr/>
        </p:nvSpPr>
        <p:spPr>
          <a:xfrm>
            <a:off x="1783080" y="2633472"/>
            <a:ext cx="9966960" cy="237744"/>
          </a:xfrm>
          <a:prstGeom prst="rect">
            <a:avLst/>
          </a:prstGeom>
          <a:noFill/>
        </p:spPr>
        <p:txBody>
          <a:bodyPr wrap="square" lIns="0" tIns="0" rIns="0" bIns="0" anchor="t"/>
          <a:lstStyle/>
          <a:p>
            <a:pPr algn="ctr"/>
            <a:r>
              <a:rPr sz="1200" b="1">
                <a:solidFill>
                  <a:srgbClr val="0F5E5A"/>
                </a:solidFill>
                <a:latin typeface="Calibri"/>
              </a:rPr>
              <a:t>A1 merges the patch, then opens the next layer</a:t>
            </a:r>
          </a:p>
        </p:txBody>
      </p:sp>
      <p:sp>
        <p:nvSpPr>
          <p:cNvPr id="23" name="Rounded Rectangle 22"/>
          <p:cNvSpPr/>
          <p:nvPr/>
        </p:nvSpPr>
        <p:spPr>
          <a:xfrm>
            <a:off x="320040" y="2907792"/>
            <a:ext cx="1325880" cy="1170432"/>
          </a:xfrm>
          <a:prstGeom prst="roundRect">
            <a:avLst>
              <a:gd name="adj" fmla="val 8000"/>
            </a:avLst>
          </a:prstGeom>
          <a:solidFill>
            <a:srgbClr val="1B30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384048" y="3017520"/>
            <a:ext cx="1188720" cy="256032"/>
          </a:xfrm>
          <a:prstGeom prst="rect">
            <a:avLst/>
          </a:prstGeom>
          <a:noFill/>
        </p:spPr>
        <p:txBody>
          <a:bodyPr wrap="square" lIns="0" tIns="0" rIns="0" bIns="0" anchor="t"/>
          <a:lstStyle/>
          <a:p>
            <a:pPr algn="ctr"/>
            <a:r>
              <a:rPr sz="1300" b="1">
                <a:solidFill>
                  <a:srgbClr val="C4A574"/>
                </a:solidFill>
                <a:latin typeface="Calibri"/>
              </a:rPr>
              <a:t>LAYER 1</a:t>
            </a:r>
          </a:p>
        </p:txBody>
      </p:sp>
      <p:sp>
        <p:nvSpPr>
          <p:cNvPr id="25" name="TextBox 24"/>
          <p:cNvSpPr txBox="1"/>
          <p:nvPr/>
        </p:nvSpPr>
        <p:spPr>
          <a:xfrm>
            <a:off x="384048" y="3291840"/>
            <a:ext cx="1188720" cy="694944"/>
          </a:xfrm>
          <a:prstGeom prst="rect">
            <a:avLst/>
          </a:prstGeom>
          <a:noFill/>
        </p:spPr>
        <p:txBody>
          <a:bodyPr wrap="square" lIns="0" tIns="0" rIns="0" bIns="0" anchor="t"/>
          <a:lstStyle/>
          <a:p>
            <a:pPr algn="ctr"/>
            <a:r>
              <a:rPr sz="1200" b="0">
                <a:solidFill>
                  <a:srgbClr val="F4EFE6"/>
                </a:solidFill>
                <a:latin typeface="Calibri"/>
              </a:rPr>
              <a:t>After the merge</a:t>
            </a:r>
          </a:p>
        </p:txBody>
      </p:sp>
      <p:sp>
        <p:nvSpPr>
          <p:cNvPr id="26" name="Rounded Rectangle 25"/>
          <p:cNvSpPr/>
          <p:nvPr/>
        </p:nvSpPr>
        <p:spPr>
          <a:xfrm>
            <a:off x="1783080" y="2907792"/>
            <a:ext cx="5006340" cy="1170432"/>
          </a:xfrm>
          <a:prstGeom prst="roundRect">
            <a:avLst>
              <a:gd name="adj" fmla="val 8000"/>
            </a:avLst>
          </a:prstGeom>
          <a:solidFill>
            <a:srgbClr val="FFFCF8"/>
          </a:solidFill>
          <a:ln w="12700">
            <a:solidFill>
              <a:srgbClr val="8C4A1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1892807" y="2980944"/>
            <a:ext cx="4805172" cy="237744"/>
          </a:xfrm>
          <a:prstGeom prst="rect">
            <a:avLst/>
          </a:prstGeom>
          <a:noFill/>
        </p:spPr>
        <p:txBody>
          <a:bodyPr wrap="square" lIns="0" tIns="0" rIns="0" bIns="0" anchor="t"/>
          <a:lstStyle/>
          <a:p>
            <a:pPr algn="l"/>
            <a:r>
              <a:rPr sz="1300" b="1">
                <a:solidFill>
                  <a:srgbClr val="8C4A1F"/>
                </a:solidFill>
                <a:latin typeface="Calibri"/>
              </a:rPr>
              <a:t>A6   REV-02</a:t>
            </a:r>
          </a:p>
        </p:txBody>
      </p:sp>
      <p:sp>
        <p:nvSpPr>
          <p:cNvPr id="28" name="TextBox 27"/>
          <p:cNvSpPr txBox="1"/>
          <p:nvPr/>
        </p:nvSpPr>
        <p:spPr>
          <a:xfrm>
            <a:off x="1892807" y="3236976"/>
            <a:ext cx="4805172" cy="768096"/>
          </a:xfrm>
          <a:prstGeom prst="rect">
            <a:avLst/>
          </a:prstGeom>
          <a:noFill/>
        </p:spPr>
        <p:txBody>
          <a:bodyPr wrap="square" lIns="0" tIns="0" rIns="0" bIns="0" anchor="t"/>
          <a:lstStyle/>
          <a:p>
            <a:pPr algn="l"/>
            <a:r>
              <a:rPr sz="1300" b="0">
                <a:solidFill>
                  <a:srgbClr val="1C1915"/>
                </a:solidFill>
                <a:latin typeface="Calibri"/>
              </a:rPr>
              <a:t>Cutoff judgment. Uses the exception and the contract. Proposes a misstatement of AUD 142,000.</a:t>
            </a:r>
          </a:p>
        </p:txBody>
      </p:sp>
      <p:sp>
        <p:nvSpPr>
          <p:cNvPr id="29" name="Rounded Rectangle 28"/>
          <p:cNvSpPr/>
          <p:nvPr/>
        </p:nvSpPr>
        <p:spPr>
          <a:xfrm>
            <a:off x="6880860" y="2907792"/>
            <a:ext cx="5006340" cy="1170432"/>
          </a:xfrm>
          <a:prstGeom prst="roundRect">
            <a:avLst>
              <a:gd name="adj" fmla="val 8000"/>
            </a:avLst>
          </a:prstGeom>
          <a:solidFill>
            <a:srgbClr val="FFFCF8"/>
          </a:solidFill>
          <a:ln w="12700">
            <a:solidFill>
              <a:srgbClr val="E4DD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990588" y="2980944"/>
            <a:ext cx="4805172" cy="237744"/>
          </a:xfrm>
          <a:prstGeom prst="rect">
            <a:avLst/>
          </a:prstGeom>
          <a:noFill/>
        </p:spPr>
        <p:txBody>
          <a:bodyPr wrap="square" lIns="0" tIns="0" rIns="0" bIns="0" anchor="t"/>
          <a:lstStyle/>
          <a:p>
            <a:pPr algn="l"/>
            <a:r>
              <a:rPr sz="1300" b="1">
                <a:solidFill>
                  <a:srgbClr val="0F5E5A"/>
                </a:solidFill>
                <a:latin typeface="Calibri"/>
              </a:rPr>
              <a:t>A3   DOC-06</a:t>
            </a:r>
          </a:p>
        </p:txBody>
      </p:sp>
      <p:sp>
        <p:nvSpPr>
          <p:cNvPr id="31" name="TextBox 30"/>
          <p:cNvSpPr txBox="1"/>
          <p:nvPr/>
        </p:nvSpPr>
        <p:spPr>
          <a:xfrm>
            <a:off x="6990588" y="3236976"/>
            <a:ext cx="4805172" cy="768096"/>
          </a:xfrm>
          <a:prstGeom prst="rect">
            <a:avLst/>
          </a:prstGeom>
          <a:noFill/>
        </p:spPr>
        <p:txBody>
          <a:bodyPr wrap="square" lIns="0" tIns="0" rIns="0" bIns="0" anchor="t"/>
          <a:lstStyle/>
          <a:p>
            <a:pPr algn="l"/>
            <a:r>
              <a:rPr sz="1300" b="0">
                <a:solidFill>
                  <a:srgbClr val="1C1915"/>
                </a:solidFill>
                <a:latin typeface="Calibri"/>
              </a:rPr>
              <a:t>Reads the bank reply. The confirmed balance is AUD 50,000 below the book.</a:t>
            </a:r>
          </a:p>
        </p:txBody>
      </p:sp>
      <p:sp>
        <p:nvSpPr>
          <p:cNvPr id="32" name="TextBox 31"/>
          <p:cNvSpPr txBox="1"/>
          <p:nvPr/>
        </p:nvSpPr>
        <p:spPr>
          <a:xfrm>
            <a:off x="1783080" y="4133087"/>
            <a:ext cx="9966960" cy="219456"/>
          </a:xfrm>
          <a:prstGeom prst="rect">
            <a:avLst/>
          </a:prstGeom>
          <a:noFill/>
        </p:spPr>
        <p:txBody>
          <a:bodyPr wrap="square" lIns="0" tIns="0" rIns="0" bIns="0" anchor="t"/>
          <a:lstStyle/>
          <a:p>
            <a:pPr algn="ctr"/>
            <a:r>
              <a:rPr sz="1200" b="1">
                <a:solidFill>
                  <a:srgbClr val="0F5E5A"/>
                </a:solidFill>
                <a:latin typeface="Calibri"/>
              </a:rPr>
              <a:t>A1 merges again</a:t>
            </a:r>
          </a:p>
        </p:txBody>
      </p:sp>
      <p:sp>
        <p:nvSpPr>
          <p:cNvPr id="33" name="Rounded Rectangle 32"/>
          <p:cNvSpPr/>
          <p:nvPr/>
        </p:nvSpPr>
        <p:spPr>
          <a:xfrm>
            <a:off x="320040" y="4389120"/>
            <a:ext cx="1325880" cy="960120"/>
          </a:xfrm>
          <a:prstGeom prst="roundRect">
            <a:avLst>
              <a:gd name="adj" fmla="val 8000"/>
            </a:avLst>
          </a:prstGeom>
          <a:solidFill>
            <a:srgbClr val="1B30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384048" y="4498848"/>
            <a:ext cx="1188720" cy="256032"/>
          </a:xfrm>
          <a:prstGeom prst="rect">
            <a:avLst/>
          </a:prstGeom>
          <a:noFill/>
        </p:spPr>
        <p:txBody>
          <a:bodyPr wrap="square" lIns="0" tIns="0" rIns="0" bIns="0" anchor="t"/>
          <a:lstStyle/>
          <a:p>
            <a:pPr algn="ctr"/>
            <a:r>
              <a:rPr sz="1300" b="1">
                <a:solidFill>
                  <a:srgbClr val="C4A574"/>
                </a:solidFill>
                <a:latin typeface="Calibri"/>
              </a:rPr>
              <a:t>LAYER 2</a:t>
            </a:r>
          </a:p>
        </p:txBody>
      </p:sp>
      <p:sp>
        <p:nvSpPr>
          <p:cNvPr id="35" name="TextBox 34"/>
          <p:cNvSpPr txBox="1"/>
          <p:nvPr/>
        </p:nvSpPr>
        <p:spPr>
          <a:xfrm>
            <a:off x="384048" y="4773168"/>
            <a:ext cx="1188720" cy="484632"/>
          </a:xfrm>
          <a:prstGeom prst="rect">
            <a:avLst/>
          </a:prstGeom>
          <a:noFill/>
        </p:spPr>
        <p:txBody>
          <a:bodyPr wrap="square" lIns="0" tIns="0" rIns="0" bIns="0" anchor="t"/>
          <a:lstStyle/>
          <a:p>
            <a:pPr algn="ctr"/>
            <a:r>
              <a:rPr sz="1200" b="0">
                <a:solidFill>
                  <a:srgbClr val="F4EFE6"/>
                </a:solidFill>
                <a:latin typeface="Calibri"/>
              </a:rPr>
              <a:t>Last procedure</a:t>
            </a:r>
          </a:p>
        </p:txBody>
      </p:sp>
      <p:sp>
        <p:nvSpPr>
          <p:cNvPr id="36" name="Rounded Rectangle 35"/>
          <p:cNvSpPr/>
          <p:nvPr/>
        </p:nvSpPr>
        <p:spPr>
          <a:xfrm>
            <a:off x="1783080" y="4389120"/>
            <a:ext cx="6537960" cy="960120"/>
          </a:xfrm>
          <a:prstGeom prst="roundRect">
            <a:avLst>
              <a:gd name="adj" fmla="val 8000"/>
            </a:avLst>
          </a:prstGeom>
          <a:solidFill>
            <a:srgbClr val="FFFCF8"/>
          </a:solidFill>
          <a:ln w="12700">
            <a:solidFill>
              <a:srgbClr val="E4DD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1892807" y="4462272"/>
            <a:ext cx="6336792" cy="237744"/>
          </a:xfrm>
          <a:prstGeom prst="rect">
            <a:avLst/>
          </a:prstGeom>
          <a:noFill/>
        </p:spPr>
        <p:txBody>
          <a:bodyPr wrap="square" lIns="0" tIns="0" rIns="0" bIns="0" anchor="t"/>
          <a:lstStyle/>
          <a:p>
            <a:pPr algn="l"/>
            <a:r>
              <a:rPr sz="1300" b="1">
                <a:solidFill>
                  <a:srgbClr val="0F5E5A"/>
                </a:solidFill>
                <a:latin typeface="Calibri"/>
              </a:rPr>
              <a:t>A6   CSH-02</a:t>
            </a:r>
          </a:p>
        </p:txBody>
      </p:sp>
      <p:sp>
        <p:nvSpPr>
          <p:cNvPr id="38" name="TextBox 37"/>
          <p:cNvSpPr txBox="1"/>
          <p:nvPr/>
        </p:nvSpPr>
        <p:spPr>
          <a:xfrm>
            <a:off x="1892807" y="4718304"/>
            <a:ext cx="6336792" cy="557784"/>
          </a:xfrm>
          <a:prstGeom prst="rect">
            <a:avLst/>
          </a:prstGeom>
          <a:noFill/>
        </p:spPr>
        <p:txBody>
          <a:bodyPr wrap="square" lIns="0" tIns="0" rIns="0" bIns="0" anchor="t"/>
          <a:lstStyle/>
          <a:p>
            <a:pPr algn="l"/>
            <a:r>
              <a:rPr sz="1300" b="0">
                <a:solidFill>
                  <a:srgbClr val="1C1915"/>
                </a:solidFill>
                <a:latin typeface="Calibri"/>
              </a:rPr>
              <a:t>The gap is a deposit in transit, received on 2 July. Not a misstatement.</a:t>
            </a:r>
          </a:p>
        </p:txBody>
      </p:sp>
      <p:sp>
        <p:nvSpPr>
          <p:cNvPr id="39" name="Rounded Rectangle 38"/>
          <p:cNvSpPr/>
          <p:nvPr/>
        </p:nvSpPr>
        <p:spPr>
          <a:xfrm>
            <a:off x="8412480" y="4389120"/>
            <a:ext cx="3429000" cy="960120"/>
          </a:xfrm>
          <a:prstGeom prst="roundRect">
            <a:avLst>
              <a:gd name="adj" fmla="val 8000"/>
            </a:avLst>
          </a:prstGeom>
          <a:solidFill>
            <a:srgbClr val="E6F2F1"/>
          </a:solidFill>
          <a:ln w="12700">
            <a:solidFill>
              <a:srgbClr val="0F5E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8522208" y="4480559"/>
            <a:ext cx="3200400" cy="219456"/>
          </a:xfrm>
          <a:prstGeom prst="rect">
            <a:avLst/>
          </a:prstGeom>
          <a:noFill/>
        </p:spPr>
        <p:txBody>
          <a:bodyPr wrap="square" lIns="0" tIns="0" rIns="0" bIns="0" anchor="t"/>
          <a:lstStyle/>
          <a:p>
            <a:pPr algn="l"/>
            <a:r>
              <a:rPr sz="1200" b="1">
                <a:solidFill>
                  <a:srgbClr val="0F5E5A"/>
                </a:solidFill>
                <a:latin typeface="Calibri"/>
              </a:rPr>
              <a:t>REVIEW QUEUE</a:t>
            </a:r>
          </a:p>
        </p:txBody>
      </p:sp>
      <p:sp>
        <p:nvSpPr>
          <p:cNvPr id="41" name="TextBox 40"/>
          <p:cNvSpPr txBox="1"/>
          <p:nvPr/>
        </p:nvSpPr>
        <p:spPr>
          <a:xfrm>
            <a:off x="8522208" y="4736592"/>
            <a:ext cx="3200400" cy="502920"/>
          </a:xfrm>
          <a:prstGeom prst="rect">
            <a:avLst/>
          </a:prstGeom>
          <a:noFill/>
        </p:spPr>
        <p:txBody>
          <a:bodyPr wrap="square" lIns="0" tIns="0" rIns="0" bIns="0" anchor="t"/>
          <a:lstStyle/>
          <a:p>
            <a:pPr algn="l"/>
            <a:r>
              <a:rPr sz="1300" b="0">
                <a:solidFill>
                  <a:srgbClr val="1C1915"/>
                </a:solidFill>
                <a:latin typeface="Calibri"/>
              </a:rPr>
              <a:t>The auditor confirms both items. The agents do not decide.</a:t>
            </a:r>
          </a:p>
        </p:txBody>
      </p:sp>
      <p:sp>
        <p:nvSpPr>
          <p:cNvPr id="42" name="Rounded Rectangle 41"/>
          <p:cNvSpPr/>
          <p:nvPr/>
        </p:nvSpPr>
        <p:spPr>
          <a:xfrm>
            <a:off x="320040" y="5504688"/>
            <a:ext cx="11521440" cy="777240"/>
          </a:xfrm>
          <a:prstGeom prst="roundRect">
            <a:avLst>
              <a:gd name="adj" fmla="val 8000"/>
            </a:avLst>
          </a:prstGeom>
          <a:solidFill>
            <a:srgbClr val="1B30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457200" y="5577840"/>
            <a:ext cx="2011680" cy="237744"/>
          </a:xfrm>
          <a:prstGeom prst="rect">
            <a:avLst/>
          </a:prstGeom>
          <a:noFill/>
        </p:spPr>
        <p:txBody>
          <a:bodyPr wrap="square" lIns="0" tIns="0" rIns="0" bIns="0" anchor="t"/>
          <a:lstStyle/>
          <a:p>
            <a:pPr algn="l"/>
            <a:r>
              <a:rPr sz="1300" b="1">
                <a:solidFill>
                  <a:srgbClr val="C4A574"/>
                </a:solidFill>
                <a:latin typeface="Calibri"/>
              </a:rPr>
              <a:t>A9  FIN-04</a:t>
            </a:r>
          </a:p>
        </p:txBody>
      </p:sp>
      <p:sp>
        <p:nvSpPr>
          <p:cNvPr id="44" name="TextBox 43"/>
          <p:cNvSpPr txBox="1"/>
          <p:nvPr/>
        </p:nvSpPr>
        <p:spPr>
          <a:xfrm>
            <a:off x="457200" y="5833872"/>
            <a:ext cx="5760720" cy="365760"/>
          </a:xfrm>
          <a:prstGeom prst="rect">
            <a:avLst/>
          </a:prstGeom>
          <a:noFill/>
        </p:spPr>
        <p:txBody>
          <a:bodyPr wrap="square" lIns="0" tIns="0" rIns="0" bIns="0" anchor="t"/>
          <a:lstStyle/>
          <a:p>
            <a:pPr algn="l"/>
            <a:r>
              <a:rPr sz="1300" b="0">
                <a:solidFill>
                  <a:srgbClr val="F4EFE6"/>
                </a:solidFill>
                <a:latin typeface="Calibri"/>
              </a:rPr>
              <a:t>AUD 142,000 is above materiality. The candidate opinion is qualified.</a:t>
            </a:r>
          </a:p>
        </p:txBody>
      </p:sp>
      <p:sp>
        <p:nvSpPr>
          <p:cNvPr id="45" name="TextBox 44"/>
          <p:cNvSpPr txBox="1"/>
          <p:nvPr/>
        </p:nvSpPr>
        <p:spPr>
          <a:xfrm>
            <a:off x="6492240" y="5577840"/>
            <a:ext cx="2194560" cy="237744"/>
          </a:xfrm>
          <a:prstGeom prst="rect">
            <a:avLst/>
          </a:prstGeom>
          <a:noFill/>
        </p:spPr>
        <p:txBody>
          <a:bodyPr wrap="square" lIns="0" tIns="0" rIns="0" bIns="0" anchor="t"/>
          <a:lstStyle/>
          <a:p>
            <a:pPr algn="l"/>
            <a:r>
              <a:rPr sz="1300" b="1">
                <a:solidFill>
                  <a:srgbClr val="C4A574"/>
                </a:solidFill>
                <a:latin typeface="Calibri"/>
              </a:rPr>
              <a:t>A10  RPT-03</a:t>
            </a:r>
          </a:p>
        </p:txBody>
      </p:sp>
      <p:sp>
        <p:nvSpPr>
          <p:cNvPr id="46" name="TextBox 45"/>
          <p:cNvSpPr txBox="1"/>
          <p:nvPr/>
        </p:nvSpPr>
        <p:spPr>
          <a:xfrm>
            <a:off x="6492240" y="5833872"/>
            <a:ext cx="5120640" cy="365760"/>
          </a:xfrm>
          <a:prstGeom prst="rect">
            <a:avLst/>
          </a:prstGeom>
          <a:noFill/>
        </p:spPr>
        <p:txBody>
          <a:bodyPr wrap="square" lIns="0" tIns="0" rIns="0" bIns="0" anchor="t"/>
          <a:lstStyle/>
          <a:p>
            <a:pPr algn="l"/>
            <a:r>
              <a:rPr sz="1300" b="0">
                <a:solidFill>
                  <a:srgbClr val="F4EFE6"/>
                </a:solidFill>
                <a:latin typeface="Calibri"/>
              </a:rPr>
              <a:t>Drafts the report. The auditor sends it back once, then signs.</a:t>
            </a:r>
          </a:p>
        </p:txBody>
      </p:sp>
      <p:sp>
        <p:nvSpPr>
          <p:cNvPr id="47" name="TextBox 46"/>
          <p:cNvSpPr txBox="1"/>
          <p:nvPr/>
        </p:nvSpPr>
        <p:spPr>
          <a:xfrm>
            <a:off x="411480" y="6510528"/>
            <a:ext cx="5486400" cy="256032"/>
          </a:xfrm>
          <a:prstGeom prst="rect">
            <a:avLst/>
          </a:prstGeom>
          <a:noFill/>
        </p:spPr>
        <p:txBody>
          <a:bodyPr wrap="square" lIns="0" tIns="0" rIns="0" bIns="0" anchor="t"/>
          <a:lstStyle/>
          <a:p>
            <a:pPr algn="l"/>
            <a:r>
              <a:rPr sz="1200" b="0">
                <a:solidFill>
                  <a:srgbClr val="5E584F"/>
                </a:solidFill>
                <a:latin typeface="Calibri"/>
              </a:rPr>
              <a:t>ELEC5620 · Group 16</a:t>
            </a:r>
          </a:p>
        </p:txBody>
      </p:sp>
      <p:sp>
        <p:nvSpPr>
          <p:cNvPr id="48" name="TextBox 47"/>
          <p:cNvSpPr txBox="1"/>
          <p:nvPr/>
        </p:nvSpPr>
        <p:spPr>
          <a:xfrm>
            <a:off x="9509760" y="6510528"/>
            <a:ext cx="2286000" cy="256032"/>
          </a:xfrm>
          <a:prstGeom prst="rect">
            <a:avLst/>
          </a:prstGeom>
          <a:noFill/>
        </p:spPr>
        <p:txBody>
          <a:bodyPr wrap="square" lIns="0" tIns="0" rIns="0" bIns="0" anchor="t"/>
          <a:lstStyle/>
          <a:p>
            <a:pPr algn="r"/>
            <a:r>
              <a:rPr sz="1200" b="0">
                <a:solidFill>
                  <a:srgbClr val="5E584F"/>
                </a:solidFill>
                <a:latin typeface="Calibri"/>
              </a:rPr>
              <a:t>12 / 39</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7F4EE"/>
        </a:solidFill>
        <a:effectLst/>
      </p:bgPr>
    </p:bg>
    <p:spTree>
      <p:nvGrpSpPr>
        <p:cNvPr id="1" name=""/>
        <p:cNvGrpSpPr/>
        <p:nvPr/>
      </p:nvGrpSpPr>
      <p:grpSpPr>
        <a:xfrm>
          <a:off x="0" y="0"/>
          <a:ext cx="0" cy="0"/>
          <a:chOff x="0" y="0"/>
          <a:chExt cx="0" cy="0"/>
        </a:xfrm>
      </p:grpSpPr>
      <p:sp>
        <p:nvSpPr>
          <p:cNvPr id="2" name="TextBox 1"/>
          <p:cNvSpPr txBox="1"/>
          <p:nvPr/>
        </p:nvSpPr>
        <p:spPr>
          <a:xfrm>
            <a:off x="411480" y="256032"/>
            <a:ext cx="3840480" cy="256032"/>
          </a:xfrm>
          <a:prstGeom prst="rect">
            <a:avLst/>
          </a:prstGeom>
          <a:noFill/>
        </p:spPr>
        <p:txBody>
          <a:bodyPr wrap="square" lIns="0" tIns="0" rIns="0" bIns="0" anchor="t"/>
          <a:lstStyle/>
          <a:p>
            <a:pPr algn="l"/>
            <a:r>
              <a:rPr sz="1200" b="1">
                <a:solidFill>
                  <a:srgbClr val="0F5E5A"/>
                </a:solidFill>
                <a:latin typeface="Calibri"/>
              </a:rPr>
              <a:t>MEMBER B</a:t>
            </a:r>
          </a:p>
        </p:txBody>
      </p:sp>
      <p:sp>
        <p:nvSpPr>
          <p:cNvPr id="3" name="Rounded Rectangle 2"/>
          <p:cNvSpPr/>
          <p:nvPr/>
        </p:nvSpPr>
        <p:spPr>
          <a:xfrm>
            <a:off x="4114800" y="237744"/>
            <a:ext cx="2103120" cy="274320"/>
          </a:xfrm>
          <a:prstGeom prst="roundRect">
            <a:avLst>
              <a:gd name="adj" fmla="val 8000"/>
            </a:avLst>
          </a:prstGeom>
          <a:solidFill>
            <a:srgbClr val="F7F4EE"/>
          </a:solidFill>
          <a:ln w="12700">
            <a:solidFill>
              <a:srgbClr val="E4DD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14800" y="237744"/>
            <a:ext cx="2103120" cy="274320"/>
          </a:xfrm>
          <a:prstGeom prst="rect">
            <a:avLst/>
          </a:prstGeom>
          <a:noFill/>
        </p:spPr>
        <p:txBody>
          <a:bodyPr wrap="square" lIns="0" tIns="0" rIns="0" bIns="0" anchor="ctr"/>
          <a:lstStyle/>
          <a:p>
            <a:pPr algn="ctr"/>
            <a:r>
              <a:rPr sz="1200" b="0">
                <a:solidFill>
                  <a:srgbClr val="5E584F"/>
                </a:solidFill>
                <a:latin typeface="Calibri"/>
              </a:rPr>
              <a:t>One line</a:t>
            </a:r>
          </a:p>
        </p:txBody>
      </p:sp>
      <p:sp>
        <p:nvSpPr>
          <p:cNvPr id="5" name="TextBox 4"/>
          <p:cNvSpPr txBox="1"/>
          <p:nvPr/>
        </p:nvSpPr>
        <p:spPr>
          <a:xfrm>
            <a:off x="411480" y="621792"/>
            <a:ext cx="11338560" cy="438912"/>
          </a:xfrm>
          <a:prstGeom prst="rect">
            <a:avLst/>
          </a:prstGeom>
          <a:noFill/>
        </p:spPr>
        <p:txBody>
          <a:bodyPr wrap="square" lIns="0" tIns="0" rIns="0" bIns="0" anchor="t"/>
          <a:lstStyle/>
          <a:p>
            <a:pPr algn="l"/>
            <a:r>
              <a:rPr sz="2600" b="1">
                <a:solidFill>
                  <a:srgbClr val="1C1915"/>
                </a:solidFill>
                <a:latin typeface="Calibri"/>
              </a:rPr>
              <a:t>One line: a cutoff error, then a qualified opinion</a:t>
            </a:r>
          </a:p>
        </p:txBody>
      </p:sp>
      <p:sp>
        <p:nvSpPr>
          <p:cNvPr id="6" name="TextBox 5"/>
          <p:cNvSpPr txBox="1"/>
          <p:nvPr/>
        </p:nvSpPr>
        <p:spPr>
          <a:xfrm>
            <a:off x="411480" y="1097280"/>
            <a:ext cx="10972800" cy="292608"/>
          </a:xfrm>
          <a:prstGeom prst="rect">
            <a:avLst/>
          </a:prstGeom>
          <a:noFill/>
        </p:spPr>
        <p:txBody>
          <a:bodyPr wrap="square" lIns="0" tIns="0" rIns="0" bIns="0" anchor="t"/>
          <a:lstStyle/>
          <a:p>
            <a:pPr algn="l"/>
            <a:r>
              <a:rPr sz="1500" b="0">
                <a:solidFill>
                  <a:srgbClr val="5E584F"/>
                </a:solidFill>
                <a:latin typeface="Calibri"/>
              </a:rPr>
              <a:t>A fictional company. Year-end 30 June 2026. Revenue about AUD 12 million.</a:t>
            </a:r>
          </a:p>
        </p:txBody>
      </p:sp>
      <p:sp>
        <p:nvSpPr>
          <p:cNvPr id="7" name="Rounded Rectangle 6"/>
          <p:cNvSpPr/>
          <p:nvPr/>
        </p:nvSpPr>
        <p:spPr>
          <a:xfrm>
            <a:off x="365760" y="1554480"/>
            <a:ext cx="3767328" cy="3794760"/>
          </a:xfrm>
          <a:prstGeom prst="roundRect">
            <a:avLst>
              <a:gd name="adj" fmla="val 8000"/>
            </a:avLst>
          </a:prstGeom>
          <a:solidFill>
            <a:srgbClr val="F8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30352" y="1691640"/>
            <a:ext cx="3429000" cy="256032"/>
          </a:xfrm>
          <a:prstGeom prst="rect">
            <a:avLst/>
          </a:prstGeom>
          <a:noFill/>
        </p:spPr>
        <p:txBody>
          <a:bodyPr wrap="square" lIns="0" tIns="0" rIns="0" bIns="0" anchor="t"/>
          <a:lstStyle/>
          <a:p>
            <a:pPr algn="l"/>
            <a:r>
              <a:rPr sz="1200" b="1">
                <a:solidFill>
                  <a:srgbClr val="8F2D2D"/>
                </a:solidFill>
                <a:latin typeface="Calibri"/>
              </a:rPr>
              <a:t>SCENE 1 · REVENUE</a:t>
            </a:r>
          </a:p>
        </p:txBody>
      </p:sp>
      <p:sp>
        <p:nvSpPr>
          <p:cNvPr id="9" name="TextBox 8"/>
          <p:cNvSpPr txBox="1"/>
          <p:nvPr/>
        </p:nvSpPr>
        <p:spPr>
          <a:xfrm>
            <a:off x="530352" y="2011680"/>
            <a:ext cx="3429000" cy="365760"/>
          </a:xfrm>
          <a:prstGeom prst="rect">
            <a:avLst/>
          </a:prstGeom>
          <a:noFill/>
        </p:spPr>
        <p:txBody>
          <a:bodyPr wrap="square" lIns="0" tIns="0" rIns="0" bIns="0" anchor="t"/>
          <a:lstStyle/>
          <a:p>
            <a:pPr algn="l"/>
            <a:r>
              <a:rPr sz="2000" b="1">
                <a:solidFill>
                  <a:srgbClr val="1C1915"/>
                </a:solidFill>
                <a:latin typeface="Calibri"/>
              </a:rPr>
              <a:t>Cutoff misstatement</a:t>
            </a:r>
          </a:p>
        </p:txBody>
      </p:sp>
      <p:sp>
        <p:nvSpPr>
          <p:cNvPr id="10" name="TextBox 9"/>
          <p:cNvSpPr txBox="1"/>
          <p:nvPr/>
        </p:nvSpPr>
        <p:spPr>
          <a:xfrm>
            <a:off x="530352" y="2468880"/>
            <a:ext cx="3429000" cy="1554480"/>
          </a:xfrm>
          <a:prstGeom prst="rect">
            <a:avLst/>
          </a:prstGeom>
          <a:noFill/>
        </p:spPr>
        <p:txBody>
          <a:bodyPr wrap="square" lIns="0" tIns="0" rIns="0" bIns="0" anchor="t"/>
          <a:lstStyle/>
          <a:p>
            <a:pPr algn="l"/>
            <a:r>
              <a:rPr sz="1500" b="0">
                <a:solidFill>
                  <a:srgbClr val="1C1915"/>
                </a:solidFill>
                <a:latin typeface="Calibri"/>
              </a:rPr>
              <a:t>An invoice for AUD 142,000 is recorded on 28 June. The delivery note is signed on 3 July. The contract transfers control on signing.</a:t>
            </a:r>
          </a:p>
        </p:txBody>
      </p:sp>
      <p:sp>
        <p:nvSpPr>
          <p:cNvPr id="11" name="TextBox 10"/>
          <p:cNvSpPr txBox="1"/>
          <p:nvPr/>
        </p:nvSpPr>
        <p:spPr>
          <a:xfrm>
            <a:off x="530352" y="4297680"/>
            <a:ext cx="3429000" cy="822960"/>
          </a:xfrm>
          <a:prstGeom prst="rect">
            <a:avLst/>
          </a:prstGeom>
          <a:noFill/>
        </p:spPr>
        <p:txBody>
          <a:bodyPr wrap="square" lIns="0" tIns="0" rIns="0" bIns="0" anchor="t"/>
          <a:lstStyle/>
          <a:p>
            <a:pPr algn="l"/>
            <a:r>
              <a:rPr sz="1500" b="1">
                <a:solidFill>
                  <a:srgbClr val="8F2D2D"/>
                </a:solidFill>
                <a:latin typeface="Calibri"/>
              </a:rPr>
              <a:t>Propose a misstatement. The auditor confirms it.</a:t>
            </a:r>
          </a:p>
        </p:txBody>
      </p:sp>
      <p:sp>
        <p:nvSpPr>
          <p:cNvPr id="12" name="Rounded Rectangle 11"/>
          <p:cNvSpPr/>
          <p:nvPr/>
        </p:nvSpPr>
        <p:spPr>
          <a:xfrm>
            <a:off x="4279392" y="1554480"/>
            <a:ext cx="3767328" cy="3794760"/>
          </a:xfrm>
          <a:prstGeom prst="roundRect">
            <a:avLst>
              <a:gd name="adj" fmla="val 8000"/>
            </a:avLst>
          </a:prstGeom>
          <a:solidFill>
            <a:srgbClr val="E8F3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443984" y="1691640"/>
            <a:ext cx="3429000" cy="256032"/>
          </a:xfrm>
          <a:prstGeom prst="rect">
            <a:avLst/>
          </a:prstGeom>
          <a:noFill/>
        </p:spPr>
        <p:txBody>
          <a:bodyPr wrap="square" lIns="0" tIns="0" rIns="0" bIns="0" anchor="t"/>
          <a:lstStyle/>
          <a:p>
            <a:pPr algn="l"/>
            <a:r>
              <a:rPr sz="1200" b="1">
                <a:solidFill>
                  <a:srgbClr val="1F6B45"/>
                </a:solidFill>
                <a:latin typeface="Calibri"/>
              </a:rPr>
              <a:t>SCENE 2 · CASH</a:t>
            </a:r>
          </a:p>
        </p:txBody>
      </p:sp>
      <p:sp>
        <p:nvSpPr>
          <p:cNvPr id="14" name="TextBox 13"/>
          <p:cNvSpPr txBox="1"/>
          <p:nvPr/>
        </p:nvSpPr>
        <p:spPr>
          <a:xfrm>
            <a:off x="4443984" y="2011680"/>
            <a:ext cx="3429000" cy="365760"/>
          </a:xfrm>
          <a:prstGeom prst="rect">
            <a:avLst/>
          </a:prstGeom>
          <a:noFill/>
        </p:spPr>
        <p:txBody>
          <a:bodyPr wrap="square" lIns="0" tIns="0" rIns="0" bIns="0" anchor="t"/>
          <a:lstStyle/>
          <a:p>
            <a:pPr algn="l"/>
            <a:r>
              <a:rPr sz="2000" b="1">
                <a:solidFill>
                  <a:srgbClr val="1C1915"/>
                </a:solidFill>
                <a:latin typeface="Calibri"/>
              </a:rPr>
              <a:t>A timing difference</a:t>
            </a:r>
          </a:p>
        </p:txBody>
      </p:sp>
      <p:sp>
        <p:nvSpPr>
          <p:cNvPr id="15" name="TextBox 14"/>
          <p:cNvSpPr txBox="1"/>
          <p:nvPr/>
        </p:nvSpPr>
        <p:spPr>
          <a:xfrm>
            <a:off x="4443984" y="2468880"/>
            <a:ext cx="3429000" cy="1554480"/>
          </a:xfrm>
          <a:prstGeom prst="rect">
            <a:avLst/>
          </a:prstGeom>
          <a:noFill/>
        </p:spPr>
        <p:txBody>
          <a:bodyPr wrap="square" lIns="0" tIns="0" rIns="0" bIns="0" anchor="t"/>
          <a:lstStyle/>
          <a:p>
            <a:pPr algn="l"/>
            <a:r>
              <a:rPr sz="1500" b="0">
                <a:solidFill>
                  <a:srgbClr val="1C1915"/>
                </a:solidFill>
                <a:latin typeface="Calibri"/>
              </a:rPr>
              <a:t>The bank reply is AUD 50,000 below the book. The difference is a deposit in transit, recorded on 30 June and received on 2 July.</a:t>
            </a:r>
          </a:p>
        </p:txBody>
      </p:sp>
      <p:sp>
        <p:nvSpPr>
          <p:cNvPr id="16" name="TextBox 15"/>
          <p:cNvSpPr txBox="1"/>
          <p:nvPr/>
        </p:nvSpPr>
        <p:spPr>
          <a:xfrm>
            <a:off x="4443984" y="4297680"/>
            <a:ext cx="3429000" cy="822960"/>
          </a:xfrm>
          <a:prstGeom prst="rect">
            <a:avLst/>
          </a:prstGeom>
          <a:noFill/>
        </p:spPr>
        <p:txBody>
          <a:bodyPr wrap="square" lIns="0" tIns="0" rIns="0" bIns="0" anchor="t"/>
          <a:lstStyle/>
          <a:p>
            <a:pPr algn="l"/>
            <a:r>
              <a:rPr sz="1500" b="1">
                <a:solidFill>
                  <a:srgbClr val="1F6B45"/>
                </a:solidFill>
                <a:latin typeface="Calibri"/>
              </a:rPr>
              <a:t>Propose that this is not a misstatement. The auditor confirms it.</a:t>
            </a:r>
          </a:p>
        </p:txBody>
      </p:sp>
      <p:sp>
        <p:nvSpPr>
          <p:cNvPr id="17" name="Rounded Rectangle 16"/>
          <p:cNvSpPr/>
          <p:nvPr/>
        </p:nvSpPr>
        <p:spPr>
          <a:xfrm>
            <a:off x="8193024" y="1554480"/>
            <a:ext cx="3767328" cy="3794760"/>
          </a:xfrm>
          <a:prstGeom prst="roundRect">
            <a:avLst>
              <a:gd name="adj" fmla="val 8000"/>
            </a:avLst>
          </a:prstGeom>
          <a:solidFill>
            <a:srgbClr val="1B30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357616" y="1691640"/>
            <a:ext cx="3429000" cy="256032"/>
          </a:xfrm>
          <a:prstGeom prst="rect">
            <a:avLst/>
          </a:prstGeom>
          <a:noFill/>
        </p:spPr>
        <p:txBody>
          <a:bodyPr wrap="square" lIns="0" tIns="0" rIns="0" bIns="0" anchor="t"/>
          <a:lstStyle/>
          <a:p>
            <a:pPr algn="l"/>
            <a:r>
              <a:rPr sz="1200" b="1">
                <a:solidFill>
                  <a:srgbClr val="C4A574"/>
                </a:solidFill>
                <a:latin typeface="Calibri"/>
              </a:rPr>
              <a:t>SCENE 3 · OPINION</a:t>
            </a:r>
          </a:p>
        </p:txBody>
      </p:sp>
      <p:sp>
        <p:nvSpPr>
          <p:cNvPr id="19" name="TextBox 18"/>
          <p:cNvSpPr txBox="1"/>
          <p:nvPr/>
        </p:nvSpPr>
        <p:spPr>
          <a:xfrm>
            <a:off x="8357616" y="2011680"/>
            <a:ext cx="3429000" cy="365760"/>
          </a:xfrm>
          <a:prstGeom prst="rect">
            <a:avLst/>
          </a:prstGeom>
          <a:noFill/>
        </p:spPr>
        <p:txBody>
          <a:bodyPr wrap="square" lIns="0" tIns="0" rIns="0" bIns="0" anchor="t"/>
          <a:lstStyle/>
          <a:p>
            <a:pPr algn="l"/>
            <a:r>
              <a:rPr sz="2000" b="1">
                <a:solidFill>
                  <a:srgbClr val="F4EFE6"/>
                </a:solidFill>
                <a:latin typeface="Calibri"/>
              </a:rPr>
              <a:t>Qualified opinion</a:t>
            </a:r>
          </a:p>
        </p:txBody>
      </p:sp>
      <p:sp>
        <p:nvSpPr>
          <p:cNvPr id="20" name="TextBox 19"/>
          <p:cNvSpPr txBox="1"/>
          <p:nvPr/>
        </p:nvSpPr>
        <p:spPr>
          <a:xfrm>
            <a:off x="8357616" y="2468880"/>
            <a:ext cx="3429000" cy="1554480"/>
          </a:xfrm>
          <a:prstGeom prst="rect">
            <a:avLst/>
          </a:prstGeom>
          <a:noFill/>
        </p:spPr>
        <p:txBody>
          <a:bodyPr wrap="square" lIns="0" tIns="0" rIns="0" bIns="0" anchor="t"/>
          <a:lstStyle/>
          <a:p>
            <a:pPr algn="l"/>
            <a:r>
              <a:rPr sz="1500" b="0">
                <a:solidFill>
                  <a:srgbClr val="F4EFE6"/>
                </a:solidFill>
                <a:latin typeface="Calibri"/>
              </a:rPr>
              <a:t>The overall-materiality range is 60 to 120 thousand. The cutoff misstatement is above the top of that range.</a:t>
            </a:r>
          </a:p>
        </p:txBody>
      </p:sp>
      <p:sp>
        <p:nvSpPr>
          <p:cNvPr id="21" name="TextBox 20"/>
          <p:cNvSpPr txBox="1"/>
          <p:nvPr/>
        </p:nvSpPr>
        <p:spPr>
          <a:xfrm>
            <a:off x="8357616" y="4297680"/>
            <a:ext cx="3429000" cy="822960"/>
          </a:xfrm>
          <a:prstGeom prst="rect">
            <a:avLst/>
          </a:prstGeom>
          <a:noFill/>
        </p:spPr>
        <p:txBody>
          <a:bodyPr wrap="square" lIns="0" tIns="0" rIns="0" bIns="0" anchor="t"/>
          <a:lstStyle/>
          <a:p>
            <a:pPr algn="l"/>
            <a:r>
              <a:rPr sz="1500" b="1">
                <a:solidFill>
                  <a:srgbClr val="C4A574"/>
                </a:solidFill>
                <a:latin typeface="Calibri"/>
              </a:rPr>
              <a:t>The proposed opinion is qualified. Signature waits for confirmation.</a:t>
            </a:r>
          </a:p>
        </p:txBody>
      </p:sp>
      <p:sp>
        <p:nvSpPr>
          <p:cNvPr id="22" name="Rounded Rectangle 21"/>
          <p:cNvSpPr/>
          <p:nvPr/>
        </p:nvSpPr>
        <p:spPr>
          <a:xfrm>
            <a:off x="365760" y="5577840"/>
            <a:ext cx="1874519" cy="365760"/>
          </a:xfrm>
          <a:prstGeom prst="roundRect">
            <a:avLst>
              <a:gd name="adj" fmla="val 8000"/>
            </a:avLst>
          </a:prstGeom>
          <a:solidFill>
            <a:srgbClr val="FFFCF8"/>
          </a:solidFill>
          <a:ln w="12700">
            <a:solidFill>
              <a:srgbClr val="E4DD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365760" y="5577840"/>
            <a:ext cx="1874519" cy="365760"/>
          </a:xfrm>
          <a:prstGeom prst="rect">
            <a:avLst/>
          </a:prstGeom>
          <a:noFill/>
        </p:spPr>
        <p:txBody>
          <a:bodyPr wrap="square" lIns="0" tIns="0" rIns="0" bIns="0" anchor="ctr"/>
          <a:lstStyle/>
          <a:p>
            <a:pPr algn="ctr"/>
            <a:r>
              <a:rPr sz="1200" b="1">
                <a:solidFill>
                  <a:srgbClr val="1C1915"/>
                </a:solidFill>
                <a:latin typeface="Calibri"/>
              </a:rPr>
              <a:t>Three-way match</a:t>
            </a:r>
          </a:p>
        </p:txBody>
      </p:sp>
      <p:sp>
        <p:nvSpPr>
          <p:cNvPr id="24" name="Rounded Rectangle 23"/>
          <p:cNvSpPr/>
          <p:nvPr/>
        </p:nvSpPr>
        <p:spPr>
          <a:xfrm>
            <a:off x="2331719" y="5577840"/>
            <a:ext cx="1874519" cy="365760"/>
          </a:xfrm>
          <a:prstGeom prst="roundRect">
            <a:avLst>
              <a:gd name="adj" fmla="val 8000"/>
            </a:avLst>
          </a:prstGeom>
          <a:solidFill>
            <a:srgbClr val="FFFCF8"/>
          </a:solidFill>
          <a:ln w="12700">
            <a:solidFill>
              <a:srgbClr val="E4DD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2331719" y="5577840"/>
            <a:ext cx="1874519" cy="365760"/>
          </a:xfrm>
          <a:prstGeom prst="rect">
            <a:avLst/>
          </a:prstGeom>
          <a:noFill/>
        </p:spPr>
        <p:txBody>
          <a:bodyPr wrap="square" lIns="0" tIns="0" rIns="0" bIns="0" anchor="ctr"/>
          <a:lstStyle/>
          <a:p>
            <a:pPr algn="ctr"/>
            <a:r>
              <a:rPr sz="1200" b="1">
                <a:solidFill>
                  <a:srgbClr val="1C1915"/>
                </a:solidFill>
                <a:latin typeface="Calibri"/>
              </a:rPr>
              <a:t>Cutoff judgment</a:t>
            </a:r>
          </a:p>
        </p:txBody>
      </p:sp>
      <p:sp>
        <p:nvSpPr>
          <p:cNvPr id="26" name="Rounded Rectangle 25"/>
          <p:cNvSpPr/>
          <p:nvPr/>
        </p:nvSpPr>
        <p:spPr>
          <a:xfrm>
            <a:off x="4297678" y="5577840"/>
            <a:ext cx="1572768" cy="365760"/>
          </a:xfrm>
          <a:prstGeom prst="roundRect">
            <a:avLst>
              <a:gd name="adj" fmla="val 8000"/>
            </a:avLst>
          </a:prstGeom>
          <a:solidFill>
            <a:srgbClr val="FFFCF8"/>
          </a:solidFill>
          <a:ln w="12700">
            <a:solidFill>
              <a:srgbClr val="E4DD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297678" y="5577840"/>
            <a:ext cx="1572768" cy="365760"/>
          </a:xfrm>
          <a:prstGeom prst="rect">
            <a:avLst/>
          </a:prstGeom>
          <a:noFill/>
        </p:spPr>
        <p:txBody>
          <a:bodyPr wrap="square" lIns="0" tIns="0" rIns="0" bIns="0" anchor="ctr"/>
          <a:lstStyle/>
          <a:p>
            <a:pPr algn="ctr"/>
            <a:r>
              <a:rPr sz="1200" b="1">
                <a:solidFill>
                  <a:srgbClr val="1C1915"/>
                </a:solidFill>
                <a:latin typeface="Calibri"/>
              </a:rPr>
              <a:t>Confirmation</a:t>
            </a:r>
          </a:p>
        </p:txBody>
      </p:sp>
      <p:sp>
        <p:nvSpPr>
          <p:cNvPr id="28" name="Rounded Rectangle 27"/>
          <p:cNvSpPr/>
          <p:nvPr/>
        </p:nvSpPr>
        <p:spPr>
          <a:xfrm>
            <a:off x="5961886" y="5577840"/>
            <a:ext cx="1371600" cy="365760"/>
          </a:xfrm>
          <a:prstGeom prst="roundRect">
            <a:avLst>
              <a:gd name="adj" fmla="val 8000"/>
            </a:avLst>
          </a:prstGeom>
          <a:solidFill>
            <a:srgbClr val="FFFCF8"/>
          </a:solidFill>
          <a:ln w="12700">
            <a:solidFill>
              <a:srgbClr val="E4DD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5961886" y="5577840"/>
            <a:ext cx="1371600" cy="365760"/>
          </a:xfrm>
          <a:prstGeom prst="rect">
            <a:avLst/>
          </a:prstGeom>
          <a:noFill/>
        </p:spPr>
        <p:txBody>
          <a:bodyPr wrap="square" lIns="0" tIns="0" rIns="0" bIns="0" anchor="ctr"/>
          <a:lstStyle/>
          <a:p>
            <a:pPr algn="ctr"/>
            <a:r>
              <a:rPr sz="1200" b="1">
                <a:solidFill>
                  <a:srgbClr val="1C1915"/>
                </a:solidFill>
                <a:latin typeface="Calibri"/>
              </a:rPr>
              <a:t>Difference</a:t>
            </a:r>
          </a:p>
        </p:txBody>
      </p:sp>
      <p:sp>
        <p:nvSpPr>
          <p:cNvPr id="30" name="Rounded Rectangle 29"/>
          <p:cNvSpPr/>
          <p:nvPr/>
        </p:nvSpPr>
        <p:spPr>
          <a:xfrm>
            <a:off x="7424926" y="5577840"/>
            <a:ext cx="1069848" cy="365760"/>
          </a:xfrm>
          <a:prstGeom prst="roundRect">
            <a:avLst>
              <a:gd name="adj" fmla="val 8000"/>
            </a:avLst>
          </a:prstGeom>
          <a:solidFill>
            <a:srgbClr val="FFFCF8"/>
          </a:solidFill>
          <a:ln w="12700">
            <a:solidFill>
              <a:srgbClr val="E4DD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7424926" y="5577840"/>
            <a:ext cx="1069848" cy="365760"/>
          </a:xfrm>
          <a:prstGeom prst="rect">
            <a:avLst/>
          </a:prstGeom>
          <a:noFill/>
        </p:spPr>
        <p:txBody>
          <a:bodyPr wrap="square" lIns="0" tIns="0" rIns="0" bIns="0" anchor="ctr"/>
          <a:lstStyle/>
          <a:p>
            <a:pPr algn="ctr"/>
            <a:r>
              <a:rPr sz="1200" b="1">
                <a:solidFill>
                  <a:srgbClr val="1C1915"/>
                </a:solidFill>
                <a:latin typeface="Calibri"/>
              </a:rPr>
              <a:t>Roll-up</a:t>
            </a:r>
          </a:p>
        </p:txBody>
      </p:sp>
      <p:sp>
        <p:nvSpPr>
          <p:cNvPr id="32" name="Rounded Rectangle 31"/>
          <p:cNvSpPr/>
          <p:nvPr/>
        </p:nvSpPr>
        <p:spPr>
          <a:xfrm>
            <a:off x="8586214" y="5577840"/>
            <a:ext cx="1069848" cy="365760"/>
          </a:xfrm>
          <a:prstGeom prst="roundRect">
            <a:avLst>
              <a:gd name="adj" fmla="val 8000"/>
            </a:avLst>
          </a:prstGeom>
          <a:solidFill>
            <a:srgbClr val="FFFCF8"/>
          </a:solidFill>
          <a:ln w="12700">
            <a:solidFill>
              <a:srgbClr val="E4DD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8586214" y="5577840"/>
            <a:ext cx="1069848" cy="365760"/>
          </a:xfrm>
          <a:prstGeom prst="rect">
            <a:avLst/>
          </a:prstGeom>
          <a:noFill/>
        </p:spPr>
        <p:txBody>
          <a:bodyPr wrap="square" lIns="0" tIns="0" rIns="0" bIns="0" anchor="ctr"/>
          <a:lstStyle/>
          <a:p>
            <a:pPr algn="ctr"/>
            <a:r>
              <a:rPr sz="1200" b="1">
                <a:solidFill>
                  <a:srgbClr val="1C1915"/>
                </a:solidFill>
                <a:latin typeface="Calibri"/>
              </a:rPr>
              <a:t>Opinion</a:t>
            </a:r>
          </a:p>
        </p:txBody>
      </p:sp>
      <p:sp>
        <p:nvSpPr>
          <p:cNvPr id="34" name="Rounded Rectangle 33"/>
          <p:cNvSpPr/>
          <p:nvPr/>
        </p:nvSpPr>
        <p:spPr>
          <a:xfrm>
            <a:off x="9747502" y="5577840"/>
            <a:ext cx="1271016" cy="365760"/>
          </a:xfrm>
          <a:prstGeom prst="roundRect">
            <a:avLst>
              <a:gd name="adj" fmla="val 8000"/>
            </a:avLst>
          </a:prstGeom>
          <a:solidFill>
            <a:srgbClr val="FFFCF8"/>
          </a:solidFill>
          <a:ln w="12700">
            <a:solidFill>
              <a:srgbClr val="E4DD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9747502" y="5577840"/>
            <a:ext cx="1271016" cy="365760"/>
          </a:xfrm>
          <a:prstGeom prst="rect">
            <a:avLst/>
          </a:prstGeom>
          <a:noFill/>
        </p:spPr>
        <p:txBody>
          <a:bodyPr wrap="square" lIns="0" tIns="0" rIns="0" bIns="0" anchor="ctr"/>
          <a:lstStyle/>
          <a:p>
            <a:pPr algn="ctr"/>
            <a:r>
              <a:rPr sz="1200" b="1">
                <a:solidFill>
                  <a:srgbClr val="1C1915"/>
                </a:solidFill>
                <a:latin typeface="Calibri"/>
              </a:rPr>
              <a:t>Signature</a:t>
            </a:r>
          </a:p>
        </p:txBody>
      </p:sp>
      <p:sp>
        <p:nvSpPr>
          <p:cNvPr id="36" name="TextBox 35"/>
          <p:cNvSpPr txBox="1"/>
          <p:nvPr/>
        </p:nvSpPr>
        <p:spPr>
          <a:xfrm>
            <a:off x="411480" y="6510528"/>
            <a:ext cx="5486400" cy="256032"/>
          </a:xfrm>
          <a:prstGeom prst="rect">
            <a:avLst/>
          </a:prstGeom>
          <a:noFill/>
        </p:spPr>
        <p:txBody>
          <a:bodyPr wrap="square" lIns="0" tIns="0" rIns="0" bIns="0" anchor="t"/>
          <a:lstStyle/>
          <a:p>
            <a:pPr algn="l"/>
            <a:r>
              <a:rPr sz="1200" b="0">
                <a:solidFill>
                  <a:srgbClr val="5E584F"/>
                </a:solidFill>
                <a:latin typeface="Calibri"/>
              </a:rPr>
              <a:t>ELEC5620 · Group 16</a:t>
            </a:r>
          </a:p>
        </p:txBody>
      </p:sp>
      <p:sp>
        <p:nvSpPr>
          <p:cNvPr id="37" name="TextBox 36"/>
          <p:cNvSpPr txBox="1"/>
          <p:nvPr/>
        </p:nvSpPr>
        <p:spPr>
          <a:xfrm>
            <a:off x="9509760" y="6510528"/>
            <a:ext cx="2286000" cy="256032"/>
          </a:xfrm>
          <a:prstGeom prst="rect">
            <a:avLst/>
          </a:prstGeom>
          <a:noFill/>
        </p:spPr>
        <p:txBody>
          <a:bodyPr wrap="square" lIns="0" tIns="0" rIns="0" bIns="0" anchor="t"/>
          <a:lstStyle/>
          <a:p>
            <a:pPr algn="r"/>
            <a:r>
              <a:rPr sz="1200" b="0">
                <a:solidFill>
                  <a:srgbClr val="5E584F"/>
                </a:solidFill>
                <a:latin typeface="Calibri"/>
              </a:rPr>
              <a:t>13 / 39</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1B3048"/>
        </a:solidFill>
        <a:effectLst/>
      </p:bgPr>
    </p:bg>
    <p:spTree>
      <p:nvGrpSpPr>
        <p:cNvPr id="1" name=""/>
        <p:cNvGrpSpPr/>
        <p:nvPr/>
      </p:nvGrpSpPr>
      <p:grpSpPr>
        <a:xfrm>
          <a:off x="0" y="0"/>
          <a:ext cx="0" cy="0"/>
          <a:chOff x="0" y="0"/>
          <a:chExt cx="0" cy="0"/>
        </a:xfrm>
      </p:grpSpPr>
      <p:sp>
        <p:nvSpPr>
          <p:cNvPr id="2" name="TextBox 1"/>
          <p:cNvSpPr txBox="1"/>
          <p:nvPr/>
        </p:nvSpPr>
        <p:spPr>
          <a:xfrm>
            <a:off x="457200" y="347472"/>
            <a:ext cx="7315200" cy="274320"/>
          </a:xfrm>
          <a:prstGeom prst="rect">
            <a:avLst/>
          </a:prstGeom>
          <a:noFill/>
        </p:spPr>
        <p:txBody>
          <a:bodyPr wrap="square" lIns="0" tIns="0" rIns="0" bIns="0" anchor="t"/>
          <a:lstStyle/>
          <a:p>
            <a:pPr algn="l"/>
            <a:r>
              <a:rPr sz="1300" b="1">
                <a:solidFill>
                  <a:srgbClr val="C4A574"/>
                </a:solidFill>
                <a:latin typeface="Calibri"/>
              </a:rPr>
              <a:t>MEMBER B  ·  CLOSE</a:t>
            </a:r>
          </a:p>
        </p:txBody>
      </p:sp>
      <p:sp>
        <p:nvSpPr>
          <p:cNvPr id="3" name="TextBox 2"/>
          <p:cNvSpPr txBox="1"/>
          <p:nvPr/>
        </p:nvSpPr>
        <p:spPr>
          <a:xfrm>
            <a:off x="457200" y="777240"/>
            <a:ext cx="10972800" cy="502920"/>
          </a:xfrm>
          <a:prstGeom prst="rect">
            <a:avLst/>
          </a:prstGeom>
          <a:noFill/>
        </p:spPr>
        <p:txBody>
          <a:bodyPr wrap="square" lIns="0" tIns="0" rIns="0" bIns="0" anchor="t"/>
          <a:lstStyle/>
          <a:p>
            <a:pPr algn="l"/>
            <a:r>
              <a:rPr sz="3200" b="1">
                <a:solidFill>
                  <a:srgbClr val="F4EFE6"/>
                </a:solidFill>
                <a:latin typeface="Calibri"/>
              </a:rPr>
              <a:t>Three sentences to take away</a:t>
            </a:r>
          </a:p>
        </p:txBody>
      </p:sp>
      <p:sp>
        <p:nvSpPr>
          <p:cNvPr id="4" name="Rectangle 3"/>
          <p:cNvSpPr/>
          <p:nvPr/>
        </p:nvSpPr>
        <p:spPr>
          <a:xfrm>
            <a:off x="457200" y="1828800"/>
            <a:ext cx="3566160" cy="25400"/>
          </a:xfrm>
          <a:prstGeom prst="rect">
            <a:avLst/>
          </a:prstGeom>
          <a:solidFill>
            <a:srgbClr val="C4A5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2011680"/>
            <a:ext cx="3566160" cy="320040"/>
          </a:xfrm>
          <a:prstGeom prst="rect">
            <a:avLst/>
          </a:prstGeom>
          <a:noFill/>
        </p:spPr>
        <p:txBody>
          <a:bodyPr wrap="square" lIns="0" tIns="0" rIns="0" bIns="0" anchor="t"/>
          <a:lstStyle/>
          <a:p>
            <a:pPr algn="l"/>
            <a:r>
              <a:rPr sz="1400" b="1">
                <a:solidFill>
                  <a:srgbClr val="C4A574"/>
                </a:solidFill>
                <a:latin typeface="Calibri"/>
              </a:rPr>
              <a:t>01</a:t>
            </a:r>
          </a:p>
        </p:txBody>
      </p:sp>
      <p:sp>
        <p:nvSpPr>
          <p:cNvPr id="6" name="TextBox 5"/>
          <p:cNvSpPr txBox="1"/>
          <p:nvPr/>
        </p:nvSpPr>
        <p:spPr>
          <a:xfrm>
            <a:off x="457200" y="2377440"/>
            <a:ext cx="3566160" cy="1645920"/>
          </a:xfrm>
          <a:prstGeom prst="rect">
            <a:avLst/>
          </a:prstGeom>
          <a:noFill/>
        </p:spPr>
        <p:txBody>
          <a:bodyPr wrap="square" lIns="0" tIns="0" rIns="0" bIns="0" anchor="t"/>
          <a:lstStyle/>
          <a:p>
            <a:pPr algn="l"/>
            <a:r>
              <a:rPr sz="2000" b="0">
                <a:solidFill>
                  <a:srgbClr val="F4EFE6"/>
                </a:solidFill>
                <a:latin typeface="Calibri"/>
              </a:rPr>
              <a:t>The judgment stays with the person. Execution, traceability, and the block stay with the system.</a:t>
            </a:r>
          </a:p>
        </p:txBody>
      </p:sp>
      <p:sp>
        <p:nvSpPr>
          <p:cNvPr id="7" name="Rectangle 6"/>
          <p:cNvSpPr/>
          <p:nvPr/>
        </p:nvSpPr>
        <p:spPr>
          <a:xfrm>
            <a:off x="4297680" y="1828800"/>
            <a:ext cx="3566160" cy="25400"/>
          </a:xfrm>
          <a:prstGeom prst="rect">
            <a:avLst/>
          </a:prstGeom>
          <a:solidFill>
            <a:srgbClr val="C4A5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297680" y="2011680"/>
            <a:ext cx="3566160" cy="320040"/>
          </a:xfrm>
          <a:prstGeom prst="rect">
            <a:avLst/>
          </a:prstGeom>
          <a:noFill/>
        </p:spPr>
        <p:txBody>
          <a:bodyPr wrap="square" lIns="0" tIns="0" rIns="0" bIns="0" anchor="t"/>
          <a:lstStyle/>
          <a:p>
            <a:pPr algn="l"/>
            <a:r>
              <a:rPr sz="1400" b="1">
                <a:solidFill>
                  <a:srgbClr val="C4A574"/>
                </a:solidFill>
                <a:latin typeface="Calibri"/>
              </a:rPr>
              <a:t>02</a:t>
            </a:r>
          </a:p>
        </p:txBody>
      </p:sp>
      <p:sp>
        <p:nvSpPr>
          <p:cNvPr id="9" name="TextBox 8"/>
          <p:cNvSpPr txBox="1"/>
          <p:nvPr/>
        </p:nvSpPr>
        <p:spPr>
          <a:xfrm>
            <a:off x="4297680" y="2377440"/>
            <a:ext cx="3566160" cy="1645920"/>
          </a:xfrm>
          <a:prstGeom prst="rect">
            <a:avLst/>
          </a:prstGeom>
          <a:noFill/>
        </p:spPr>
        <p:txBody>
          <a:bodyPr wrap="square" lIns="0" tIns="0" rIns="0" bIns="0" anchor="t"/>
          <a:lstStyle/>
          <a:p>
            <a:pPr algn="l"/>
            <a:r>
              <a:rPr sz="2000" b="0">
                <a:solidFill>
                  <a:srgbClr val="F4EFE6"/>
                </a:solidFill>
                <a:latin typeface="Calibri"/>
              </a:rPr>
              <a:t>Ten agents collaborate by what they produce. The orchestrator is the only scheduler.</a:t>
            </a:r>
          </a:p>
        </p:txBody>
      </p:sp>
      <p:sp>
        <p:nvSpPr>
          <p:cNvPr id="10" name="Rectangle 9"/>
          <p:cNvSpPr/>
          <p:nvPr/>
        </p:nvSpPr>
        <p:spPr>
          <a:xfrm>
            <a:off x="8138160" y="1828800"/>
            <a:ext cx="3566160" cy="25400"/>
          </a:xfrm>
          <a:prstGeom prst="rect">
            <a:avLst/>
          </a:prstGeom>
          <a:solidFill>
            <a:srgbClr val="C4A5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138160" y="2011680"/>
            <a:ext cx="3566160" cy="320040"/>
          </a:xfrm>
          <a:prstGeom prst="rect">
            <a:avLst/>
          </a:prstGeom>
          <a:noFill/>
        </p:spPr>
        <p:txBody>
          <a:bodyPr wrap="square" lIns="0" tIns="0" rIns="0" bIns="0" anchor="t"/>
          <a:lstStyle/>
          <a:p>
            <a:pPr algn="l"/>
            <a:r>
              <a:rPr sz="1400" b="1">
                <a:solidFill>
                  <a:srgbClr val="C4A574"/>
                </a:solidFill>
                <a:latin typeface="Calibri"/>
              </a:rPr>
              <a:t>03</a:t>
            </a:r>
          </a:p>
        </p:txBody>
      </p:sp>
      <p:sp>
        <p:nvSpPr>
          <p:cNvPr id="12" name="TextBox 11"/>
          <p:cNvSpPr txBox="1"/>
          <p:nvPr/>
        </p:nvSpPr>
        <p:spPr>
          <a:xfrm>
            <a:off x="8138160" y="2377440"/>
            <a:ext cx="3566160" cy="1645920"/>
          </a:xfrm>
          <a:prstGeom prst="rect">
            <a:avLst/>
          </a:prstGeom>
          <a:noFill/>
        </p:spPr>
        <p:txBody>
          <a:bodyPr wrap="square" lIns="0" tIns="0" rIns="0" bIns="0" anchor="t"/>
          <a:lstStyle/>
          <a:p>
            <a:pPr algn="l"/>
            <a:r>
              <a:rPr sz="2000" b="0">
                <a:solidFill>
                  <a:srgbClr val="F4EFE6"/>
                </a:solidFill>
                <a:latin typeface="Calibri"/>
              </a:rPr>
              <a:t>The higher the risk, the lower the autonomy. Statutory procedures never move up.</a:t>
            </a:r>
          </a:p>
        </p:txBody>
      </p:sp>
      <p:sp>
        <p:nvSpPr>
          <p:cNvPr id="13" name="TextBox 12"/>
          <p:cNvSpPr txBox="1"/>
          <p:nvPr/>
        </p:nvSpPr>
        <p:spPr>
          <a:xfrm>
            <a:off x="457200" y="4572000"/>
            <a:ext cx="11247120" cy="457200"/>
          </a:xfrm>
          <a:prstGeom prst="rect">
            <a:avLst/>
          </a:prstGeom>
          <a:noFill/>
        </p:spPr>
        <p:txBody>
          <a:bodyPr wrap="square" lIns="0" tIns="0" rIns="0" bIns="0" anchor="t"/>
          <a:lstStyle/>
          <a:p>
            <a:pPr algn="ctr"/>
            <a:r>
              <a:rPr sz="2000" b="0" dirty="0">
                <a:solidFill>
                  <a:srgbClr val="DDD4C6"/>
                </a:solidFill>
                <a:latin typeface="Calibri"/>
              </a:rPr>
              <a:t>Thank you</a:t>
            </a:r>
            <a:r>
              <a:rPr lang="zh-CN" altLang="en-US" sz="2000" b="0" dirty="0">
                <a:solidFill>
                  <a:srgbClr val="DDD4C6"/>
                </a:solidFill>
                <a:latin typeface="Calibri"/>
              </a:rPr>
              <a:t>！</a:t>
            </a:r>
            <a:endParaRPr sz="2000" b="0" dirty="0">
              <a:solidFill>
                <a:srgbClr val="DDD4C6"/>
              </a:solidFill>
              <a:latin typeface="Calibri"/>
            </a:endParaRPr>
          </a:p>
        </p:txBody>
      </p:sp>
      <p:sp>
        <p:nvSpPr>
          <p:cNvPr id="14" name="TextBox 13"/>
          <p:cNvSpPr txBox="1"/>
          <p:nvPr/>
        </p:nvSpPr>
        <p:spPr>
          <a:xfrm>
            <a:off x="411480" y="6510528"/>
            <a:ext cx="5486400" cy="256032"/>
          </a:xfrm>
          <a:prstGeom prst="rect">
            <a:avLst/>
          </a:prstGeom>
          <a:noFill/>
        </p:spPr>
        <p:txBody>
          <a:bodyPr wrap="square" lIns="0" tIns="0" rIns="0" bIns="0" anchor="t"/>
          <a:lstStyle/>
          <a:p>
            <a:pPr algn="l"/>
            <a:r>
              <a:rPr sz="1200" b="0">
                <a:solidFill>
                  <a:srgbClr val="B7AD9F"/>
                </a:solidFill>
                <a:latin typeface="Calibri"/>
              </a:rPr>
              <a:t>ELEC5620 · Group 16</a:t>
            </a:r>
          </a:p>
        </p:txBody>
      </p:sp>
      <p:sp>
        <p:nvSpPr>
          <p:cNvPr id="15" name="TextBox 14"/>
          <p:cNvSpPr txBox="1"/>
          <p:nvPr/>
        </p:nvSpPr>
        <p:spPr>
          <a:xfrm>
            <a:off x="9509760" y="6510528"/>
            <a:ext cx="2286000" cy="256032"/>
          </a:xfrm>
          <a:prstGeom prst="rect">
            <a:avLst/>
          </a:prstGeom>
          <a:noFill/>
        </p:spPr>
        <p:txBody>
          <a:bodyPr wrap="square" lIns="0" tIns="0" rIns="0" bIns="0" anchor="t"/>
          <a:lstStyle/>
          <a:p>
            <a:pPr algn="r"/>
            <a:r>
              <a:rPr sz="1200" b="0">
                <a:solidFill>
                  <a:srgbClr val="B7AD9F"/>
                </a:solidFill>
                <a:latin typeface="Calibri"/>
              </a:rPr>
              <a:t>14 / 39</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1B3048"/>
        </a:solidFill>
        <a:effectLst/>
      </p:bgPr>
    </p:bg>
    <p:spTree>
      <p:nvGrpSpPr>
        <p:cNvPr id="1" name=""/>
        <p:cNvGrpSpPr/>
        <p:nvPr/>
      </p:nvGrpSpPr>
      <p:grpSpPr>
        <a:xfrm>
          <a:off x="0" y="0"/>
          <a:ext cx="0" cy="0"/>
          <a:chOff x="0" y="0"/>
          <a:chExt cx="0" cy="0"/>
        </a:xfrm>
      </p:grpSpPr>
      <p:sp>
        <p:nvSpPr>
          <p:cNvPr id="2" name="TextBox 1"/>
          <p:cNvSpPr txBox="1"/>
          <p:nvPr/>
        </p:nvSpPr>
        <p:spPr>
          <a:xfrm>
            <a:off x="457200" y="2194560"/>
            <a:ext cx="11247120" cy="365760"/>
          </a:xfrm>
          <a:prstGeom prst="rect">
            <a:avLst/>
          </a:prstGeom>
          <a:noFill/>
        </p:spPr>
        <p:txBody>
          <a:bodyPr wrap="square" lIns="0" tIns="0" rIns="0" bIns="0" anchor="t"/>
          <a:lstStyle/>
          <a:p>
            <a:pPr algn="ctr"/>
            <a:r>
              <a:rPr sz="1400" b="1">
                <a:solidFill>
                  <a:srgbClr val="C4A574"/>
                </a:solidFill>
                <a:latin typeface="Calibri"/>
              </a:rPr>
              <a:t>APPENDIX</a:t>
            </a:r>
          </a:p>
        </p:txBody>
      </p:sp>
      <p:sp>
        <p:nvSpPr>
          <p:cNvPr id="3" name="TextBox 2"/>
          <p:cNvSpPr txBox="1"/>
          <p:nvPr/>
        </p:nvSpPr>
        <p:spPr>
          <a:xfrm>
            <a:off x="457200" y="2606040"/>
            <a:ext cx="11247120" cy="640080"/>
          </a:xfrm>
          <a:prstGeom prst="rect">
            <a:avLst/>
          </a:prstGeom>
          <a:noFill/>
        </p:spPr>
        <p:txBody>
          <a:bodyPr wrap="square" lIns="0" tIns="0" rIns="0" bIns="0" anchor="t"/>
          <a:lstStyle/>
          <a:p>
            <a:pPr algn="ctr"/>
            <a:r>
              <a:rPr sz="4000" b="1">
                <a:solidFill>
                  <a:srgbClr val="F4EFE6"/>
                </a:solidFill>
                <a:latin typeface="Calibri"/>
              </a:rPr>
              <a:t>Design figures</a:t>
            </a:r>
          </a:p>
        </p:txBody>
      </p:sp>
      <p:sp>
        <p:nvSpPr>
          <p:cNvPr id="4" name="TextBox 3"/>
          <p:cNvSpPr txBox="1"/>
          <p:nvPr/>
        </p:nvSpPr>
        <p:spPr>
          <a:xfrm>
            <a:off x="1371600" y="3383280"/>
            <a:ext cx="9418320" cy="731520"/>
          </a:xfrm>
          <a:prstGeom prst="rect">
            <a:avLst/>
          </a:prstGeom>
          <a:noFill/>
        </p:spPr>
        <p:txBody>
          <a:bodyPr wrap="square" lIns="0" tIns="0" rIns="0" bIns="0" anchor="t"/>
          <a:lstStyle/>
          <a:p>
            <a:pPr algn="ctr"/>
            <a:r>
              <a:rPr sz="1800" b="0" dirty="0">
                <a:solidFill>
                  <a:srgbClr val="DDD4C6"/>
                </a:solidFill>
                <a:latin typeface="Calibri"/>
              </a:rPr>
              <a:t>One slide per figure in docs/diagrams. Open the linked .</a:t>
            </a:r>
            <a:r>
              <a:rPr sz="1800" b="0" dirty="0" err="1">
                <a:solidFill>
                  <a:srgbClr val="DDD4C6"/>
                </a:solidFill>
                <a:latin typeface="Calibri"/>
              </a:rPr>
              <a:t>puml</a:t>
            </a:r>
            <a:r>
              <a:rPr sz="1800" b="0" dirty="0">
                <a:solidFill>
                  <a:srgbClr val="DDD4C6"/>
                </a:solidFill>
                <a:latin typeface="Calibri"/>
              </a:rPr>
              <a:t> to read labels that are small on the slide.</a:t>
            </a:r>
          </a:p>
        </p:txBody>
      </p:sp>
      <p:sp>
        <p:nvSpPr>
          <p:cNvPr id="5" name="TextBox 4"/>
          <p:cNvSpPr txBox="1"/>
          <p:nvPr/>
        </p:nvSpPr>
        <p:spPr>
          <a:xfrm>
            <a:off x="411480" y="6510528"/>
            <a:ext cx="5486400" cy="256032"/>
          </a:xfrm>
          <a:prstGeom prst="rect">
            <a:avLst/>
          </a:prstGeom>
          <a:noFill/>
        </p:spPr>
        <p:txBody>
          <a:bodyPr wrap="square" lIns="0" tIns="0" rIns="0" bIns="0" anchor="t"/>
          <a:lstStyle/>
          <a:p>
            <a:pPr algn="l"/>
            <a:r>
              <a:rPr sz="1200" b="0">
                <a:solidFill>
                  <a:srgbClr val="B7AD9F"/>
                </a:solidFill>
                <a:latin typeface="Calibri"/>
              </a:rPr>
              <a:t>ELEC5620 · Group 16</a:t>
            </a:r>
          </a:p>
        </p:txBody>
      </p:sp>
      <p:sp>
        <p:nvSpPr>
          <p:cNvPr id="6" name="TextBox 5"/>
          <p:cNvSpPr txBox="1"/>
          <p:nvPr/>
        </p:nvSpPr>
        <p:spPr>
          <a:xfrm>
            <a:off x="9509760" y="6510528"/>
            <a:ext cx="2286000" cy="256032"/>
          </a:xfrm>
          <a:prstGeom prst="rect">
            <a:avLst/>
          </a:prstGeom>
          <a:noFill/>
        </p:spPr>
        <p:txBody>
          <a:bodyPr wrap="square" lIns="0" tIns="0" rIns="0" bIns="0" anchor="t"/>
          <a:lstStyle/>
          <a:p>
            <a:pPr algn="r"/>
            <a:r>
              <a:rPr sz="1200" b="0" dirty="0">
                <a:solidFill>
                  <a:srgbClr val="B7AD9F"/>
                </a:solidFill>
                <a:latin typeface="Calibri"/>
              </a:rPr>
              <a:t>15 / 39</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7F4EE"/>
        </a:solidFill>
        <a:effectLst/>
      </p:bgPr>
    </p:bg>
    <p:spTree>
      <p:nvGrpSpPr>
        <p:cNvPr id="1" name=""/>
        <p:cNvGrpSpPr/>
        <p:nvPr/>
      </p:nvGrpSpPr>
      <p:grpSpPr>
        <a:xfrm>
          <a:off x="0" y="0"/>
          <a:ext cx="0" cy="0"/>
          <a:chOff x="0" y="0"/>
          <a:chExt cx="0" cy="0"/>
        </a:xfrm>
      </p:grpSpPr>
      <p:sp>
        <p:nvSpPr>
          <p:cNvPr id="2" name="TextBox 1"/>
          <p:cNvSpPr txBox="1"/>
          <p:nvPr/>
        </p:nvSpPr>
        <p:spPr>
          <a:xfrm>
            <a:off x="365760" y="164592"/>
            <a:ext cx="2011680" cy="256032"/>
          </a:xfrm>
          <a:prstGeom prst="rect">
            <a:avLst/>
          </a:prstGeom>
          <a:noFill/>
        </p:spPr>
        <p:txBody>
          <a:bodyPr wrap="square" lIns="0" tIns="0" rIns="0" bIns="0" anchor="t"/>
          <a:lstStyle/>
          <a:p>
            <a:pPr algn="l"/>
            <a:r>
              <a:rPr sz="1200" b="1">
                <a:solidFill>
                  <a:srgbClr val="0F5E5A"/>
                </a:solidFill>
                <a:latin typeface="Calibri"/>
              </a:rPr>
              <a:t>FIGURE 1A</a:t>
            </a:r>
          </a:p>
        </p:txBody>
      </p:sp>
      <p:sp>
        <p:nvSpPr>
          <p:cNvPr id="3" name="TextBox 2"/>
          <p:cNvSpPr txBox="1"/>
          <p:nvPr/>
        </p:nvSpPr>
        <p:spPr>
          <a:xfrm>
            <a:off x="2286000" y="128016"/>
            <a:ext cx="9509760" cy="329184"/>
          </a:xfrm>
          <a:prstGeom prst="rect">
            <a:avLst/>
          </a:prstGeom>
          <a:noFill/>
        </p:spPr>
        <p:txBody>
          <a:bodyPr wrap="square" lIns="0" tIns="0" rIns="0" bIns="0" anchor="t"/>
          <a:lstStyle/>
          <a:p>
            <a:pPr algn="l"/>
            <a:r>
              <a:rPr sz="1800" b="1">
                <a:solidFill>
                  <a:srgbClr val="1C1915"/>
                </a:solidFill>
                <a:latin typeface="Calibri"/>
              </a:rPr>
              <a:t>Class diagram — domain model</a:t>
            </a:r>
          </a:p>
        </p:txBody>
      </p:sp>
      <p:pic>
        <p:nvPicPr>
          <p:cNvPr id="4" name="Picture 3" descr="class_domain.png"/>
          <p:cNvPicPr>
            <a:picLocks noChangeAspect="1"/>
          </p:cNvPicPr>
          <p:nvPr/>
        </p:nvPicPr>
        <p:blipFill>
          <a:blip r:embed="rId3"/>
          <a:stretch>
            <a:fillRect/>
          </a:stretch>
        </p:blipFill>
        <p:spPr>
          <a:xfrm>
            <a:off x="3056258" y="530352"/>
            <a:ext cx="6049004" cy="5623560"/>
          </a:xfrm>
          <a:prstGeom prst="rect">
            <a:avLst/>
          </a:prstGeom>
        </p:spPr>
      </p:pic>
      <p:sp>
        <p:nvSpPr>
          <p:cNvPr id="5" name="TextBox 4"/>
          <p:cNvSpPr txBox="1"/>
          <p:nvPr/>
        </p:nvSpPr>
        <p:spPr>
          <a:xfrm>
            <a:off x="365760" y="6199632"/>
            <a:ext cx="11430000" cy="292608"/>
          </a:xfrm>
          <a:prstGeom prst="rect">
            <a:avLst/>
          </a:prstGeom>
          <a:noFill/>
        </p:spPr>
        <p:txBody>
          <a:bodyPr wrap="square" lIns="0" tIns="0" rIns="0" bIns="0" anchor="t"/>
          <a:lstStyle/>
          <a:p>
            <a:pPr algn="l"/>
            <a:r>
              <a:rPr sz="1200" b="0">
                <a:solidFill>
                  <a:srgbClr val="5E584F"/>
                </a:solidFill>
                <a:latin typeface="Calibri"/>
              </a:rPr>
              <a:t>Source (group access)  </a:t>
            </a:r>
            <a:r>
              <a:rPr sz="1200" b="1" u="sng">
                <a:solidFill>
                  <a:srgbClr val="0F5E5A"/>
                </a:solidFill>
                <a:latin typeface="Calibri"/>
                <a:hlinkClick r:id="rId4"/>
              </a:rPr>
              <a:t>docs/diagrams/class_domain.puml</a:t>
            </a:r>
          </a:p>
        </p:txBody>
      </p:sp>
      <p:sp>
        <p:nvSpPr>
          <p:cNvPr id="6" name="TextBox 5"/>
          <p:cNvSpPr txBox="1"/>
          <p:nvPr/>
        </p:nvSpPr>
        <p:spPr>
          <a:xfrm>
            <a:off x="411480" y="6510528"/>
            <a:ext cx="5486400" cy="256032"/>
          </a:xfrm>
          <a:prstGeom prst="rect">
            <a:avLst/>
          </a:prstGeom>
          <a:noFill/>
        </p:spPr>
        <p:txBody>
          <a:bodyPr wrap="square" lIns="0" tIns="0" rIns="0" bIns="0" anchor="t"/>
          <a:lstStyle/>
          <a:p>
            <a:pPr algn="l"/>
            <a:r>
              <a:rPr sz="1200" b="0">
                <a:solidFill>
                  <a:srgbClr val="5E584F"/>
                </a:solidFill>
                <a:latin typeface="Calibri"/>
              </a:rPr>
              <a:t>ELEC5620 · Group 16</a:t>
            </a:r>
          </a:p>
        </p:txBody>
      </p:sp>
      <p:sp>
        <p:nvSpPr>
          <p:cNvPr id="7" name="TextBox 6"/>
          <p:cNvSpPr txBox="1"/>
          <p:nvPr/>
        </p:nvSpPr>
        <p:spPr>
          <a:xfrm>
            <a:off x="9509760" y="6510528"/>
            <a:ext cx="2286000" cy="256032"/>
          </a:xfrm>
          <a:prstGeom prst="rect">
            <a:avLst/>
          </a:prstGeom>
          <a:noFill/>
        </p:spPr>
        <p:txBody>
          <a:bodyPr wrap="square" lIns="0" tIns="0" rIns="0" bIns="0" anchor="t"/>
          <a:lstStyle/>
          <a:p>
            <a:pPr algn="r"/>
            <a:r>
              <a:rPr sz="1200" b="0">
                <a:solidFill>
                  <a:srgbClr val="5E584F"/>
                </a:solidFill>
                <a:latin typeface="Calibri"/>
              </a:rPr>
              <a:t>16 / 39</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7F4EE"/>
        </a:solidFill>
        <a:effectLst/>
      </p:bgPr>
    </p:bg>
    <p:spTree>
      <p:nvGrpSpPr>
        <p:cNvPr id="1" name=""/>
        <p:cNvGrpSpPr/>
        <p:nvPr/>
      </p:nvGrpSpPr>
      <p:grpSpPr>
        <a:xfrm>
          <a:off x="0" y="0"/>
          <a:ext cx="0" cy="0"/>
          <a:chOff x="0" y="0"/>
          <a:chExt cx="0" cy="0"/>
        </a:xfrm>
      </p:grpSpPr>
      <p:sp>
        <p:nvSpPr>
          <p:cNvPr id="2" name="TextBox 1"/>
          <p:cNvSpPr txBox="1"/>
          <p:nvPr/>
        </p:nvSpPr>
        <p:spPr>
          <a:xfrm>
            <a:off x="365760" y="164592"/>
            <a:ext cx="2011680" cy="256032"/>
          </a:xfrm>
          <a:prstGeom prst="rect">
            <a:avLst/>
          </a:prstGeom>
          <a:noFill/>
        </p:spPr>
        <p:txBody>
          <a:bodyPr wrap="square" lIns="0" tIns="0" rIns="0" bIns="0" anchor="t"/>
          <a:lstStyle/>
          <a:p>
            <a:pPr algn="l"/>
            <a:r>
              <a:rPr sz="1200" b="1">
                <a:solidFill>
                  <a:srgbClr val="0F5E5A"/>
                </a:solidFill>
                <a:latin typeface="Calibri"/>
              </a:rPr>
              <a:t>FIGURE 1B</a:t>
            </a:r>
          </a:p>
        </p:txBody>
      </p:sp>
      <p:sp>
        <p:nvSpPr>
          <p:cNvPr id="3" name="TextBox 2"/>
          <p:cNvSpPr txBox="1"/>
          <p:nvPr/>
        </p:nvSpPr>
        <p:spPr>
          <a:xfrm>
            <a:off x="2286000" y="128016"/>
            <a:ext cx="9509760" cy="329184"/>
          </a:xfrm>
          <a:prstGeom prst="rect">
            <a:avLst/>
          </a:prstGeom>
          <a:noFill/>
        </p:spPr>
        <p:txBody>
          <a:bodyPr wrap="square" lIns="0" tIns="0" rIns="0" bIns="0" anchor="t"/>
          <a:lstStyle/>
          <a:p>
            <a:pPr algn="l"/>
            <a:r>
              <a:rPr sz="1800" b="1">
                <a:solidFill>
                  <a:srgbClr val="1C1915"/>
                </a:solidFill>
                <a:latin typeface="Calibri"/>
              </a:rPr>
              <a:t>Class diagram — agents, services, and contracts</a:t>
            </a:r>
          </a:p>
        </p:txBody>
      </p:sp>
      <p:pic>
        <p:nvPicPr>
          <p:cNvPr id="4" name="Picture 3" descr="class_agents.png"/>
          <p:cNvPicPr>
            <a:picLocks noChangeAspect="1"/>
          </p:cNvPicPr>
          <p:nvPr/>
        </p:nvPicPr>
        <p:blipFill>
          <a:blip r:embed="rId3"/>
          <a:stretch>
            <a:fillRect/>
          </a:stretch>
        </p:blipFill>
        <p:spPr>
          <a:xfrm>
            <a:off x="3136194" y="530352"/>
            <a:ext cx="5889131" cy="5623560"/>
          </a:xfrm>
          <a:prstGeom prst="rect">
            <a:avLst/>
          </a:prstGeom>
        </p:spPr>
      </p:pic>
      <p:sp>
        <p:nvSpPr>
          <p:cNvPr id="5" name="TextBox 4"/>
          <p:cNvSpPr txBox="1"/>
          <p:nvPr/>
        </p:nvSpPr>
        <p:spPr>
          <a:xfrm>
            <a:off x="365760" y="6199632"/>
            <a:ext cx="11430000" cy="292608"/>
          </a:xfrm>
          <a:prstGeom prst="rect">
            <a:avLst/>
          </a:prstGeom>
          <a:noFill/>
        </p:spPr>
        <p:txBody>
          <a:bodyPr wrap="square" lIns="0" tIns="0" rIns="0" bIns="0" anchor="t"/>
          <a:lstStyle/>
          <a:p>
            <a:pPr algn="l"/>
            <a:r>
              <a:rPr sz="1200" b="0">
                <a:solidFill>
                  <a:srgbClr val="5E584F"/>
                </a:solidFill>
                <a:latin typeface="Calibri"/>
              </a:rPr>
              <a:t>Source (group access)  </a:t>
            </a:r>
            <a:r>
              <a:rPr sz="1200" b="1" u="sng">
                <a:solidFill>
                  <a:srgbClr val="0F5E5A"/>
                </a:solidFill>
                <a:latin typeface="Calibri"/>
                <a:hlinkClick r:id="rId4"/>
              </a:rPr>
              <a:t>docs/diagrams/class_agents.puml</a:t>
            </a:r>
          </a:p>
        </p:txBody>
      </p:sp>
      <p:sp>
        <p:nvSpPr>
          <p:cNvPr id="6" name="TextBox 5"/>
          <p:cNvSpPr txBox="1"/>
          <p:nvPr/>
        </p:nvSpPr>
        <p:spPr>
          <a:xfrm>
            <a:off x="411480" y="6510528"/>
            <a:ext cx="5486400" cy="256032"/>
          </a:xfrm>
          <a:prstGeom prst="rect">
            <a:avLst/>
          </a:prstGeom>
          <a:noFill/>
        </p:spPr>
        <p:txBody>
          <a:bodyPr wrap="square" lIns="0" tIns="0" rIns="0" bIns="0" anchor="t"/>
          <a:lstStyle/>
          <a:p>
            <a:pPr algn="l"/>
            <a:r>
              <a:rPr sz="1200" b="0">
                <a:solidFill>
                  <a:srgbClr val="5E584F"/>
                </a:solidFill>
                <a:latin typeface="Calibri"/>
              </a:rPr>
              <a:t>ELEC5620 · Group 16</a:t>
            </a:r>
          </a:p>
        </p:txBody>
      </p:sp>
      <p:sp>
        <p:nvSpPr>
          <p:cNvPr id="7" name="TextBox 6"/>
          <p:cNvSpPr txBox="1"/>
          <p:nvPr/>
        </p:nvSpPr>
        <p:spPr>
          <a:xfrm>
            <a:off x="9509760" y="6510528"/>
            <a:ext cx="2286000" cy="256032"/>
          </a:xfrm>
          <a:prstGeom prst="rect">
            <a:avLst/>
          </a:prstGeom>
          <a:noFill/>
        </p:spPr>
        <p:txBody>
          <a:bodyPr wrap="square" lIns="0" tIns="0" rIns="0" bIns="0" anchor="t"/>
          <a:lstStyle/>
          <a:p>
            <a:pPr algn="r"/>
            <a:r>
              <a:rPr sz="1200" b="0">
                <a:solidFill>
                  <a:srgbClr val="5E584F"/>
                </a:solidFill>
                <a:latin typeface="Calibri"/>
              </a:rPr>
              <a:t>17 / 39</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7F4EE"/>
        </a:solidFill>
        <a:effectLst/>
      </p:bgPr>
    </p:bg>
    <p:spTree>
      <p:nvGrpSpPr>
        <p:cNvPr id="1" name=""/>
        <p:cNvGrpSpPr/>
        <p:nvPr/>
      </p:nvGrpSpPr>
      <p:grpSpPr>
        <a:xfrm>
          <a:off x="0" y="0"/>
          <a:ext cx="0" cy="0"/>
          <a:chOff x="0" y="0"/>
          <a:chExt cx="0" cy="0"/>
        </a:xfrm>
      </p:grpSpPr>
      <p:sp>
        <p:nvSpPr>
          <p:cNvPr id="2" name="TextBox 1"/>
          <p:cNvSpPr txBox="1"/>
          <p:nvPr/>
        </p:nvSpPr>
        <p:spPr>
          <a:xfrm>
            <a:off x="365760" y="164592"/>
            <a:ext cx="2011680" cy="256032"/>
          </a:xfrm>
          <a:prstGeom prst="rect">
            <a:avLst/>
          </a:prstGeom>
          <a:noFill/>
        </p:spPr>
        <p:txBody>
          <a:bodyPr wrap="square" lIns="0" tIns="0" rIns="0" bIns="0" anchor="t"/>
          <a:lstStyle/>
          <a:p>
            <a:pPr algn="l"/>
            <a:r>
              <a:rPr sz="1200" b="1">
                <a:solidFill>
                  <a:srgbClr val="0F5E5A"/>
                </a:solidFill>
                <a:latin typeface="Calibri"/>
              </a:rPr>
              <a:t>FIGURE 2</a:t>
            </a:r>
          </a:p>
        </p:txBody>
      </p:sp>
      <p:sp>
        <p:nvSpPr>
          <p:cNvPr id="3" name="TextBox 2"/>
          <p:cNvSpPr txBox="1"/>
          <p:nvPr/>
        </p:nvSpPr>
        <p:spPr>
          <a:xfrm>
            <a:off x="2286000" y="128016"/>
            <a:ext cx="9509760" cy="329184"/>
          </a:xfrm>
          <a:prstGeom prst="rect">
            <a:avLst/>
          </a:prstGeom>
          <a:noFill/>
        </p:spPr>
        <p:txBody>
          <a:bodyPr wrap="square" lIns="0" tIns="0" rIns="0" bIns="0" anchor="t"/>
          <a:lstStyle/>
          <a:p>
            <a:pPr algn="l"/>
            <a:r>
              <a:rPr sz="1800" b="1">
                <a:solidFill>
                  <a:srgbClr val="1C1915"/>
                </a:solidFill>
                <a:latin typeface="Calibri"/>
              </a:rPr>
              <a:t>Package diagram — modules and contracts</a:t>
            </a:r>
          </a:p>
        </p:txBody>
      </p:sp>
      <p:pic>
        <p:nvPicPr>
          <p:cNvPr id="4" name="Picture 3" descr="package.png"/>
          <p:cNvPicPr>
            <a:picLocks noChangeAspect="1"/>
          </p:cNvPicPr>
          <p:nvPr/>
        </p:nvPicPr>
        <p:blipFill>
          <a:blip r:embed="rId3"/>
          <a:stretch>
            <a:fillRect/>
          </a:stretch>
        </p:blipFill>
        <p:spPr>
          <a:xfrm>
            <a:off x="2462023" y="530352"/>
            <a:ext cx="7237474" cy="5623560"/>
          </a:xfrm>
          <a:prstGeom prst="rect">
            <a:avLst/>
          </a:prstGeom>
        </p:spPr>
      </p:pic>
      <p:sp>
        <p:nvSpPr>
          <p:cNvPr id="5" name="TextBox 4"/>
          <p:cNvSpPr txBox="1"/>
          <p:nvPr/>
        </p:nvSpPr>
        <p:spPr>
          <a:xfrm>
            <a:off x="365760" y="6199632"/>
            <a:ext cx="11430000" cy="292608"/>
          </a:xfrm>
          <a:prstGeom prst="rect">
            <a:avLst/>
          </a:prstGeom>
          <a:noFill/>
        </p:spPr>
        <p:txBody>
          <a:bodyPr wrap="square" lIns="0" tIns="0" rIns="0" bIns="0" anchor="t"/>
          <a:lstStyle/>
          <a:p>
            <a:pPr algn="l"/>
            <a:r>
              <a:rPr sz="1200" b="0">
                <a:solidFill>
                  <a:srgbClr val="5E584F"/>
                </a:solidFill>
                <a:latin typeface="Calibri"/>
              </a:rPr>
              <a:t>Source (group access)  </a:t>
            </a:r>
            <a:r>
              <a:rPr sz="1200" b="1" u="sng">
                <a:solidFill>
                  <a:srgbClr val="0F5E5A"/>
                </a:solidFill>
                <a:latin typeface="Calibri"/>
                <a:hlinkClick r:id="rId4"/>
              </a:rPr>
              <a:t>docs/diagrams/package.puml</a:t>
            </a:r>
          </a:p>
        </p:txBody>
      </p:sp>
      <p:sp>
        <p:nvSpPr>
          <p:cNvPr id="6" name="TextBox 5"/>
          <p:cNvSpPr txBox="1"/>
          <p:nvPr/>
        </p:nvSpPr>
        <p:spPr>
          <a:xfrm>
            <a:off x="411480" y="6510528"/>
            <a:ext cx="5486400" cy="256032"/>
          </a:xfrm>
          <a:prstGeom prst="rect">
            <a:avLst/>
          </a:prstGeom>
          <a:noFill/>
        </p:spPr>
        <p:txBody>
          <a:bodyPr wrap="square" lIns="0" tIns="0" rIns="0" bIns="0" anchor="t"/>
          <a:lstStyle/>
          <a:p>
            <a:pPr algn="l"/>
            <a:r>
              <a:rPr sz="1200" b="0">
                <a:solidFill>
                  <a:srgbClr val="5E584F"/>
                </a:solidFill>
                <a:latin typeface="Calibri"/>
              </a:rPr>
              <a:t>ELEC5620 · Group 16</a:t>
            </a:r>
          </a:p>
        </p:txBody>
      </p:sp>
      <p:sp>
        <p:nvSpPr>
          <p:cNvPr id="7" name="TextBox 6"/>
          <p:cNvSpPr txBox="1"/>
          <p:nvPr/>
        </p:nvSpPr>
        <p:spPr>
          <a:xfrm>
            <a:off x="9509760" y="6510528"/>
            <a:ext cx="2286000" cy="256032"/>
          </a:xfrm>
          <a:prstGeom prst="rect">
            <a:avLst/>
          </a:prstGeom>
          <a:noFill/>
        </p:spPr>
        <p:txBody>
          <a:bodyPr wrap="square" lIns="0" tIns="0" rIns="0" bIns="0" anchor="t"/>
          <a:lstStyle/>
          <a:p>
            <a:pPr algn="r"/>
            <a:r>
              <a:rPr sz="1200" b="0">
                <a:solidFill>
                  <a:srgbClr val="5E584F"/>
                </a:solidFill>
                <a:latin typeface="Calibri"/>
              </a:rPr>
              <a:t>18 / 39</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7F4EE"/>
        </a:solidFill>
        <a:effectLst/>
      </p:bgPr>
    </p:bg>
    <p:spTree>
      <p:nvGrpSpPr>
        <p:cNvPr id="1" name=""/>
        <p:cNvGrpSpPr/>
        <p:nvPr/>
      </p:nvGrpSpPr>
      <p:grpSpPr>
        <a:xfrm>
          <a:off x="0" y="0"/>
          <a:ext cx="0" cy="0"/>
          <a:chOff x="0" y="0"/>
          <a:chExt cx="0" cy="0"/>
        </a:xfrm>
      </p:grpSpPr>
      <p:sp>
        <p:nvSpPr>
          <p:cNvPr id="2" name="TextBox 1"/>
          <p:cNvSpPr txBox="1"/>
          <p:nvPr/>
        </p:nvSpPr>
        <p:spPr>
          <a:xfrm>
            <a:off x="365760" y="164592"/>
            <a:ext cx="2011680" cy="256032"/>
          </a:xfrm>
          <a:prstGeom prst="rect">
            <a:avLst/>
          </a:prstGeom>
          <a:noFill/>
        </p:spPr>
        <p:txBody>
          <a:bodyPr wrap="square" lIns="0" tIns="0" rIns="0" bIns="0" anchor="t"/>
          <a:lstStyle/>
          <a:p>
            <a:pPr algn="l"/>
            <a:r>
              <a:rPr sz="1200" b="1">
                <a:solidFill>
                  <a:srgbClr val="0F5E5A"/>
                </a:solidFill>
                <a:latin typeface="Calibri"/>
              </a:rPr>
              <a:t>FIGURE 3A</a:t>
            </a:r>
          </a:p>
        </p:txBody>
      </p:sp>
      <p:sp>
        <p:nvSpPr>
          <p:cNvPr id="3" name="TextBox 2"/>
          <p:cNvSpPr txBox="1"/>
          <p:nvPr/>
        </p:nvSpPr>
        <p:spPr>
          <a:xfrm>
            <a:off x="2286000" y="128016"/>
            <a:ext cx="9509760" cy="329184"/>
          </a:xfrm>
          <a:prstGeom prst="rect">
            <a:avLst/>
          </a:prstGeom>
          <a:noFill/>
        </p:spPr>
        <p:txBody>
          <a:bodyPr wrap="square" lIns="0" tIns="0" rIns="0" bIns="0" anchor="t"/>
          <a:lstStyle/>
          <a:p>
            <a:pPr algn="l"/>
            <a:r>
              <a:rPr sz="1800" b="1">
                <a:solidFill>
                  <a:srgbClr val="1C1915"/>
                </a:solidFill>
                <a:latin typeface="Calibri"/>
              </a:rPr>
              <a:t>State machine — engagement lifecycle</a:t>
            </a:r>
          </a:p>
        </p:txBody>
      </p:sp>
      <p:pic>
        <p:nvPicPr>
          <p:cNvPr id="4" name="Picture 3" descr="state_main.png"/>
          <p:cNvPicPr>
            <a:picLocks noChangeAspect="1"/>
          </p:cNvPicPr>
          <p:nvPr/>
        </p:nvPicPr>
        <p:blipFill>
          <a:blip r:embed="rId3"/>
          <a:stretch>
            <a:fillRect/>
          </a:stretch>
        </p:blipFill>
        <p:spPr>
          <a:xfrm>
            <a:off x="1351925" y="530352"/>
            <a:ext cx="9457670" cy="5623560"/>
          </a:xfrm>
          <a:prstGeom prst="rect">
            <a:avLst/>
          </a:prstGeom>
        </p:spPr>
      </p:pic>
      <p:sp>
        <p:nvSpPr>
          <p:cNvPr id="5" name="TextBox 4"/>
          <p:cNvSpPr txBox="1"/>
          <p:nvPr/>
        </p:nvSpPr>
        <p:spPr>
          <a:xfrm>
            <a:off x="365760" y="6199632"/>
            <a:ext cx="11430000" cy="292608"/>
          </a:xfrm>
          <a:prstGeom prst="rect">
            <a:avLst/>
          </a:prstGeom>
          <a:noFill/>
        </p:spPr>
        <p:txBody>
          <a:bodyPr wrap="square" lIns="0" tIns="0" rIns="0" bIns="0" anchor="t"/>
          <a:lstStyle/>
          <a:p>
            <a:pPr algn="l"/>
            <a:r>
              <a:rPr sz="1200" b="0">
                <a:solidFill>
                  <a:srgbClr val="5E584F"/>
                </a:solidFill>
                <a:latin typeface="Calibri"/>
              </a:rPr>
              <a:t>Source (group access)  </a:t>
            </a:r>
            <a:r>
              <a:rPr sz="1200" b="1" u="sng">
                <a:solidFill>
                  <a:srgbClr val="0F5E5A"/>
                </a:solidFill>
                <a:latin typeface="Calibri"/>
                <a:hlinkClick r:id="rId4"/>
              </a:rPr>
              <a:t>docs/diagrams/state_main.puml</a:t>
            </a:r>
          </a:p>
        </p:txBody>
      </p:sp>
      <p:sp>
        <p:nvSpPr>
          <p:cNvPr id="6" name="TextBox 5"/>
          <p:cNvSpPr txBox="1"/>
          <p:nvPr/>
        </p:nvSpPr>
        <p:spPr>
          <a:xfrm>
            <a:off x="411480" y="6510528"/>
            <a:ext cx="5486400" cy="256032"/>
          </a:xfrm>
          <a:prstGeom prst="rect">
            <a:avLst/>
          </a:prstGeom>
          <a:noFill/>
        </p:spPr>
        <p:txBody>
          <a:bodyPr wrap="square" lIns="0" tIns="0" rIns="0" bIns="0" anchor="t"/>
          <a:lstStyle/>
          <a:p>
            <a:pPr algn="l"/>
            <a:r>
              <a:rPr sz="1200" b="0">
                <a:solidFill>
                  <a:srgbClr val="5E584F"/>
                </a:solidFill>
                <a:latin typeface="Calibri"/>
              </a:rPr>
              <a:t>ELEC5620 · Group 16</a:t>
            </a:r>
          </a:p>
        </p:txBody>
      </p:sp>
      <p:sp>
        <p:nvSpPr>
          <p:cNvPr id="7" name="TextBox 6"/>
          <p:cNvSpPr txBox="1"/>
          <p:nvPr/>
        </p:nvSpPr>
        <p:spPr>
          <a:xfrm>
            <a:off x="9509760" y="6510528"/>
            <a:ext cx="2286000" cy="256032"/>
          </a:xfrm>
          <a:prstGeom prst="rect">
            <a:avLst/>
          </a:prstGeom>
          <a:noFill/>
        </p:spPr>
        <p:txBody>
          <a:bodyPr wrap="square" lIns="0" tIns="0" rIns="0" bIns="0" anchor="t"/>
          <a:lstStyle/>
          <a:p>
            <a:pPr algn="r"/>
            <a:r>
              <a:rPr sz="1200" b="0">
                <a:solidFill>
                  <a:srgbClr val="5E584F"/>
                </a:solidFill>
                <a:latin typeface="Calibri"/>
              </a:rPr>
              <a:t>19 / 39</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7F4EE"/>
        </a:solidFill>
        <a:effectLst/>
      </p:bgPr>
    </p:bg>
    <p:spTree>
      <p:nvGrpSpPr>
        <p:cNvPr id="1" name=""/>
        <p:cNvGrpSpPr/>
        <p:nvPr/>
      </p:nvGrpSpPr>
      <p:grpSpPr>
        <a:xfrm>
          <a:off x="0" y="0"/>
          <a:ext cx="0" cy="0"/>
          <a:chOff x="0" y="0"/>
          <a:chExt cx="0" cy="0"/>
        </a:xfrm>
      </p:grpSpPr>
      <p:sp>
        <p:nvSpPr>
          <p:cNvPr id="2" name="TextBox 1"/>
          <p:cNvSpPr txBox="1"/>
          <p:nvPr/>
        </p:nvSpPr>
        <p:spPr>
          <a:xfrm>
            <a:off x="365760" y="164592"/>
            <a:ext cx="2011680" cy="256032"/>
          </a:xfrm>
          <a:prstGeom prst="rect">
            <a:avLst/>
          </a:prstGeom>
          <a:noFill/>
        </p:spPr>
        <p:txBody>
          <a:bodyPr wrap="square" lIns="0" tIns="0" rIns="0" bIns="0" anchor="t"/>
          <a:lstStyle/>
          <a:p>
            <a:pPr algn="l"/>
            <a:r>
              <a:rPr sz="1200" b="1">
                <a:solidFill>
                  <a:srgbClr val="0F5E5A"/>
                </a:solidFill>
                <a:latin typeface="Calibri"/>
              </a:rPr>
              <a:t>FIGURE 3B</a:t>
            </a:r>
          </a:p>
        </p:txBody>
      </p:sp>
      <p:sp>
        <p:nvSpPr>
          <p:cNvPr id="3" name="TextBox 2"/>
          <p:cNvSpPr txBox="1"/>
          <p:nvPr/>
        </p:nvSpPr>
        <p:spPr>
          <a:xfrm>
            <a:off x="2286000" y="128016"/>
            <a:ext cx="9509760" cy="329184"/>
          </a:xfrm>
          <a:prstGeom prst="rect">
            <a:avLst/>
          </a:prstGeom>
          <a:noFill/>
        </p:spPr>
        <p:txBody>
          <a:bodyPr wrap="square" lIns="0" tIns="0" rIns="0" bIns="0" anchor="t"/>
          <a:lstStyle/>
          <a:p>
            <a:pPr algn="l"/>
            <a:r>
              <a:rPr sz="1800" b="1">
                <a:solidFill>
                  <a:srgbClr val="1C1915"/>
                </a:solidFill>
                <a:latin typeface="Calibri"/>
              </a:rPr>
              <a:t>Object state machines</a:t>
            </a:r>
          </a:p>
        </p:txBody>
      </p:sp>
      <p:pic>
        <p:nvPicPr>
          <p:cNvPr id="4" name="Picture 3" descr="state_objects.png"/>
          <p:cNvPicPr>
            <a:picLocks noChangeAspect="1"/>
          </p:cNvPicPr>
          <p:nvPr/>
        </p:nvPicPr>
        <p:blipFill>
          <a:blip r:embed="rId3"/>
          <a:stretch>
            <a:fillRect/>
          </a:stretch>
        </p:blipFill>
        <p:spPr>
          <a:xfrm>
            <a:off x="1848188" y="530352"/>
            <a:ext cx="8465143" cy="5623560"/>
          </a:xfrm>
          <a:prstGeom prst="rect">
            <a:avLst/>
          </a:prstGeom>
        </p:spPr>
      </p:pic>
      <p:sp>
        <p:nvSpPr>
          <p:cNvPr id="5" name="TextBox 4"/>
          <p:cNvSpPr txBox="1"/>
          <p:nvPr/>
        </p:nvSpPr>
        <p:spPr>
          <a:xfrm>
            <a:off x="365760" y="6199632"/>
            <a:ext cx="11430000" cy="292608"/>
          </a:xfrm>
          <a:prstGeom prst="rect">
            <a:avLst/>
          </a:prstGeom>
          <a:noFill/>
        </p:spPr>
        <p:txBody>
          <a:bodyPr wrap="square" lIns="0" tIns="0" rIns="0" bIns="0" anchor="t"/>
          <a:lstStyle/>
          <a:p>
            <a:pPr algn="l"/>
            <a:r>
              <a:rPr sz="1200" b="0">
                <a:solidFill>
                  <a:srgbClr val="5E584F"/>
                </a:solidFill>
                <a:latin typeface="Calibri"/>
              </a:rPr>
              <a:t>Source (group access)  </a:t>
            </a:r>
            <a:r>
              <a:rPr sz="1200" b="1" u="sng">
                <a:solidFill>
                  <a:srgbClr val="0F5E5A"/>
                </a:solidFill>
                <a:latin typeface="Calibri"/>
                <a:hlinkClick r:id="rId4"/>
              </a:rPr>
              <a:t>docs/diagrams/state_objects.puml</a:t>
            </a:r>
          </a:p>
        </p:txBody>
      </p:sp>
      <p:sp>
        <p:nvSpPr>
          <p:cNvPr id="6" name="TextBox 5"/>
          <p:cNvSpPr txBox="1"/>
          <p:nvPr/>
        </p:nvSpPr>
        <p:spPr>
          <a:xfrm>
            <a:off x="411480" y="6510528"/>
            <a:ext cx="5486400" cy="256032"/>
          </a:xfrm>
          <a:prstGeom prst="rect">
            <a:avLst/>
          </a:prstGeom>
          <a:noFill/>
        </p:spPr>
        <p:txBody>
          <a:bodyPr wrap="square" lIns="0" tIns="0" rIns="0" bIns="0" anchor="t"/>
          <a:lstStyle/>
          <a:p>
            <a:pPr algn="l"/>
            <a:r>
              <a:rPr sz="1200" b="0">
                <a:solidFill>
                  <a:srgbClr val="5E584F"/>
                </a:solidFill>
                <a:latin typeface="Calibri"/>
              </a:rPr>
              <a:t>ELEC5620 · Group 16</a:t>
            </a:r>
          </a:p>
        </p:txBody>
      </p:sp>
      <p:sp>
        <p:nvSpPr>
          <p:cNvPr id="7" name="TextBox 6"/>
          <p:cNvSpPr txBox="1"/>
          <p:nvPr/>
        </p:nvSpPr>
        <p:spPr>
          <a:xfrm>
            <a:off x="9509760" y="6510528"/>
            <a:ext cx="2286000" cy="256032"/>
          </a:xfrm>
          <a:prstGeom prst="rect">
            <a:avLst/>
          </a:prstGeom>
          <a:noFill/>
        </p:spPr>
        <p:txBody>
          <a:bodyPr wrap="square" lIns="0" tIns="0" rIns="0" bIns="0" anchor="t"/>
          <a:lstStyle/>
          <a:p>
            <a:pPr algn="r"/>
            <a:r>
              <a:rPr sz="1200" b="0">
                <a:solidFill>
                  <a:srgbClr val="5E584F"/>
                </a:solidFill>
                <a:latin typeface="Calibri"/>
              </a:rPr>
              <a:t>20 / 39</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7F4EE"/>
        </a:solidFill>
        <a:effectLst/>
      </p:bgPr>
    </p:bg>
    <p:spTree>
      <p:nvGrpSpPr>
        <p:cNvPr id="1" name=""/>
        <p:cNvGrpSpPr/>
        <p:nvPr/>
      </p:nvGrpSpPr>
      <p:grpSpPr>
        <a:xfrm>
          <a:off x="0" y="0"/>
          <a:ext cx="0" cy="0"/>
          <a:chOff x="0" y="0"/>
          <a:chExt cx="0" cy="0"/>
        </a:xfrm>
      </p:grpSpPr>
      <p:sp>
        <p:nvSpPr>
          <p:cNvPr id="2" name="TextBox 1"/>
          <p:cNvSpPr txBox="1"/>
          <p:nvPr/>
        </p:nvSpPr>
        <p:spPr>
          <a:xfrm>
            <a:off x="365760" y="164592"/>
            <a:ext cx="2011680" cy="256032"/>
          </a:xfrm>
          <a:prstGeom prst="rect">
            <a:avLst/>
          </a:prstGeom>
          <a:noFill/>
        </p:spPr>
        <p:txBody>
          <a:bodyPr wrap="square" lIns="0" tIns="0" rIns="0" bIns="0" anchor="t"/>
          <a:lstStyle/>
          <a:p>
            <a:pPr algn="l"/>
            <a:r>
              <a:rPr sz="1200" b="1">
                <a:solidFill>
                  <a:srgbClr val="0F5E5A"/>
                </a:solidFill>
                <a:latin typeface="Calibri"/>
              </a:rPr>
              <a:t>FIGURE 3B-1</a:t>
            </a:r>
          </a:p>
        </p:txBody>
      </p:sp>
      <p:sp>
        <p:nvSpPr>
          <p:cNvPr id="3" name="TextBox 2"/>
          <p:cNvSpPr txBox="1"/>
          <p:nvPr/>
        </p:nvSpPr>
        <p:spPr>
          <a:xfrm>
            <a:off x="2286000" y="128016"/>
            <a:ext cx="9509760" cy="329184"/>
          </a:xfrm>
          <a:prstGeom prst="rect">
            <a:avLst/>
          </a:prstGeom>
          <a:noFill/>
        </p:spPr>
        <p:txBody>
          <a:bodyPr wrap="square" lIns="0" tIns="0" rIns="0" bIns="0" anchor="t"/>
          <a:lstStyle/>
          <a:p>
            <a:pPr algn="l"/>
            <a:r>
              <a:rPr sz="1800" b="1">
                <a:solidFill>
                  <a:srgbClr val="1C1915"/>
                </a:solidFill>
                <a:latin typeface="Calibri"/>
              </a:rPr>
              <a:t>Object states — risk, procedure, run</a:t>
            </a:r>
          </a:p>
        </p:txBody>
      </p:sp>
      <p:pic>
        <p:nvPicPr>
          <p:cNvPr id="4" name="Picture 3" descr="state_objects_member_b.png"/>
          <p:cNvPicPr>
            <a:picLocks noChangeAspect="1"/>
          </p:cNvPicPr>
          <p:nvPr/>
        </p:nvPicPr>
        <p:blipFill>
          <a:blip r:embed="rId3"/>
          <a:stretch>
            <a:fillRect/>
          </a:stretch>
        </p:blipFill>
        <p:spPr>
          <a:xfrm>
            <a:off x="320040" y="1102626"/>
            <a:ext cx="11521440" cy="4479012"/>
          </a:xfrm>
          <a:prstGeom prst="rect">
            <a:avLst/>
          </a:prstGeom>
        </p:spPr>
      </p:pic>
      <p:sp>
        <p:nvSpPr>
          <p:cNvPr id="5" name="TextBox 4"/>
          <p:cNvSpPr txBox="1"/>
          <p:nvPr/>
        </p:nvSpPr>
        <p:spPr>
          <a:xfrm>
            <a:off x="365760" y="6199632"/>
            <a:ext cx="11430000" cy="292608"/>
          </a:xfrm>
          <a:prstGeom prst="rect">
            <a:avLst/>
          </a:prstGeom>
          <a:noFill/>
        </p:spPr>
        <p:txBody>
          <a:bodyPr wrap="square" lIns="0" tIns="0" rIns="0" bIns="0" anchor="t"/>
          <a:lstStyle/>
          <a:p>
            <a:pPr algn="l"/>
            <a:r>
              <a:rPr sz="1200" b="0">
                <a:solidFill>
                  <a:srgbClr val="5E584F"/>
                </a:solidFill>
                <a:latin typeface="Calibri"/>
              </a:rPr>
              <a:t>Source (group access)  </a:t>
            </a:r>
            <a:r>
              <a:rPr sz="1200" b="1" u="sng">
                <a:solidFill>
                  <a:srgbClr val="0F5E5A"/>
                </a:solidFill>
                <a:latin typeface="Calibri"/>
                <a:hlinkClick r:id="rId4"/>
              </a:rPr>
              <a:t>docs/diagrams/state_objects_member_b.puml</a:t>
            </a:r>
          </a:p>
        </p:txBody>
      </p:sp>
      <p:sp>
        <p:nvSpPr>
          <p:cNvPr id="6" name="TextBox 5"/>
          <p:cNvSpPr txBox="1"/>
          <p:nvPr/>
        </p:nvSpPr>
        <p:spPr>
          <a:xfrm>
            <a:off x="411480" y="6510528"/>
            <a:ext cx="5486400" cy="256032"/>
          </a:xfrm>
          <a:prstGeom prst="rect">
            <a:avLst/>
          </a:prstGeom>
          <a:noFill/>
        </p:spPr>
        <p:txBody>
          <a:bodyPr wrap="square" lIns="0" tIns="0" rIns="0" bIns="0" anchor="t"/>
          <a:lstStyle/>
          <a:p>
            <a:pPr algn="l"/>
            <a:r>
              <a:rPr sz="1200" b="0">
                <a:solidFill>
                  <a:srgbClr val="5E584F"/>
                </a:solidFill>
                <a:latin typeface="Calibri"/>
              </a:rPr>
              <a:t>ELEC5620 · Group 16</a:t>
            </a:r>
          </a:p>
        </p:txBody>
      </p:sp>
      <p:sp>
        <p:nvSpPr>
          <p:cNvPr id="7" name="TextBox 6"/>
          <p:cNvSpPr txBox="1"/>
          <p:nvPr/>
        </p:nvSpPr>
        <p:spPr>
          <a:xfrm>
            <a:off x="9509760" y="6510528"/>
            <a:ext cx="2286000" cy="256032"/>
          </a:xfrm>
          <a:prstGeom prst="rect">
            <a:avLst/>
          </a:prstGeom>
          <a:noFill/>
        </p:spPr>
        <p:txBody>
          <a:bodyPr wrap="square" lIns="0" tIns="0" rIns="0" bIns="0" anchor="t"/>
          <a:lstStyle/>
          <a:p>
            <a:pPr algn="r"/>
            <a:r>
              <a:rPr sz="1200" b="0">
                <a:solidFill>
                  <a:srgbClr val="5E584F"/>
                </a:solidFill>
                <a:latin typeface="Calibri"/>
              </a:rPr>
              <a:t>21 / 39</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7F4EE"/>
        </a:solidFill>
        <a:effectLst/>
      </p:bgPr>
    </p:bg>
    <p:spTree>
      <p:nvGrpSpPr>
        <p:cNvPr id="1" name=""/>
        <p:cNvGrpSpPr/>
        <p:nvPr/>
      </p:nvGrpSpPr>
      <p:grpSpPr>
        <a:xfrm>
          <a:off x="0" y="0"/>
          <a:ext cx="0" cy="0"/>
          <a:chOff x="0" y="0"/>
          <a:chExt cx="0" cy="0"/>
        </a:xfrm>
      </p:grpSpPr>
      <p:sp>
        <p:nvSpPr>
          <p:cNvPr id="2" name="TextBox 1"/>
          <p:cNvSpPr txBox="1"/>
          <p:nvPr/>
        </p:nvSpPr>
        <p:spPr>
          <a:xfrm>
            <a:off x="365760" y="164592"/>
            <a:ext cx="2011680" cy="256032"/>
          </a:xfrm>
          <a:prstGeom prst="rect">
            <a:avLst/>
          </a:prstGeom>
          <a:noFill/>
        </p:spPr>
        <p:txBody>
          <a:bodyPr wrap="square" lIns="0" tIns="0" rIns="0" bIns="0" anchor="t"/>
          <a:lstStyle/>
          <a:p>
            <a:pPr algn="l"/>
            <a:r>
              <a:rPr sz="1200" b="1">
                <a:solidFill>
                  <a:srgbClr val="0F5E5A"/>
                </a:solidFill>
                <a:latin typeface="Calibri"/>
              </a:rPr>
              <a:t>FIGURE 3B-2</a:t>
            </a:r>
          </a:p>
        </p:txBody>
      </p:sp>
      <p:sp>
        <p:nvSpPr>
          <p:cNvPr id="3" name="TextBox 2"/>
          <p:cNvSpPr txBox="1"/>
          <p:nvPr/>
        </p:nvSpPr>
        <p:spPr>
          <a:xfrm>
            <a:off x="2286000" y="128016"/>
            <a:ext cx="9509760" cy="329184"/>
          </a:xfrm>
          <a:prstGeom prst="rect">
            <a:avLst/>
          </a:prstGeom>
          <a:noFill/>
        </p:spPr>
        <p:txBody>
          <a:bodyPr wrap="square" lIns="0" tIns="0" rIns="0" bIns="0" anchor="t"/>
          <a:lstStyle/>
          <a:p>
            <a:pPr algn="l"/>
            <a:r>
              <a:rPr sz="1800" b="1">
                <a:solidFill>
                  <a:srgbClr val="1C1915"/>
                </a:solidFill>
                <a:latin typeface="Calibri"/>
              </a:rPr>
              <a:t>Object states — misstatement, statutory report, document</a:t>
            </a:r>
          </a:p>
        </p:txBody>
      </p:sp>
      <p:pic>
        <p:nvPicPr>
          <p:cNvPr id="4" name="Picture 3" descr="state_objects_member_c.png"/>
          <p:cNvPicPr>
            <a:picLocks noChangeAspect="1"/>
          </p:cNvPicPr>
          <p:nvPr/>
        </p:nvPicPr>
        <p:blipFill>
          <a:blip r:embed="rId3"/>
          <a:stretch>
            <a:fillRect/>
          </a:stretch>
        </p:blipFill>
        <p:spPr>
          <a:xfrm>
            <a:off x="707896" y="530352"/>
            <a:ext cx="10745728" cy="5623560"/>
          </a:xfrm>
          <a:prstGeom prst="rect">
            <a:avLst/>
          </a:prstGeom>
        </p:spPr>
      </p:pic>
      <p:sp>
        <p:nvSpPr>
          <p:cNvPr id="5" name="TextBox 4"/>
          <p:cNvSpPr txBox="1"/>
          <p:nvPr/>
        </p:nvSpPr>
        <p:spPr>
          <a:xfrm>
            <a:off x="365760" y="6199632"/>
            <a:ext cx="11430000" cy="292608"/>
          </a:xfrm>
          <a:prstGeom prst="rect">
            <a:avLst/>
          </a:prstGeom>
          <a:noFill/>
        </p:spPr>
        <p:txBody>
          <a:bodyPr wrap="square" lIns="0" tIns="0" rIns="0" bIns="0" anchor="t"/>
          <a:lstStyle/>
          <a:p>
            <a:pPr algn="l"/>
            <a:r>
              <a:rPr sz="1200" b="0">
                <a:solidFill>
                  <a:srgbClr val="5E584F"/>
                </a:solidFill>
                <a:latin typeface="Calibri"/>
              </a:rPr>
              <a:t>Source (group access)  </a:t>
            </a:r>
            <a:r>
              <a:rPr sz="1200" b="1" u="sng">
                <a:solidFill>
                  <a:srgbClr val="0F5E5A"/>
                </a:solidFill>
                <a:latin typeface="Calibri"/>
                <a:hlinkClick r:id="rId4"/>
              </a:rPr>
              <a:t>docs/diagrams/state_objects_member_c.puml</a:t>
            </a:r>
          </a:p>
        </p:txBody>
      </p:sp>
      <p:sp>
        <p:nvSpPr>
          <p:cNvPr id="6" name="TextBox 5"/>
          <p:cNvSpPr txBox="1"/>
          <p:nvPr/>
        </p:nvSpPr>
        <p:spPr>
          <a:xfrm>
            <a:off x="411480" y="6510528"/>
            <a:ext cx="5486400" cy="256032"/>
          </a:xfrm>
          <a:prstGeom prst="rect">
            <a:avLst/>
          </a:prstGeom>
          <a:noFill/>
        </p:spPr>
        <p:txBody>
          <a:bodyPr wrap="square" lIns="0" tIns="0" rIns="0" bIns="0" anchor="t"/>
          <a:lstStyle/>
          <a:p>
            <a:pPr algn="l"/>
            <a:r>
              <a:rPr sz="1200" b="0">
                <a:solidFill>
                  <a:srgbClr val="5E584F"/>
                </a:solidFill>
                <a:latin typeface="Calibri"/>
              </a:rPr>
              <a:t>ELEC5620 · Group 16</a:t>
            </a:r>
          </a:p>
        </p:txBody>
      </p:sp>
      <p:sp>
        <p:nvSpPr>
          <p:cNvPr id="7" name="TextBox 6"/>
          <p:cNvSpPr txBox="1"/>
          <p:nvPr/>
        </p:nvSpPr>
        <p:spPr>
          <a:xfrm>
            <a:off x="9509760" y="6510528"/>
            <a:ext cx="2286000" cy="256032"/>
          </a:xfrm>
          <a:prstGeom prst="rect">
            <a:avLst/>
          </a:prstGeom>
          <a:noFill/>
        </p:spPr>
        <p:txBody>
          <a:bodyPr wrap="square" lIns="0" tIns="0" rIns="0" bIns="0" anchor="t"/>
          <a:lstStyle/>
          <a:p>
            <a:pPr algn="r"/>
            <a:r>
              <a:rPr sz="1200" b="0">
                <a:solidFill>
                  <a:srgbClr val="5E584F"/>
                </a:solidFill>
                <a:latin typeface="Calibri"/>
              </a:rPr>
              <a:t>22 / 39</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7F4EE"/>
        </a:solidFill>
        <a:effectLst/>
      </p:bgPr>
    </p:bg>
    <p:spTree>
      <p:nvGrpSpPr>
        <p:cNvPr id="1" name=""/>
        <p:cNvGrpSpPr/>
        <p:nvPr/>
      </p:nvGrpSpPr>
      <p:grpSpPr>
        <a:xfrm>
          <a:off x="0" y="0"/>
          <a:ext cx="0" cy="0"/>
          <a:chOff x="0" y="0"/>
          <a:chExt cx="0" cy="0"/>
        </a:xfrm>
      </p:grpSpPr>
      <p:sp>
        <p:nvSpPr>
          <p:cNvPr id="2" name="TextBox 1"/>
          <p:cNvSpPr txBox="1"/>
          <p:nvPr/>
        </p:nvSpPr>
        <p:spPr>
          <a:xfrm>
            <a:off x="365760" y="164592"/>
            <a:ext cx="2011680" cy="256032"/>
          </a:xfrm>
          <a:prstGeom prst="rect">
            <a:avLst/>
          </a:prstGeom>
          <a:noFill/>
        </p:spPr>
        <p:txBody>
          <a:bodyPr wrap="square" lIns="0" tIns="0" rIns="0" bIns="0" anchor="t"/>
          <a:lstStyle/>
          <a:p>
            <a:pPr algn="l"/>
            <a:r>
              <a:rPr sz="1200" b="1">
                <a:solidFill>
                  <a:srgbClr val="0F5E5A"/>
                </a:solidFill>
                <a:latin typeface="Calibri"/>
              </a:rPr>
              <a:t>FIGURE 4A</a:t>
            </a:r>
          </a:p>
        </p:txBody>
      </p:sp>
      <p:sp>
        <p:nvSpPr>
          <p:cNvPr id="3" name="TextBox 2"/>
          <p:cNvSpPr txBox="1"/>
          <p:nvPr/>
        </p:nvSpPr>
        <p:spPr>
          <a:xfrm>
            <a:off x="2286000" y="128016"/>
            <a:ext cx="9509760" cy="329184"/>
          </a:xfrm>
          <a:prstGeom prst="rect">
            <a:avLst/>
          </a:prstGeom>
          <a:noFill/>
        </p:spPr>
        <p:txBody>
          <a:bodyPr wrap="square" lIns="0" tIns="0" rIns="0" bIns="0" anchor="t"/>
          <a:lstStyle/>
          <a:p>
            <a:pPr algn="l"/>
            <a:r>
              <a:rPr sz="1800" b="1">
                <a:solidFill>
                  <a:srgbClr val="1C1915"/>
                </a:solidFill>
                <a:latin typeface="Calibri"/>
              </a:rPr>
              <a:t>Activity — pack assembly and fieldwork</a:t>
            </a:r>
          </a:p>
        </p:txBody>
      </p:sp>
      <p:pic>
        <p:nvPicPr>
          <p:cNvPr id="4" name="Picture 3" descr="activity_fieldwork.png"/>
          <p:cNvPicPr>
            <a:picLocks noChangeAspect="1"/>
          </p:cNvPicPr>
          <p:nvPr/>
        </p:nvPicPr>
        <p:blipFill>
          <a:blip r:embed="rId3"/>
          <a:stretch>
            <a:fillRect/>
          </a:stretch>
        </p:blipFill>
        <p:spPr>
          <a:xfrm>
            <a:off x="3043954" y="530352"/>
            <a:ext cx="6073612" cy="5623560"/>
          </a:xfrm>
          <a:prstGeom prst="rect">
            <a:avLst/>
          </a:prstGeom>
        </p:spPr>
      </p:pic>
      <p:sp>
        <p:nvSpPr>
          <p:cNvPr id="5" name="TextBox 4"/>
          <p:cNvSpPr txBox="1"/>
          <p:nvPr/>
        </p:nvSpPr>
        <p:spPr>
          <a:xfrm>
            <a:off x="365760" y="6199632"/>
            <a:ext cx="11430000" cy="292608"/>
          </a:xfrm>
          <a:prstGeom prst="rect">
            <a:avLst/>
          </a:prstGeom>
          <a:noFill/>
        </p:spPr>
        <p:txBody>
          <a:bodyPr wrap="square" lIns="0" tIns="0" rIns="0" bIns="0" anchor="t"/>
          <a:lstStyle/>
          <a:p>
            <a:pPr algn="l"/>
            <a:r>
              <a:rPr sz="1200" b="0">
                <a:solidFill>
                  <a:srgbClr val="5E584F"/>
                </a:solidFill>
                <a:latin typeface="Calibri"/>
              </a:rPr>
              <a:t>Source (group access)  </a:t>
            </a:r>
            <a:r>
              <a:rPr sz="1200" b="1" u="sng">
                <a:solidFill>
                  <a:srgbClr val="0F5E5A"/>
                </a:solidFill>
                <a:latin typeface="Calibri"/>
                <a:hlinkClick r:id="rId4"/>
              </a:rPr>
              <a:t>docs/diagrams/activity_fieldwork.puml</a:t>
            </a:r>
          </a:p>
        </p:txBody>
      </p:sp>
      <p:sp>
        <p:nvSpPr>
          <p:cNvPr id="6" name="TextBox 5"/>
          <p:cNvSpPr txBox="1"/>
          <p:nvPr/>
        </p:nvSpPr>
        <p:spPr>
          <a:xfrm>
            <a:off x="411480" y="6510528"/>
            <a:ext cx="5486400" cy="256032"/>
          </a:xfrm>
          <a:prstGeom prst="rect">
            <a:avLst/>
          </a:prstGeom>
          <a:noFill/>
        </p:spPr>
        <p:txBody>
          <a:bodyPr wrap="square" lIns="0" tIns="0" rIns="0" bIns="0" anchor="t"/>
          <a:lstStyle/>
          <a:p>
            <a:pPr algn="l"/>
            <a:r>
              <a:rPr sz="1200" b="0">
                <a:solidFill>
                  <a:srgbClr val="5E584F"/>
                </a:solidFill>
                <a:latin typeface="Calibri"/>
              </a:rPr>
              <a:t>ELEC5620 · Group 16</a:t>
            </a:r>
          </a:p>
        </p:txBody>
      </p:sp>
      <p:sp>
        <p:nvSpPr>
          <p:cNvPr id="7" name="TextBox 6"/>
          <p:cNvSpPr txBox="1"/>
          <p:nvPr/>
        </p:nvSpPr>
        <p:spPr>
          <a:xfrm>
            <a:off x="9509760" y="6510528"/>
            <a:ext cx="2286000" cy="256032"/>
          </a:xfrm>
          <a:prstGeom prst="rect">
            <a:avLst/>
          </a:prstGeom>
          <a:noFill/>
        </p:spPr>
        <p:txBody>
          <a:bodyPr wrap="square" lIns="0" tIns="0" rIns="0" bIns="0" anchor="t"/>
          <a:lstStyle/>
          <a:p>
            <a:pPr algn="r"/>
            <a:r>
              <a:rPr sz="1200" b="0">
                <a:solidFill>
                  <a:srgbClr val="5E584F"/>
                </a:solidFill>
                <a:latin typeface="Calibri"/>
              </a:rPr>
              <a:t>23 / 39</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7F4EE"/>
        </a:solidFill>
        <a:effectLst/>
      </p:bgPr>
    </p:bg>
    <p:spTree>
      <p:nvGrpSpPr>
        <p:cNvPr id="1" name=""/>
        <p:cNvGrpSpPr/>
        <p:nvPr/>
      </p:nvGrpSpPr>
      <p:grpSpPr>
        <a:xfrm>
          <a:off x="0" y="0"/>
          <a:ext cx="0" cy="0"/>
          <a:chOff x="0" y="0"/>
          <a:chExt cx="0" cy="0"/>
        </a:xfrm>
      </p:grpSpPr>
      <p:sp>
        <p:nvSpPr>
          <p:cNvPr id="2" name="TextBox 1"/>
          <p:cNvSpPr txBox="1"/>
          <p:nvPr/>
        </p:nvSpPr>
        <p:spPr>
          <a:xfrm>
            <a:off x="365760" y="164592"/>
            <a:ext cx="2011680" cy="256032"/>
          </a:xfrm>
          <a:prstGeom prst="rect">
            <a:avLst/>
          </a:prstGeom>
          <a:noFill/>
        </p:spPr>
        <p:txBody>
          <a:bodyPr wrap="square" lIns="0" tIns="0" rIns="0" bIns="0" anchor="t"/>
          <a:lstStyle/>
          <a:p>
            <a:pPr algn="l"/>
            <a:r>
              <a:rPr sz="1200" b="1">
                <a:solidFill>
                  <a:srgbClr val="0F5E5A"/>
                </a:solidFill>
                <a:latin typeface="Calibri"/>
              </a:rPr>
              <a:t>FIGURE 4A-1</a:t>
            </a:r>
          </a:p>
        </p:txBody>
      </p:sp>
      <p:sp>
        <p:nvSpPr>
          <p:cNvPr id="3" name="TextBox 2"/>
          <p:cNvSpPr txBox="1"/>
          <p:nvPr/>
        </p:nvSpPr>
        <p:spPr>
          <a:xfrm>
            <a:off x="2286000" y="128016"/>
            <a:ext cx="9509760" cy="329184"/>
          </a:xfrm>
          <a:prstGeom prst="rect">
            <a:avLst/>
          </a:prstGeom>
          <a:noFill/>
        </p:spPr>
        <p:txBody>
          <a:bodyPr wrap="square" lIns="0" tIns="0" rIns="0" bIns="0" anchor="t"/>
          <a:lstStyle/>
          <a:p>
            <a:pPr algn="l"/>
            <a:r>
              <a:rPr sz="1800" b="1">
                <a:solidFill>
                  <a:srgbClr val="1C1915"/>
                </a:solidFill>
                <a:latin typeface="Calibri"/>
              </a:rPr>
              <a:t>Activity — pack assembly and plan approval</a:t>
            </a:r>
          </a:p>
        </p:txBody>
      </p:sp>
      <p:pic>
        <p:nvPicPr>
          <p:cNvPr id="4" name="Picture 3" descr="activity_planning.png"/>
          <p:cNvPicPr>
            <a:picLocks noChangeAspect="1"/>
          </p:cNvPicPr>
          <p:nvPr/>
        </p:nvPicPr>
        <p:blipFill>
          <a:blip r:embed="rId3"/>
          <a:stretch>
            <a:fillRect/>
          </a:stretch>
        </p:blipFill>
        <p:spPr>
          <a:xfrm>
            <a:off x="2156008" y="530352"/>
            <a:ext cx="7849503" cy="5623560"/>
          </a:xfrm>
          <a:prstGeom prst="rect">
            <a:avLst/>
          </a:prstGeom>
        </p:spPr>
      </p:pic>
      <p:sp>
        <p:nvSpPr>
          <p:cNvPr id="5" name="TextBox 4"/>
          <p:cNvSpPr txBox="1"/>
          <p:nvPr/>
        </p:nvSpPr>
        <p:spPr>
          <a:xfrm>
            <a:off x="365760" y="6199632"/>
            <a:ext cx="11430000" cy="292608"/>
          </a:xfrm>
          <a:prstGeom prst="rect">
            <a:avLst/>
          </a:prstGeom>
          <a:noFill/>
        </p:spPr>
        <p:txBody>
          <a:bodyPr wrap="square" lIns="0" tIns="0" rIns="0" bIns="0" anchor="t"/>
          <a:lstStyle/>
          <a:p>
            <a:pPr algn="l"/>
            <a:r>
              <a:rPr sz="1200" b="0">
                <a:solidFill>
                  <a:srgbClr val="5E584F"/>
                </a:solidFill>
                <a:latin typeface="Calibri"/>
              </a:rPr>
              <a:t>Source (group access)  </a:t>
            </a:r>
            <a:r>
              <a:rPr sz="1200" b="1" u="sng">
                <a:solidFill>
                  <a:srgbClr val="0F5E5A"/>
                </a:solidFill>
                <a:latin typeface="Calibri"/>
                <a:hlinkClick r:id="rId4"/>
              </a:rPr>
              <a:t>docs/diagrams/activity_planning.puml</a:t>
            </a:r>
          </a:p>
        </p:txBody>
      </p:sp>
      <p:sp>
        <p:nvSpPr>
          <p:cNvPr id="6" name="TextBox 5"/>
          <p:cNvSpPr txBox="1"/>
          <p:nvPr/>
        </p:nvSpPr>
        <p:spPr>
          <a:xfrm>
            <a:off x="411480" y="6510528"/>
            <a:ext cx="5486400" cy="256032"/>
          </a:xfrm>
          <a:prstGeom prst="rect">
            <a:avLst/>
          </a:prstGeom>
          <a:noFill/>
        </p:spPr>
        <p:txBody>
          <a:bodyPr wrap="square" lIns="0" tIns="0" rIns="0" bIns="0" anchor="t"/>
          <a:lstStyle/>
          <a:p>
            <a:pPr algn="l"/>
            <a:r>
              <a:rPr sz="1200" b="0">
                <a:solidFill>
                  <a:srgbClr val="5E584F"/>
                </a:solidFill>
                <a:latin typeface="Calibri"/>
              </a:rPr>
              <a:t>ELEC5620 · Group 16</a:t>
            </a:r>
          </a:p>
        </p:txBody>
      </p:sp>
      <p:sp>
        <p:nvSpPr>
          <p:cNvPr id="7" name="TextBox 6"/>
          <p:cNvSpPr txBox="1"/>
          <p:nvPr/>
        </p:nvSpPr>
        <p:spPr>
          <a:xfrm>
            <a:off x="9509760" y="6510528"/>
            <a:ext cx="2286000" cy="256032"/>
          </a:xfrm>
          <a:prstGeom prst="rect">
            <a:avLst/>
          </a:prstGeom>
          <a:noFill/>
        </p:spPr>
        <p:txBody>
          <a:bodyPr wrap="square" lIns="0" tIns="0" rIns="0" bIns="0" anchor="t"/>
          <a:lstStyle/>
          <a:p>
            <a:pPr algn="r"/>
            <a:r>
              <a:rPr sz="1200" b="0">
                <a:solidFill>
                  <a:srgbClr val="5E584F"/>
                </a:solidFill>
                <a:latin typeface="Calibri"/>
              </a:rPr>
              <a:t>24 / 39</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7F4EE"/>
        </a:solidFill>
        <a:effectLst/>
      </p:bgPr>
    </p:bg>
    <p:spTree>
      <p:nvGrpSpPr>
        <p:cNvPr id="1" name=""/>
        <p:cNvGrpSpPr/>
        <p:nvPr/>
      </p:nvGrpSpPr>
      <p:grpSpPr>
        <a:xfrm>
          <a:off x="0" y="0"/>
          <a:ext cx="0" cy="0"/>
          <a:chOff x="0" y="0"/>
          <a:chExt cx="0" cy="0"/>
        </a:xfrm>
      </p:grpSpPr>
      <p:sp>
        <p:nvSpPr>
          <p:cNvPr id="2" name="TextBox 1"/>
          <p:cNvSpPr txBox="1"/>
          <p:nvPr/>
        </p:nvSpPr>
        <p:spPr>
          <a:xfrm>
            <a:off x="365760" y="164592"/>
            <a:ext cx="2011680" cy="256032"/>
          </a:xfrm>
          <a:prstGeom prst="rect">
            <a:avLst/>
          </a:prstGeom>
          <a:noFill/>
        </p:spPr>
        <p:txBody>
          <a:bodyPr wrap="square" lIns="0" tIns="0" rIns="0" bIns="0" anchor="t"/>
          <a:lstStyle/>
          <a:p>
            <a:pPr algn="l"/>
            <a:r>
              <a:rPr sz="1200" b="1">
                <a:solidFill>
                  <a:srgbClr val="0F5E5A"/>
                </a:solidFill>
                <a:latin typeface="Calibri"/>
              </a:rPr>
              <a:t>FIGURE 4A-2</a:t>
            </a:r>
          </a:p>
        </p:txBody>
      </p:sp>
      <p:sp>
        <p:nvSpPr>
          <p:cNvPr id="3" name="TextBox 2"/>
          <p:cNvSpPr txBox="1"/>
          <p:nvPr/>
        </p:nvSpPr>
        <p:spPr>
          <a:xfrm>
            <a:off x="2286000" y="128016"/>
            <a:ext cx="9509760" cy="329184"/>
          </a:xfrm>
          <a:prstGeom prst="rect">
            <a:avLst/>
          </a:prstGeom>
          <a:noFill/>
        </p:spPr>
        <p:txBody>
          <a:bodyPr wrap="square" lIns="0" tIns="0" rIns="0" bIns="0" anchor="t"/>
          <a:lstStyle/>
          <a:p>
            <a:pPr algn="l"/>
            <a:r>
              <a:rPr sz="1800" b="1">
                <a:solidFill>
                  <a:srgbClr val="1C1915"/>
                </a:solidFill>
                <a:latin typeface="Calibri"/>
              </a:rPr>
              <a:t>Activity — fieldwork execution and feedback loops</a:t>
            </a:r>
          </a:p>
        </p:txBody>
      </p:sp>
      <p:pic>
        <p:nvPicPr>
          <p:cNvPr id="4" name="Picture 3" descr="activity_execution.png"/>
          <p:cNvPicPr>
            <a:picLocks noChangeAspect="1"/>
          </p:cNvPicPr>
          <p:nvPr/>
        </p:nvPicPr>
        <p:blipFill>
          <a:blip r:embed="rId3"/>
          <a:stretch>
            <a:fillRect/>
          </a:stretch>
        </p:blipFill>
        <p:spPr>
          <a:xfrm>
            <a:off x="1309315" y="530352"/>
            <a:ext cx="9542889" cy="5623560"/>
          </a:xfrm>
          <a:prstGeom prst="rect">
            <a:avLst/>
          </a:prstGeom>
        </p:spPr>
      </p:pic>
      <p:sp>
        <p:nvSpPr>
          <p:cNvPr id="5" name="TextBox 4"/>
          <p:cNvSpPr txBox="1"/>
          <p:nvPr/>
        </p:nvSpPr>
        <p:spPr>
          <a:xfrm>
            <a:off x="365760" y="6199632"/>
            <a:ext cx="11430000" cy="292608"/>
          </a:xfrm>
          <a:prstGeom prst="rect">
            <a:avLst/>
          </a:prstGeom>
          <a:noFill/>
        </p:spPr>
        <p:txBody>
          <a:bodyPr wrap="square" lIns="0" tIns="0" rIns="0" bIns="0" anchor="t"/>
          <a:lstStyle/>
          <a:p>
            <a:pPr algn="l"/>
            <a:r>
              <a:rPr sz="1200" b="0">
                <a:solidFill>
                  <a:srgbClr val="5E584F"/>
                </a:solidFill>
                <a:latin typeface="Calibri"/>
              </a:rPr>
              <a:t>Source (group access)  </a:t>
            </a:r>
            <a:r>
              <a:rPr sz="1200" b="1" u="sng">
                <a:solidFill>
                  <a:srgbClr val="0F5E5A"/>
                </a:solidFill>
                <a:latin typeface="Calibri"/>
                <a:hlinkClick r:id="rId4"/>
              </a:rPr>
              <a:t>docs/diagrams/activity_execution.puml</a:t>
            </a:r>
          </a:p>
        </p:txBody>
      </p:sp>
      <p:sp>
        <p:nvSpPr>
          <p:cNvPr id="6" name="TextBox 5"/>
          <p:cNvSpPr txBox="1"/>
          <p:nvPr/>
        </p:nvSpPr>
        <p:spPr>
          <a:xfrm>
            <a:off x="411480" y="6510528"/>
            <a:ext cx="5486400" cy="256032"/>
          </a:xfrm>
          <a:prstGeom prst="rect">
            <a:avLst/>
          </a:prstGeom>
          <a:noFill/>
        </p:spPr>
        <p:txBody>
          <a:bodyPr wrap="square" lIns="0" tIns="0" rIns="0" bIns="0" anchor="t"/>
          <a:lstStyle/>
          <a:p>
            <a:pPr algn="l"/>
            <a:r>
              <a:rPr sz="1200" b="0">
                <a:solidFill>
                  <a:srgbClr val="5E584F"/>
                </a:solidFill>
                <a:latin typeface="Calibri"/>
              </a:rPr>
              <a:t>ELEC5620 · Group 16</a:t>
            </a:r>
          </a:p>
        </p:txBody>
      </p:sp>
      <p:sp>
        <p:nvSpPr>
          <p:cNvPr id="7" name="TextBox 6"/>
          <p:cNvSpPr txBox="1"/>
          <p:nvPr/>
        </p:nvSpPr>
        <p:spPr>
          <a:xfrm>
            <a:off x="9509760" y="6510528"/>
            <a:ext cx="2286000" cy="256032"/>
          </a:xfrm>
          <a:prstGeom prst="rect">
            <a:avLst/>
          </a:prstGeom>
          <a:noFill/>
        </p:spPr>
        <p:txBody>
          <a:bodyPr wrap="square" lIns="0" tIns="0" rIns="0" bIns="0" anchor="t"/>
          <a:lstStyle/>
          <a:p>
            <a:pPr algn="r"/>
            <a:r>
              <a:rPr sz="1200" b="0">
                <a:solidFill>
                  <a:srgbClr val="5E584F"/>
                </a:solidFill>
                <a:latin typeface="Calibri"/>
              </a:rPr>
              <a:t>25 / 39</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7F4EE"/>
        </a:solidFill>
        <a:effectLst/>
      </p:bgPr>
    </p:bg>
    <p:spTree>
      <p:nvGrpSpPr>
        <p:cNvPr id="1" name=""/>
        <p:cNvGrpSpPr/>
        <p:nvPr/>
      </p:nvGrpSpPr>
      <p:grpSpPr>
        <a:xfrm>
          <a:off x="0" y="0"/>
          <a:ext cx="0" cy="0"/>
          <a:chOff x="0" y="0"/>
          <a:chExt cx="0" cy="0"/>
        </a:xfrm>
      </p:grpSpPr>
      <p:sp>
        <p:nvSpPr>
          <p:cNvPr id="2" name="TextBox 1"/>
          <p:cNvSpPr txBox="1"/>
          <p:nvPr/>
        </p:nvSpPr>
        <p:spPr>
          <a:xfrm>
            <a:off x="365760" y="164592"/>
            <a:ext cx="2011680" cy="256032"/>
          </a:xfrm>
          <a:prstGeom prst="rect">
            <a:avLst/>
          </a:prstGeom>
          <a:noFill/>
        </p:spPr>
        <p:txBody>
          <a:bodyPr wrap="square" lIns="0" tIns="0" rIns="0" bIns="0" anchor="t"/>
          <a:lstStyle/>
          <a:p>
            <a:pPr algn="l"/>
            <a:r>
              <a:rPr sz="1200" b="1">
                <a:solidFill>
                  <a:srgbClr val="0F5E5A"/>
                </a:solidFill>
                <a:latin typeface="Calibri"/>
              </a:rPr>
              <a:t>FIGURE 4B</a:t>
            </a:r>
          </a:p>
        </p:txBody>
      </p:sp>
      <p:sp>
        <p:nvSpPr>
          <p:cNvPr id="3" name="TextBox 2"/>
          <p:cNvSpPr txBox="1"/>
          <p:nvPr/>
        </p:nvSpPr>
        <p:spPr>
          <a:xfrm>
            <a:off x="2286000" y="128016"/>
            <a:ext cx="9509760" cy="329184"/>
          </a:xfrm>
          <a:prstGeom prst="rect">
            <a:avLst/>
          </a:prstGeom>
          <a:noFill/>
        </p:spPr>
        <p:txBody>
          <a:bodyPr wrap="square" lIns="0" tIns="0" rIns="0" bIns="0" anchor="t"/>
          <a:lstStyle/>
          <a:p>
            <a:pPr algn="l"/>
            <a:r>
              <a:rPr sz="1800" b="1">
                <a:solidFill>
                  <a:srgbClr val="1C1915"/>
                </a:solidFill>
                <a:latin typeface="Calibri"/>
              </a:rPr>
              <a:t>Activity — one procedure inside an A6 instance</a:t>
            </a:r>
          </a:p>
        </p:txBody>
      </p:sp>
      <p:pic>
        <p:nvPicPr>
          <p:cNvPr id="4" name="Picture 3" descr="activity_procedure.png"/>
          <p:cNvPicPr>
            <a:picLocks noChangeAspect="1"/>
          </p:cNvPicPr>
          <p:nvPr/>
        </p:nvPicPr>
        <p:blipFill>
          <a:blip r:embed="rId3"/>
          <a:stretch>
            <a:fillRect/>
          </a:stretch>
        </p:blipFill>
        <p:spPr>
          <a:xfrm>
            <a:off x="1286541" y="530352"/>
            <a:ext cx="9588437" cy="5623560"/>
          </a:xfrm>
          <a:prstGeom prst="rect">
            <a:avLst/>
          </a:prstGeom>
        </p:spPr>
      </p:pic>
      <p:sp>
        <p:nvSpPr>
          <p:cNvPr id="5" name="TextBox 4"/>
          <p:cNvSpPr txBox="1"/>
          <p:nvPr/>
        </p:nvSpPr>
        <p:spPr>
          <a:xfrm>
            <a:off x="365760" y="6199632"/>
            <a:ext cx="11430000" cy="292608"/>
          </a:xfrm>
          <a:prstGeom prst="rect">
            <a:avLst/>
          </a:prstGeom>
          <a:noFill/>
        </p:spPr>
        <p:txBody>
          <a:bodyPr wrap="square" lIns="0" tIns="0" rIns="0" bIns="0" anchor="t"/>
          <a:lstStyle/>
          <a:p>
            <a:pPr algn="l"/>
            <a:r>
              <a:rPr sz="1200" b="0">
                <a:solidFill>
                  <a:srgbClr val="5E584F"/>
                </a:solidFill>
                <a:latin typeface="Calibri"/>
              </a:rPr>
              <a:t>Source (group access)  </a:t>
            </a:r>
            <a:r>
              <a:rPr sz="1200" b="1" u="sng">
                <a:solidFill>
                  <a:srgbClr val="0F5E5A"/>
                </a:solidFill>
                <a:latin typeface="Calibri"/>
                <a:hlinkClick r:id="rId4"/>
              </a:rPr>
              <a:t>docs/diagrams/activity_procedure.puml</a:t>
            </a:r>
          </a:p>
        </p:txBody>
      </p:sp>
      <p:sp>
        <p:nvSpPr>
          <p:cNvPr id="6" name="TextBox 5"/>
          <p:cNvSpPr txBox="1"/>
          <p:nvPr/>
        </p:nvSpPr>
        <p:spPr>
          <a:xfrm>
            <a:off x="411480" y="6510528"/>
            <a:ext cx="5486400" cy="256032"/>
          </a:xfrm>
          <a:prstGeom prst="rect">
            <a:avLst/>
          </a:prstGeom>
          <a:noFill/>
        </p:spPr>
        <p:txBody>
          <a:bodyPr wrap="square" lIns="0" tIns="0" rIns="0" bIns="0" anchor="t"/>
          <a:lstStyle/>
          <a:p>
            <a:pPr algn="l"/>
            <a:r>
              <a:rPr sz="1200" b="0">
                <a:solidFill>
                  <a:srgbClr val="5E584F"/>
                </a:solidFill>
                <a:latin typeface="Calibri"/>
              </a:rPr>
              <a:t>ELEC5620 · Group 16</a:t>
            </a:r>
          </a:p>
        </p:txBody>
      </p:sp>
      <p:sp>
        <p:nvSpPr>
          <p:cNvPr id="7" name="TextBox 6"/>
          <p:cNvSpPr txBox="1"/>
          <p:nvPr/>
        </p:nvSpPr>
        <p:spPr>
          <a:xfrm>
            <a:off x="9509760" y="6510528"/>
            <a:ext cx="2286000" cy="256032"/>
          </a:xfrm>
          <a:prstGeom prst="rect">
            <a:avLst/>
          </a:prstGeom>
          <a:noFill/>
        </p:spPr>
        <p:txBody>
          <a:bodyPr wrap="square" lIns="0" tIns="0" rIns="0" bIns="0" anchor="t"/>
          <a:lstStyle/>
          <a:p>
            <a:pPr algn="r"/>
            <a:r>
              <a:rPr sz="1200" b="0">
                <a:solidFill>
                  <a:srgbClr val="5E584F"/>
                </a:solidFill>
                <a:latin typeface="Calibri"/>
              </a:rPr>
              <a:t>26 / 39</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7F4EE"/>
        </a:solidFill>
        <a:effectLst/>
      </p:bgPr>
    </p:bg>
    <p:spTree>
      <p:nvGrpSpPr>
        <p:cNvPr id="1" name=""/>
        <p:cNvGrpSpPr/>
        <p:nvPr/>
      </p:nvGrpSpPr>
      <p:grpSpPr>
        <a:xfrm>
          <a:off x="0" y="0"/>
          <a:ext cx="0" cy="0"/>
          <a:chOff x="0" y="0"/>
          <a:chExt cx="0" cy="0"/>
        </a:xfrm>
      </p:grpSpPr>
      <p:sp>
        <p:nvSpPr>
          <p:cNvPr id="2" name="TextBox 1"/>
          <p:cNvSpPr txBox="1"/>
          <p:nvPr/>
        </p:nvSpPr>
        <p:spPr>
          <a:xfrm>
            <a:off x="365760" y="164592"/>
            <a:ext cx="2011680" cy="256032"/>
          </a:xfrm>
          <a:prstGeom prst="rect">
            <a:avLst/>
          </a:prstGeom>
          <a:noFill/>
        </p:spPr>
        <p:txBody>
          <a:bodyPr wrap="square" lIns="0" tIns="0" rIns="0" bIns="0" anchor="t"/>
          <a:lstStyle/>
          <a:p>
            <a:pPr algn="l"/>
            <a:r>
              <a:rPr sz="1200" b="1">
                <a:solidFill>
                  <a:srgbClr val="0F5E5A"/>
                </a:solidFill>
                <a:latin typeface="Calibri"/>
              </a:rPr>
              <a:t>FIGURE 5A</a:t>
            </a:r>
          </a:p>
        </p:txBody>
      </p:sp>
      <p:sp>
        <p:nvSpPr>
          <p:cNvPr id="3" name="TextBox 2"/>
          <p:cNvSpPr txBox="1"/>
          <p:nvPr/>
        </p:nvSpPr>
        <p:spPr>
          <a:xfrm>
            <a:off x="2286000" y="128016"/>
            <a:ext cx="9509760" cy="329184"/>
          </a:xfrm>
          <a:prstGeom prst="rect">
            <a:avLst/>
          </a:prstGeom>
          <a:noFill/>
        </p:spPr>
        <p:txBody>
          <a:bodyPr wrap="square" lIns="0" tIns="0" rIns="0" bIns="0" anchor="t"/>
          <a:lstStyle/>
          <a:p>
            <a:pPr algn="l"/>
            <a:r>
              <a:rPr sz="1800" b="1">
                <a:solidFill>
                  <a:srgbClr val="1C1915"/>
                </a:solidFill>
                <a:latin typeface="Calibri"/>
              </a:rPr>
              <a:t>Sequence — assertion-level risk reasoning</a:t>
            </a:r>
          </a:p>
        </p:txBody>
      </p:sp>
      <p:pic>
        <p:nvPicPr>
          <p:cNvPr id="4" name="Picture 3" descr="sequence_risk_assessment.png"/>
          <p:cNvPicPr>
            <a:picLocks noChangeAspect="1"/>
          </p:cNvPicPr>
          <p:nvPr/>
        </p:nvPicPr>
        <p:blipFill>
          <a:blip r:embed="rId3"/>
          <a:stretch>
            <a:fillRect/>
          </a:stretch>
        </p:blipFill>
        <p:spPr>
          <a:xfrm>
            <a:off x="4236123" y="530352"/>
            <a:ext cx="3689274" cy="5623560"/>
          </a:xfrm>
          <a:prstGeom prst="rect">
            <a:avLst/>
          </a:prstGeom>
        </p:spPr>
      </p:pic>
      <p:sp>
        <p:nvSpPr>
          <p:cNvPr id="5" name="TextBox 4"/>
          <p:cNvSpPr txBox="1"/>
          <p:nvPr/>
        </p:nvSpPr>
        <p:spPr>
          <a:xfrm>
            <a:off x="365760" y="6199632"/>
            <a:ext cx="11430000" cy="292608"/>
          </a:xfrm>
          <a:prstGeom prst="rect">
            <a:avLst/>
          </a:prstGeom>
          <a:noFill/>
        </p:spPr>
        <p:txBody>
          <a:bodyPr wrap="square" lIns="0" tIns="0" rIns="0" bIns="0" anchor="t"/>
          <a:lstStyle/>
          <a:p>
            <a:pPr algn="l"/>
            <a:r>
              <a:rPr sz="1200" b="0">
                <a:solidFill>
                  <a:srgbClr val="5E584F"/>
                </a:solidFill>
                <a:latin typeface="Calibri"/>
              </a:rPr>
              <a:t>Source (group access)  </a:t>
            </a:r>
            <a:r>
              <a:rPr sz="1200" b="1" u="sng">
                <a:solidFill>
                  <a:srgbClr val="0F5E5A"/>
                </a:solidFill>
                <a:latin typeface="Calibri"/>
                <a:hlinkClick r:id="rId4"/>
              </a:rPr>
              <a:t>docs/diagrams/sequence_risk_assessment.puml</a:t>
            </a:r>
          </a:p>
        </p:txBody>
      </p:sp>
      <p:sp>
        <p:nvSpPr>
          <p:cNvPr id="6" name="TextBox 5"/>
          <p:cNvSpPr txBox="1"/>
          <p:nvPr/>
        </p:nvSpPr>
        <p:spPr>
          <a:xfrm>
            <a:off x="411480" y="6510528"/>
            <a:ext cx="5486400" cy="256032"/>
          </a:xfrm>
          <a:prstGeom prst="rect">
            <a:avLst/>
          </a:prstGeom>
          <a:noFill/>
        </p:spPr>
        <p:txBody>
          <a:bodyPr wrap="square" lIns="0" tIns="0" rIns="0" bIns="0" anchor="t"/>
          <a:lstStyle/>
          <a:p>
            <a:pPr algn="l"/>
            <a:r>
              <a:rPr sz="1200" b="0">
                <a:solidFill>
                  <a:srgbClr val="5E584F"/>
                </a:solidFill>
                <a:latin typeface="Calibri"/>
              </a:rPr>
              <a:t>ELEC5620 · Group 16</a:t>
            </a:r>
          </a:p>
        </p:txBody>
      </p:sp>
      <p:sp>
        <p:nvSpPr>
          <p:cNvPr id="7" name="TextBox 6"/>
          <p:cNvSpPr txBox="1"/>
          <p:nvPr/>
        </p:nvSpPr>
        <p:spPr>
          <a:xfrm>
            <a:off x="9509760" y="6510528"/>
            <a:ext cx="2286000" cy="256032"/>
          </a:xfrm>
          <a:prstGeom prst="rect">
            <a:avLst/>
          </a:prstGeom>
          <a:noFill/>
        </p:spPr>
        <p:txBody>
          <a:bodyPr wrap="square" lIns="0" tIns="0" rIns="0" bIns="0" anchor="t"/>
          <a:lstStyle/>
          <a:p>
            <a:pPr algn="r"/>
            <a:r>
              <a:rPr sz="1200" b="0">
                <a:solidFill>
                  <a:srgbClr val="5E584F"/>
                </a:solidFill>
                <a:latin typeface="Calibri"/>
              </a:rPr>
              <a:t>27 / 39</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7F4EE"/>
        </a:solidFill>
        <a:effectLst/>
      </p:bgPr>
    </p:bg>
    <p:spTree>
      <p:nvGrpSpPr>
        <p:cNvPr id="1" name=""/>
        <p:cNvGrpSpPr/>
        <p:nvPr/>
      </p:nvGrpSpPr>
      <p:grpSpPr>
        <a:xfrm>
          <a:off x="0" y="0"/>
          <a:ext cx="0" cy="0"/>
          <a:chOff x="0" y="0"/>
          <a:chExt cx="0" cy="0"/>
        </a:xfrm>
      </p:grpSpPr>
      <p:sp>
        <p:nvSpPr>
          <p:cNvPr id="2" name="TextBox 1"/>
          <p:cNvSpPr txBox="1"/>
          <p:nvPr/>
        </p:nvSpPr>
        <p:spPr>
          <a:xfrm>
            <a:off x="365760" y="164592"/>
            <a:ext cx="2011680" cy="256032"/>
          </a:xfrm>
          <a:prstGeom prst="rect">
            <a:avLst/>
          </a:prstGeom>
          <a:noFill/>
        </p:spPr>
        <p:txBody>
          <a:bodyPr wrap="square" lIns="0" tIns="0" rIns="0" bIns="0" anchor="t"/>
          <a:lstStyle/>
          <a:p>
            <a:pPr algn="l"/>
            <a:r>
              <a:rPr sz="1200" b="1">
                <a:solidFill>
                  <a:srgbClr val="0F5E5A"/>
                </a:solidFill>
                <a:latin typeface="Calibri"/>
              </a:rPr>
              <a:t>FIGURE 5B</a:t>
            </a:r>
          </a:p>
        </p:txBody>
      </p:sp>
      <p:sp>
        <p:nvSpPr>
          <p:cNvPr id="3" name="TextBox 2"/>
          <p:cNvSpPr txBox="1"/>
          <p:nvPr/>
        </p:nvSpPr>
        <p:spPr>
          <a:xfrm>
            <a:off x="2286000" y="128016"/>
            <a:ext cx="9509760" cy="329184"/>
          </a:xfrm>
          <a:prstGeom prst="rect">
            <a:avLst/>
          </a:prstGeom>
          <a:noFill/>
        </p:spPr>
        <p:txBody>
          <a:bodyPr wrap="square" lIns="0" tIns="0" rIns="0" bIns="0" anchor="t"/>
          <a:lstStyle/>
          <a:p>
            <a:pPr algn="l"/>
            <a:r>
              <a:rPr sz="1800" b="1">
                <a:solidFill>
                  <a:srgbClr val="1C1915"/>
                </a:solidFill>
                <a:latin typeface="Calibri"/>
              </a:rPr>
              <a:t>Sequence — failure paths of a journal-exception attribution</a:t>
            </a:r>
          </a:p>
        </p:txBody>
      </p:sp>
      <p:pic>
        <p:nvPicPr>
          <p:cNvPr id="4" name="Picture 3" descr="sequence_failure_paths.png"/>
          <p:cNvPicPr>
            <a:picLocks noChangeAspect="1"/>
          </p:cNvPicPr>
          <p:nvPr/>
        </p:nvPicPr>
        <p:blipFill>
          <a:blip r:embed="rId3"/>
          <a:stretch>
            <a:fillRect/>
          </a:stretch>
        </p:blipFill>
        <p:spPr>
          <a:xfrm>
            <a:off x="4276410" y="530352"/>
            <a:ext cx="3608699" cy="5623560"/>
          </a:xfrm>
          <a:prstGeom prst="rect">
            <a:avLst/>
          </a:prstGeom>
        </p:spPr>
      </p:pic>
      <p:sp>
        <p:nvSpPr>
          <p:cNvPr id="5" name="TextBox 4"/>
          <p:cNvSpPr txBox="1"/>
          <p:nvPr/>
        </p:nvSpPr>
        <p:spPr>
          <a:xfrm>
            <a:off x="365760" y="6199632"/>
            <a:ext cx="11430000" cy="292608"/>
          </a:xfrm>
          <a:prstGeom prst="rect">
            <a:avLst/>
          </a:prstGeom>
          <a:noFill/>
        </p:spPr>
        <p:txBody>
          <a:bodyPr wrap="square" lIns="0" tIns="0" rIns="0" bIns="0" anchor="t"/>
          <a:lstStyle/>
          <a:p>
            <a:pPr algn="l"/>
            <a:r>
              <a:rPr sz="1200" b="0">
                <a:solidFill>
                  <a:srgbClr val="5E584F"/>
                </a:solidFill>
                <a:latin typeface="Calibri"/>
              </a:rPr>
              <a:t>Source (group access)  </a:t>
            </a:r>
            <a:r>
              <a:rPr sz="1200" b="1" u="sng">
                <a:solidFill>
                  <a:srgbClr val="0F5E5A"/>
                </a:solidFill>
                <a:latin typeface="Calibri"/>
                <a:hlinkClick r:id="rId4"/>
              </a:rPr>
              <a:t>docs/diagrams/sequence_failure_paths.puml</a:t>
            </a:r>
          </a:p>
        </p:txBody>
      </p:sp>
      <p:sp>
        <p:nvSpPr>
          <p:cNvPr id="6" name="TextBox 5"/>
          <p:cNvSpPr txBox="1"/>
          <p:nvPr/>
        </p:nvSpPr>
        <p:spPr>
          <a:xfrm>
            <a:off x="411480" y="6510528"/>
            <a:ext cx="5486400" cy="256032"/>
          </a:xfrm>
          <a:prstGeom prst="rect">
            <a:avLst/>
          </a:prstGeom>
          <a:noFill/>
        </p:spPr>
        <p:txBody>
          <a:bodyPr wrap="square" lIns="0" tIns="0" rIns="0" bIns="0" anchor="t"/>
          <a:lstStyle/>
          <a:p>
            <a:pPr algn="l"/>
            <a:r>
              <a:rPr sz="1200" b="0">
                <a:solidFill>
                  <a:srgbClr val="5E584F"/>
                </a:solidFill>
                <a:latin typeface="Calibri"/>
              </a:rPr>
              <a:t>ELEC5620 · Group 16</a:t>
            </a:r>
          </a:p>
        </p:txBody>
      </p:sp>
      <p:sp>
        <p:nvSpPr>
          <p:cNvPr id="7" name="TextBox 6"/>
          <p:cNvSpPr txBox="1"/>
          <p:nvPr/>
        </p:nvSpPr>
        <p:spPr>
          <a:xfrm>
            <a:off x="9509760" y="6510528"/>
            <a:ext cx="2286000" cy="256032"/>
          </a:xfrm>
          <a:prstGeom prst="rect">
            <a:avLst/>
          </a:prstGeom>
          <a:noFill/>
        </p:spPr>
        <p:txBody>
          <a:bodyPr wrap="square" lIns="0" tIns="0" rIns="0" bIns="0" anchor="t"/>
          <a:lstStyle/>
          <a:p>
            <a:pPr algn="r"/>
            <a:r>
              <a:rPr sz="1200" b="0">
                <a:solidFill>
                  <a:srgbClr val="5E584F"/>
                </a:solidFill>
                <a:latin typeface="Calibri"/>
              </a:rPr>
              <a:t>28 / 39</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7F4EE"/>
        </a:solidFill>
        <a:effectLst/>
      </p:bgPr>
    </p:bg>
    <p:spTree>
      <p:nvGrpSpPr>
        <p:cNvPr id="1" name=""/>
        <p:cNvGrpSpPr/>
        <p:nvPr/>
      </p:nvGrpSpPr>
      <p:grpSpPr>
        <a:xfrm>
          <a:off x="0" y="0"/>
          <a:ext cx="0" cy="0"/>
          <a:chOff x="0" y="0"/>
          <a:chExt cx="0" cy="0"/>
        </a:xfrm>
      </p:grpSpPr>
      <p:sp>
        <p:nvSpPr>
          <p:cNvPr id="2" name="TextBox 1"/>
          <p:cNvSpPr txBox="1"/>
          <p:nvPr/>
        </p:nvSpPr>
        <p:spPr>
          <a:xfrm>
            <a:off x="365760" y="164592"/>
            <a:ext cx="2011680" cy="256032"/>
          </a:xfrm>
          <a:prstGeom prst="rect">
            <a:avLst/>
          </a:prstGeom>
          <a:noFill/>
        </p:spPr>
        <p:txBody>
          <a:bodyPr wrap="square" lIns="0" tIns="0" rIns="0" bIns="0" anchor="t"/>
          <a:lstStyle/>
          <a:p>
            <a:pPr algn="l"/>
            <a:r>
              <a:rPr sz="1200" b="1">
                <a:solidFill>
                  <a:srgbClr val="0F5E5A"/>
                </a:solidFill>
                <a:latin typeface="Calibri"/>
              </a:rPr>
              <a:t>FIGURE 6</a:t>
            </a:r>
          </a:p>
        </p:txBody>
      </p:sp>
      <p:sp>
        <p:nvSpPr>
          <p:cNvPr id="3" name="TextBox 2"/>
          <p:cNvSpPr txBox="1"/>
          <p:nvPr/>
        </p:nvSpPr>
        <p:spPr>
          <a:xfrm>
            <a:off x="2286000" y="128016"/>
            <a:ext cx="9509760" cy="329184"/>
          </a:xfrm>
          <a:prstGeom prst="rect">
            <a:avLst/>
          </a:prstGeom>
          <a:noFill/>
        </p:spPr>
        <p:txBody>
          <a:bodyPr wrap="square" lIns="0" tIns="0" rIns="0" bIns="0" anchor="t"/>
          <a:lstStyle/>
          <a:p>
            <a:pPr algn="l"/>
            <a:r>
              <a:rPr sz="1800" b="1">
                <a:solidFill>
                  <a:srgbClr val="1C1915"/>
                </a:solidFill>
                <a:latin typeface="Calibri"/>
              </a:rPr>
              <a:t>Use cases — actors and the nine use cases</a:t>
            </a:r>
          </a:p>
        </p:txBody>
      </p:sp>
      <p:pic>
        <p:nvPicPr>
          <p:cNvPr id="4" name="Picture 3" descr="usecase.png"/>
          <p:cNvPicPr>
            <a:picLocks noChangeAspect="1"/>
          </p:cNvPicPr>
          <p:nvPr/>
        </p:nvPicPr>
        <p:blipFill>
          <a:blip r:embed="rId3"/>
          <a:stretch>
            <a:fillRect/>
          </a:stretch>
        </p:blipFill>
        <p:spPr>
          <a:xfrm>
            <a:off x="3225599" y="530352"/>
            <a:ext cx="5710321" cy="5623560"/>
          </a:xfrm>
          <a:prstGeom prst="rect">
            <a:avLst/>
          </a:prstGeom>
        </p:spPr>
      </p:pic>
      <p:sp>
        <p:nvSpPr>
          <p:cNvPr id="5" name="TextBox 4"/>
          <p:cNvSpPr txBox="1"/>
          <p:nvPr/>
        </p:nvSpPr>
        <p:spPr>
          <a:xfrm>
            <a:off x="365760" y="6199632"/>
            <a:ext cx="11430000" cy="292608"/>
          </a:xfrm>
          <a:prstGeom prst="rect">
            <a:avLst/>
          </a:prstGeom>
          <a:noFill/>
        </p:spPr>
        <p:txBody>
          <a:bodyPr wrap="square" lIns="0" tIns="0" rIns="0" bIns="0" anchor="t"/>
          <a:lstStyle/>
          <a:p>
            <a:pPr algn="l"/>
            <a:r>
              <a:rPr sz="1200" b="0">
                <a:solidFill>
                  <a:srgbClr val="5E584F"/>
                </a:solidFill>
                <a:latin typeface="Calibri"/>
              </a:rPr>
              <a:t>Source (group access)  </a:t>
            </a:r>
            <a:r>
              <a:rPr sz="1200" b="1" u="sng">
                <a:solidFill>
                  <a:srgbClr val="0F5E5A"/>
                </a:solidFill>
                <a:latin typeface="Calibri"/>
                <a:hlinkClick r:id="rId4"/>
              </a:rPr>
              <a:t>docs/diagrams/usecase.puml</a:t>
            </a:r>
          </a:p>
        </p:txBody>
      </p:sp>
      <p:sp>
        <p:nvSpPr>
          <p:cNvPr id="6" name="TextBox 5"/>
          <p:cNvSpPr txBox="1"/>
          <p:nvPr/>
        </p:nvSpPr>
        <p:spPr>
          <a:xfrm>
            <a:off x="411480" y="6510528"/>
            <a:ext cx="5486400" cy="256032"/>
          </a:xfrm>
          <a:prstGeom prst="rect">
            <a:avLst/>
          </a:prstGeom>
          <a:noFill/>
        </p:spPr>
        <p:txBody>
          <a:bodyPr wrap="square" lIns="0" tIns="0" rIns="0" bIns="0" anchor="t"/>
          <a:lstStyle/>
          <a:p>
            <a:pPr algn="l"/>
            <a:r>
              <a:rPr sz="1200" b="0">
                <a:solidFill>
                  <a:srgbClr val="5E584F"/>
                </a:solidFill>
                <a:latin typeface="Calibri"/>
              </a:rPr>
              <a:t>ELEC5620 · Group 16</a:t>
            </a:r>
          </a:p>
        </p:txBody>
      </p:sp>
      <p:sp>
        <p:nvSpPr>
          <p:cNvPr id="7" name="TextBox 6"/>
          <p:cNvSpPr txBox="1"/>
          <p:nvPr/>
        </p:nvSpPr>
        <p:spPr>
          <a:xfrm>
            <a:off x="9509760" y="6510528"/>
            <a:ext cx="2286000" cy="256032"/>
          </a:xfrm>
          <a:prstGeom prst="rect">
            <a:avLst/>
          </a:prstGeom>
          <a:noFill/>
        </p:spPr>
        <p:txBody>
          <a:bodyPr wrap="square" lIns="0" tIns="0" rIns="0" bIns="0" anchor="t"/>
          <a:lstStyle/>
          <a:p>
            <a:pPr algn="r"/>
            <a:r>
              <a:rPr sz="1200" b="0">
                <a:solidFill>
                  <a:srgbClr val="5E584F"/>
                </a:solidFill>
                <a:latin typeface="Calibri"/>
              </a:rPr>
              <a:t>29 / 39</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7F4EE"/>
        </a:solidFill>
        <a:effectLst/>
      </p:bgPr>
    </p:bg>
    <p:spTree>
      <p:nvGrpSpPr>
        <p:cNvPr id="1" name=""/>
        <p:cNvGrpSpPr/>
        <p:nvPr/>
      </p:nvGrpSpPr>
      <p:grpSpPr>
        <a:xfrm>
          <a:off x="0" y="0"/>
          <a:ext cx="0" cy="0"/>
          <a:chOff x="0" y="0"/>
          <a:chExt cx="0" cy="0"/>
        </a:xfrm>
      </p:grpSpPr>
      <p:sp>
        <p:nvSpPr>
          <p:cNvPr id="2" name="TextBox 1"/>
          <p:cNvSpPr txBox="1"/>
          <p:nvPr/>
        </p:nvSpPr>
        <p:spPr>
          <a:xfrm>
            <a:off x="365760" y="164592"/>
            <a:ext cx="2011680" cy="256032"/>
          </a:xfrm>
          <a:prstGeom prst="rect">
            <a:avLst/>
          </a:prstGeom>
          <a:noFill/>
        </p:spPr>
        <p:txBody>
          <a:bodyPr wrap="square" lIns="0" tIns="0" rIns="0" bIns="0" anchor="t"/>
          <a:lstStyle/>
          <a:p>
            <a:pPr algn="l"/>
            <a:r>
              <a:rPr sz="1200" b="1">
                <a:solidFill>
                  <a:srgbClr val="0F5E5A"/>
                </a:solidFill>
                <a:latin typeface="Calibri"/>
              </a:rPr>
              <a:t>FIGURE 6A</a:t>
            </a:r>
          </a:p>
        </p:txBody>
      </p:sp>
      <p:sp>
        <p:nvSpPr>
          <p:cNvPr id="3" name="TextBox 2"/>
          <p:cNvSpPr txBox="1"/>
          <p:nvPr/>
        </p:nvSpPr>
        <p:spPr>
          <a:xfrm>
            <a:off x="2286000" y="128016"/>
            <a:ext cx="9509760" cy="329184"/>
          </a:xfrm>
          <a:prstGeom prst="rect">
            <a:avLst/>
          </a:prstGeom>
          <a:noFill/>
        </p:spPr>
        <p:txBody>
          <a:bodyPr wrap="square" lIns="0" tIns="0" rIns="0" bIns="0" anchor="t"/>
          <a:lstStyle/>
          <a:p>
            <a:pPr algn="l"/>
            <a:r>
              <a:rPr sz="1800" b="1">
                <a:solidFill>
                  <a:srgbClr val="1C1915"/>
                </a:solidFill>
                <a:latin typeface="Calibri"/>
              </a:rPr>
              <a:t>Use case specification — UC-01 to UC-03</a:t>
            </a:r>
          </a:p>
        </p:txBody>
      </p:sp>
      <p:pic>
        <p:nvPicPr>
          <p:cNvPr id="4" name="Picture 3" descr="usecase_spec_member_a.png"/>
          <p:cNvPicPr>
            <a:picLocks noChangeAspect="1"/>
          </p:cNvPicPr>
          <p:nvPr/>
        </p:nvPicPr>
        <p:blipFill>
          <a:blip r:embed="rId3"/>
          <a:stretch>
            <a:fillRect/>
          </a:stretch>
        </p:blipFill>
        <p:spPr>
          <a:xfrm>
            <a:off x="2581979" y="530352"/>
            <a:ext cx="6997562" cy="5623560"/>
          </a:xfrm>
          <a:prstGeom prst="rect">
            <a:avLst/>
          </a:prstGeom>
        </p:spPr>
      </p:pic>
      <p:sp>
        <p:nvSpPr>
          <p:cNvPr id="5" name="TextBox 4"/>
          <p:cNvSpPr txBox="1"/>
          <p:nvPr/>
        </p:nvSpPr>
        <p:spPr>
          <a:xfrm>
            <a:off x="365760" y="6199632"/>
            <a:ext cx="11430000" cy="292608"/>
          </a:xfrm>
          <a:prstGeom prst="rect">
            <a:avLst/>
          </a:prstGeom>
          <a:noFill/>
        </p:spPr>
        <p:txBody>
          <a:bodyPr wrap="square" lIns="0" tIns="0" rIns="0" bIns="0" anchor="t"/>
          <a:lstStyle/>
          <a:p>
            <a:pPr algn="l"/>
            <a:r>
              <a:rPr sz="1200" b="0">
                <a:solidFill>
                  <a:srgbClr val="5E584F"/>
                </a:solidFill>
                <a:latin typeface="Calibri"/>
              </a:rPr>
              <a:t>Source (group access)  </a:t>
            </a:r>
            <a:r>
              <a:rPr sz="1200" b="1" u="sng">
                <a:solidFill>
                  <a:srgbClr val="0F5E5A"/>
                </a:solidFill>
                <a:latin typeface="Calibri"/>
                <a:hlinkClick r:id="rId4"/>
              </a:rPr>
              <a:t>docs/diagrams/usecase_spec_member_a.puml</a:t>
            </a:r>
          </a:p>
        </p:txBody>
      </p:sp>
      <p:sp>
        <p:nvSpPr>
          <p:cNvPr id="6" name="TextBox 5"/>
          <p:cNvSpPr txBox="1"/>
          <p:nvPr/>
        </p:nvSpPr>
        <p:spPr>
          <a:xfrm>
            <a:off x="411480" y="6510528"/>
            <a:ext cx="5486400" cy="256032"/>
          </a:xfrm>
          <a:prstGeom prst="rect">
            <a:avLst/>
          </a:prstGeom>
          <a:noFill/>
        </p:spPr>
        <p:txBody>
          <a:bodyPr wrap="square" lIns="0" tIns="0" rIns="0" bIns="0" anchor="t"/>
          <a:lstStyle/>
          <a:p>
            <a:pPr algn="l"/>
            <a:r>
              <a:rPr sz="1200" b="0">
                <a:solidFill>
                  <a:srgbClr val="5E584F"/>
                </a:solidFill>
                <a:latin typeface="Calibri"/>
              </a:rPr>
              <a:t>ELEC5620 · Group 16</a:t>
            </a:r>
          </a:p>
        </p:txBody>
      </p:sp>
      <p:sp>
        <p:nvSpPr>
          <p:cNvPr id="7" name="TextBox 6"/>
          <p:cNvSpPr txBox="1"/>
          <p:nvPr/>
        </p:nvSpPr>
        <p:spPr>
          <a:xfrm>
            <a:off x="9509760" y="6510528"/>
            <a:ext cx="2286000" cy="256032"/>
          </a:xfrm>
          <a:prstGeom prst="rect">
            <a:avLst/>
          </a:prstGeom>
          <a:noFill/>
        </p:spPr>
        <p:txBody>
          <a:bodyPr wrap="square" lIns="0" tIns="0" rIns="0" bIns="0" anchor="t"/>
          <a:lstStyle/>
          <a:p>
            <a:pPr algn="r"/>
            <a:r>
              <a:rPr sz="1200" b="0">
                <a:solidFill>
                  <a:srgbClr val="5E584F"/>
                </a:solidFill>
                <a:latin typeface="Calibri"/>
              </a:rPr>
              <a:t>30 / 39</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7F4EE"/>
        </a:solidFill>
        <a:effectLst/>
      </p:bgPr>
    </p:bg>
    <p:spTree>
      <p:nvGrpSpPr>
        <p:cNvPr id="1" name=""/>
        <p:cNvGrpSpPr/>
        <p:nvPr/>
      </p:nvGrpSpPr>
      <p:grpSpPr>
        <a:xfrm>
          <a:off x="0" y="0"/>
          <a:ext cx="0" cy="0"/>
          <a:chOff x="0" y="0"/>
          <a:chExt cx="0" cy="0"/>
        </a:xfrm>
      </p:grpSpPr>
      <p:sp>
        <p:nvSpPr>
          <p:cNvPr id="2" name="TextBox 1"/>
          <p:cNvSpPr txBox="1"/>
          <p:nvPr/>
        </p:nvSpPr>
        <p:spPr>
          <a:xfrm>
            <a:off x="365760" y="164592"/>
            <a:ext cx="2011680" cy="256032"/>
          </a:xfrm>
          <a:prstGeom prst="rect">
            <a:avLst/>
          </a:prstGeom>
          <a:noFill/>
        </p:spPr>
        <p:txBody>
          <a:bodyPr wrap="square" lIns="0" tIns="0" rIns="0" bIns="0" anchor="t"/>
          <a:lstStyle/>
          <a:p>
            <a:pPr algn="l"/>
            <a:r>
              <a:rPr sz="1200" b="1">
                <a:solidFill>
                  <a:srgbClr val="0F5E5A"/>
                </a:solidFill>
                <a:latin typeface="Calibri"/>
              </a:rPr>
              <a:t>FIGURE 6B</a:t>
            </a:r>
          </a:p>
        </p:txBody>
      </p:sp>
      <p:sp>
        <p:nvSpPr>
          <p:cNvPr id="3" name="TextBox 2"/>
          <p:cNvSpPr txBox="1"/>
          <p:nvPr/>
        </p:nvSpPr>
        <p:spPr>
          <a:xfrm>
            <a:off x="2286000" y="128016"/>
            <a:ext cx="9509760" cy="329184"/>
          </a:xfrm>
          <a:prstGeom prst="rect">
            <a:avLst/>
          </a:prstGeom>
          <a:noFill/>
        </p:spPr>
        <p:txBody>
          <a:bodyPr wrap="square" lIns="0" tIns="0" rIns="0" bIns="0" anchor="t"/>
          <a:lstStyle/>
          <a:p>
            <a:pPr algn="l"/>
            <a:r>
              <a:rPr sz="1800" b="1">
                <a:solidFill>
                  <a:srgbClr val="1C1915"/>
                </a:solidFill>
                <a:latin typeface="Calibri"/>
              </a:rPr>
              <a:t>Use case specification — UC-04 to UC-06</a:t>
            </a:r>
          </a:p>
        </p:txBody>
      </p:sp>
      <p:pic>
        <p:nvPicPr>
          <p:cNvPr id="4" name="Picture 3" descr="usecase_spec_member_b.png"/>
          <p:cNvPicPr>
            <a:picLocks noChangeAspect="1"/>
          </p:cNvPicPr>
          <p:nvPr/>
        </p:nvPicPr>
        <p:blipFill>
          <a:blip r:embed="rId3"/>
          <a:stretch>
            <a:fillRect/>
          </a:stretch>
        </p:blipFill>
        <p:spPr>
          <a:xfrm>
            <a:off x="3170262" y="530352"/>
            <a:ext cx="5820995" cy="5623560"/>
          </a:xfrm>
          <a:prstGeom prst="rect">
            <a:avLst/>
          </a:prstGeom>
        </p:spPr>
      </p:pic>
      <p:sp>
        <p:nvSpPr>
          <p:cNvPr id="5" name="TextBox 4"/>
          <p:cNvSpPr txBox="1"/>
          <p:nvPr/>
        </p:nvSpPr>
        <p:spPr>
          <a:xfrm>
            <a:off x="365760" y="6199632"/>
            <a:ext cx="11430000" cy="292608"/>
          </a:xfrm>
          <a:prstGeom prst="rect">
            <a:avLst/>
          </a:prstGeom>
          <a:noFill/>
        </p:spPr>
        <p:txBody>
          <a:bodyPr wrap="square" lIns="0" tIns="0" rIns="0" bIns="0" anchor="t"/>
          <a:lstStyle/>
          <a:p>
            <a:pPr algn="l"/>
            <a:r>
              <a:rPr sz="1200" b="0">
                <a:solidFill>
                  <a:srgbClr val="5E584F"/>
                </a:solidFill>
                <a:latin typeface="Calibri"/>
              </a:rPr>
              <a:t>Source (group access)  </a:t>
            </a:r>
            <a:r>
              <a:rPr sz="1200" b="1" u="sng">
                <a:solidFill>
                  <a:srgbClr val="0F5E5A"/>
                </a:solidFill>
                <a:latin typeface="Calibri"/>
                <a:hlinkClick r:id="rId4"/>
              </a:rPr>
              <a:t>docs/diagrams/usecase_spec_member_b.puml</a:t>
            </a:r>
          </a:p>
        </p:txBody>
      </p:sp>
      <p:sp>
        <p:nvSpPr>
          <p:cNvPr id="6" name="TextBox 5"/>
          <p:cNvSpPr txBox="1"/>
          <p:nvPr/>
        </p:nvSpPr>
        <p:spPr>
          <a:xfrm>
            <a:off x="411480" y="6510528"/>
            <a:ext cx="5486400" cy="256032"/>
          </a:xfrm>
          <a:prstGeom prst="rect">
            <a:avLst/>
          </a:prstGeom>
          <a:noFill/>
        </p:spPr>
        <p:txBody>
          <a:bodyPr wrap="square" lIns="0" tIns="0" rIns="0" bIns="0" anchor="t"/>
          <a:lstStyle/>
          <a:p>
            <a:pPr algn="l"/>
            <a:r>
              <a:rPr sz="1200" b="0">
                <a:solidFill>
                  <a:srgbClr val="5E584F"/>
                </a:solidFill>
                <a:latin typeface="Calibri"/>
              </a:rPr>
              <a:t>ELEC5620 · Group 16</a:t>
            </a:r>
          </a:p>
        </p:txBody>
      </p:sp>
      <p:sp>
        <p:nvSpPr>
          <p:cNvPr id="7" name="TextBox 6"/>
          <p:cNvSpPr txBox="1"/>
          <p:nvPr/>
        </p:nvSpPr>
        <p:spPr>
          <a:xfrm>
            <a:off x="9509760" y="6510528"/>
            <a:ext cx="2286000" cy="256032"/>
          </a:xfrm>
          <a:prstGeom prst="rect">
            <a:avLst/>
          </a:prstGeom>
          <a:noFill/>
        </p:spPr>
        <p:txBody>
          <a:bodyPr wrap="square" lIns="0" tIns="0" rIns="0" bIns="0" anchor="t"/>
          <a:lstStyle/>
          <a:p>
            <a:pPr algn="r"/>
            <a:r>
              <a:rPr sz="1200" b="0">
                <a:solidFill>
                  <a:srgbClr val="5E584F"/>
                </a:solidFill>
                <a:latin typeface="Calibri"/>
              </a:rPr>
              <a:t>31 / 39</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7F4EE"/>
        </a:solidFill>
        <a:effectLst/>
      </p:bgPr>
    </p:bg>
    <p:spTree>
      <p:nvGrpSpPr>
        <p:cNvPr id="1" name=""/>
        <p:cNvGrpSpPr/>
        <p:nvPr/>
      </p:nvGrpSpPr>
      <p:grpSpPr>
        <a:xfrm>
          <a:off x="0" y="0"/>
          <a:ext cx="0" cy="0"/>
          <a:chOff x="0" y="0"/>
          <a:chExt cx="0" cy="0"/>
        </a:xfrm>
      </p:grpSpPr>
      <p:sp>
        <p:nvSpPr>
          <p:cNvPr id="2" name="TextBox 1"/>
          <p:cNvSpPr txBox="1"/>
          <p:nvPr/>
        </p:nvSpPr>
        <p:spPr>
          <a:xfrm>
            <a:off x="365760" y="164592"/>
            <a:ext cx="2011680" cy="256032"/>
          </a:xfrm>
          <a:prstGeom prst="rect">
            <a:avLst/>
          </a:prstGeom>
          <a:noFill/>
        </p:spPr>
        <p:txBody>
          <a:bodyPr wrap="square" lIns="0" tIns="0" rIns="0" bIns="0" anchor="t"/>
          <a:lstStyle/>
          <a:p>
            <a:pPr algn="l"/>
            <a:r>
              <a:rPr sz="1200" b="1">
                <a:solidFill>
                  <a:srgbClr val="0F5E5A"/>
                </a:solidFill>
                <a:latin typeface="Calibri"/>
              </a:rPr>
              <a:t>FIGURE 6C</a:t>
            </a:r>
          </a:p>
        </p:txBody>
      </p:sp>
      <p:sp>
        <p:nvSpPr>
          <p:cNvPr id="3" name="TextBox 2"/>
          <p:cNvSpPr txBox="1"/>
          <p:nvPr/>
        </p:nvSpPr>
        <p:spPr>
          <a:xfrm>
            <a:off x="2286000" y="128016"/>
            <a:ext cx="9509760" cy="329184"/>
          </a:xfrm>
          <a:prstGeom prst="rect">
            <a:avLst/>
          </a:prstGeom>
          <a:noFill/>
        </p:spPr>
        <p:txBody>
          <a:bodyPr wrap="square" lIns="0" tIns="0" rIns="0" bIns="0" anchor="t"/>
          <a:lstStyle/>
          <a:p>
            <a:pPr algn="l"/>
            <a:r>
              <a:rPr sz="1800" b="1">
                <a:solidFill>
                  <a:srgbClr val="1C1915"/>
                </a:solidFill>
                <a:latin typeface="Calibri"/>
              </a:rPr>
              <a:t>Use case specification — UC-07 to UC-09</a:t>
            </a:r>
          </a:p>
        </p:txBody>
      </p:sp>
      <p:pic>
        <p:nvPicPr>
          <p:cNvPr id="4" name="Picture 3" descr="usecase_spec_member_c.png"/>
          <p:cNvPicPr>
            <a:picLocks noChangeAspect="1"/>
          </p:cNvPicPr>
          <p:nvPr/>
        </p:nvPicPr>
        <p:blipFill>
          <a:blip r:embed="rId3"/>
          <a:stretch>
            <a:fillRect/>
          </a:stretch>
        </p:blipFill>
        <p:spPr>
          <a:xfrm>
            <a:off x="3082992" y="530352"/>
            <a:ext cx="5995535" cy="5623560"/>
          </a:xfrm>
          <a:prstGeom prst="rect">
            <a:avLst/>
          </a:prstGeom>
        </p:spPr>
      </p:pic>
      <p:sp>
        <p:nvSpPr>
          <p:cNvPr id="5" name="TextBox 4"/>
          <p:cNvSpPr txBox="1"/>
          <p:nvPr/>
        </p:nvSpPr>
        <p:spPr>
          <a:xfrm>
            <a:off x="365760" y="6199632"/>
            <a:ext cx="11430000" cy="292608"/>
          </a:xfrm>
          <a:prstGeom prst="rect">
            <a:avLst/>
          </a:prstGeom>
          <a:noFill/>
        </p:spPr>
        <p:txBody>
          <a:bodyPr wrap="square" lIns="0" tIns="0" rIns="0" bIns="0" anchor="t"/>
          <a:lstStyle/>
          <a:p>
            <a:pPr algn="l"/>
            <a:r>
              <a:rPr sz="1200" b="0">
                <a:solidFill>
                  <a:srgbClr val="5E584F"/>
                </a:solidFill>
                <a:latin typeface="Calibri"/>
              </a:rPr>
              <a:t>Source (group access)  </a:t>
            </a:r>
            <a:r>
              <a:rPr sz="1200" b="1" u="sng">
                <a:solidFill>
                  <a:srgbClr val="0F5E5A"/>
                </a:solidFill>
                <a:latin typeface="Calibri"/>
                <a:hlinkClick r:id="rId4"/>
              </a:rPr>
              <a:t>docs/diagrams/usecase_spec_member_c.puml</a:t>
            </a:r>
          </a:p>
        </p:txBody>
      </p:sp>
      <p:sp>
        <p:nvSpPr>
          <p:cNvPr id="6" name="TextBox 5"/>
          <p:cNvSpPr txBox="1"/>
          <p:nvPr/>
        </p:nvSpPr>
        <p:spPr>
          <a:xfrm>
            <a:off x="411480" y="6510528"/>
            <a:ext cx="5486400" cy="256032"/>
          </a:xfrm>
          <a:prstGeom prst="rect">
            <a:avLst/>
          </a:prstGeom>
          <a:noFill/>
        </p:spPr>
        <p:txBody>
          <a:bodyPr wrap="square" lIns="0" tIns="0" rIns="0" bIns="0" anchor="t"/>
          <a:lstStyle/>
          <a:p>
            <a:pPr algn="l"/>
            <a:r>
              <a:rPr sz="1200" b="0">
                <a:solidFill>
                  <a:srgbClr val="5E584F"/>
                </a:solidFill>
                <a:latin typeface="Calibri"/>
              </a:rPr>
              <a:t>ELEC5620 · Group 16</a:t>
            </a:r>
          </a:p>
        </p:txBody>
      </p:sp>
      <p:sp>
        <p:nvSpPr>
          <p:cNvPr id="7" name="TextBox 6"/>
          <p:cNvSpPr txBox="1"/>
          <p:nvPr/>
        </p:nvSpPr>
        <p:spPr>
          <a:xfrm>
            <a:off x="9509760" y="6510528"/>
            <a:ext cx="2286000" cy="256032"/>
          </a:xfrm>
          <a:prstGeom prst="rect">
            <a:avLst/>
          </a:prstGeom>
          <a:noFill/>
        </p:spPr>
        <p:txBody>
          <a:bodyPr wrap="square" lIns="0" tIns="0" rIns="0" bIns="0" anchor="t"/>
          <a:lstStyle/>
          <a:p>
            <a:pPr algn="r"/>
            <a:r>
              <a:rPr sz="1200" b="0">
                <a:solidFill>
                  <a:srgbClr val="5E584F"/>
                </a:solidFill>
                <a:latin typeface="Calibri"/>
              </a:rPr>
              <a:t>32 / 39</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7F4EE"/>
        </a:solidFill>
        <a:effectLst/>
      </p:bgPr>
    </p:bg>
    <p:spTree>
      <p:nvGrpSpPr>
        <p:cNvPr id="1" name=""/>
        <p:cNvGrpSpPr/>
        <p:nvPr/>
      </p:nvGrpSpPr>
      <p:grpSpPr>
        <a:xfrm>
          <a:off x="0" y="0"/>
          <a:ext cx="0" cy="0"/>
          <a:chOff x="0" y="0"/>
          <a:chExt cx="0" cy="0"/>
        </a:xfrm>
      </p:grpSpPr>
      <p:sp>
        <p:nvSpPr>
          <p:cNvPr id="2" name="TextBox 1"/>
          <p:cNvSpPr txBox="1"/>
          <p:nvPr/>
        </p:nvSpPr>
        <p:spPr>
          <a:xfrm>
            <a:off x="365760" y="164592"/>
            <a:ext cx="2011680" cy="256032"/>
          </a:xfrm>
          <a:prstGeom prst="rect">
            <a:avLst/>
          </a:prstGeom>
          <a:noFill/>
        </p:spPr>
        <p:txBody>
          <a:bodyPr wrap="square" lIns="0" tIns="0" rIns="0" bIns="0" anchor="t"/>
          <a:lstStyle/>
          <a:p>
            <a:pPr algn="l"/>
            <a:r>
              <a:rPr sz="1200" b="1">
                <a:solidFill>
                  <a:srgbClr val="0F5E5A"/>
                </a:solidFill>
                <a:latin typeface="Calibri"/>
              </a:rPr>
              <a:t>FIGURE 7</a:t>
            </a:r>
          </a:p>
        </p:txBody>
      </p:sp>
      <p:sp>
        <p:nvSpPr>
          <p:cNvPr id="3" name="TextBox 2"/>
          <p:cNvSpPr txBox="1"/>
          <p:nvPr/>
        </p:nvSpPr>
        <p:spPr>
          <a:xfrm>
            <a:off x="2286000" y="128016"/>
            <a:ext cx="9509760" cy="329184"/>
          </a:xfrm>
          <a:prstGeom prst="rect">
            <a:avLst/>
          </a:prstGeom>
          <a:noFill/>
        </p:spPr>
        <p:txBody>
          <a:bodyPr wrap="square" lIns="0" tIns="0" rIns="0" bIns="0" anchor="t"/>
          <a:lstStyle/>
          <a:p>
            <a:pPr algn="l"/>
            <a:r>
              <a:rPr sz="1800" b="1">
                <a:solidFill>
                  <a:srgbClr val="1C1915"/>
                </a:solidFill>
                <a:latin typeface="Calibri"/>
              </a:rPr>
              <a:t>Requirements — mandatory and optional</a:t>
            </a:r>
          </a:p>
        </p:txBody>
      </p:sp>
      <p:pic>
        <p:nvPicPr>
          <p:cNvPr id="4" name="Picture 3" descr="requirements.png"/>
          <p:cNvPicPr>
            <a:picLocks noChangeAspect="1"/>
          </p:cNvPicPr>
          <p:nvPr/>
        </p:nvPicPr>
        <p:blipFill>
          <a:blip r:embed="rId3"/>
          <a:stretch>
            <a:fillRect/>
          </a:stretch>
        </p:blipFill>
        <p:spPr>
          <a:xfrm>
            <a:off x="320040" y="1662160"/>
            <a:ext cx="11521440" cy="3359943"/>
          </a:xfrm>
          <a:prstGeom prst="rect">
            <a:avLst/>
          </a:prstGeom>
        </p:spPr>
      </p:pic>
      <p:sp>
        <p:nvSpPr>
          <p:cNvPr id="5" name="TextBox 4"/>
          <p:cNvSpPr txBox="1"/>
          <p:nvPr/>
        </p:nvSpPr>
        <p:spPr>
          <a:xfrm>
            <a:off x="365760" y="6199632"/>
            <a:ext cx="11430000" cy="292608"/>
          </a:xfrm>
          <a:prstGeom prst="rect">
            <a:avLst/>
          </a:prstGeom>
          <a:noFill/>
        </p:spPr>
        <p:txBody>
          <a:bodyPr wrap="square" lIns="0" tIns="0" rIns="0" bIns="0" anchor="t"/>
          <a:lstStyle/>
          <a:p>
            <a:pPr algn="l"/>
            <a:r>
              <a:rPr sz="1200" b="0">
                <a:solidFill>
                  <a:srgbClr val="5E584F"/>
                </a:solidFill>
                <a:latin typeface="Calibri"/>
              </a:rPr>
              <a:t>Source (group access)  </a:t>
            </a:r>
            <a:r>
              <a:rPr sz="1200" b="1" u="sng">
                <a:solidFill>
                  <a:srgbClr val="0F5E5A"/>
                </a:solidFill>
                <a:latin typeface="Calibri"/>
                <a:hlinkClick r:id="rId4"/>
              </a:rPr>
              <a:t>docs/diagrams/requirements.puml</a:t>
            </a:r>
          </a:p>
        </p:txBody>
      </p:sp>
      <p:sp>
        <p:nvSpPr>
          <p:cNvPr id="6" name="TextBox 5"/>
          <p:cNvSpPr txBox="1"/>
          <p:nvPr/>
        </p:nvSpPr>
        <p:spPr>
          <a:xfrm>
            <a:off x="411480" y="6510528"/>
            <a:ext cx="5486400" cy="256032"/>
          </a:xfrm>
          <a:prstGeom prst="rect">
            <a:avLst/>
          </a:prstGeom>
          <a:noFill/>
        </p:spPr>
        <p:txBody>
          <a:bodyPr wrap="square" lIns="0" tIns="0" rIns="0" bIns="0" anchor="t"/>
          <a:lstStyle/>
          <a:p>
            <a:pPr algn="l"/>
            <a:r>
              <a:rPr sz="1200" b="0">
                <a:solidFill>
                  <a:srgbClr val="5E584F"/>
                </a:solidFill>
                <a:latin typeface="Calibri"/>
              </a:rPr>
              <a:t>ELEC5620 · Group 16</a:t>
            </a:r>
          </a:p>
        </p:txBody>
      </p:sp>
      <p:sp>
        <p:nvSpPr>
          <p:cNvPr id="7" name="TextBox 6"/>
          <p:cNvSpPr txBox="1"/>
          <p:nvPr/>
        </p:nvSpPr>
        <p:spPr>
          <a:xfrm>
            <a:off x="9509760" y="6510528"/>
            <a:ext cx="2286000" cy="256032"/>
          </a:xfrm>
          <a:prstGeom prst="rect">
            <a:avLst/>
          </a:prstGeom>
          <a:noFill/>
        </p:spPr>
        <p:txBody>
          <a:bodyPr wrap="square" lIns="0" tIns="0" rIns="0" bIns="0" anchor="t"/>
          <a:lstStyle/>
          <a:p>
            <a:pPr algn="r"/>
            <a:r>
              <a:rPr sz="1200" b="0">
                <a:solidFill>
                  <a:srgbClr val="5E584F"/>
                </a:solidFill>
                <a:latin typeface="Calibri"/>
              </a:rPr>
              <a:t>33 / 39</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7F4EE"/>
        </a:solidFill>
        <a:effectLst/>
      </p:bgPr>
    </p:bg>
    <p:spTree>
      <p:nvGrpSpPr>
        <p:cNvPr id="1" name=""/>
        <p:cNvGrpSpPr/>
        <p:nvPr/>
      </p:nvGrpSpPr>
      <p:grpSpPr>
        <a:xfrm>
          <a:off x="0" y="0"/>
          <a:ext cx="0" cy="0"/>
          <a:chOff x="0" y="0"/>
          <a:chExt cx="0" cy="0"/>
        </a:xfrm>
      </p:grpSpPr>
      <p:sp>
        <p:nvSpPr>
          <p:cNvPr id="2" name="TextBox 1"/>
          <p:cNvSpPr txBox="1"/>
          <p:nvPr/>
        </p:nvSpPr>
        <p:spPr>
          <a:xfrm>
            <a:off x="365760" y="164592"/>
            <a:ext cx="2011680" cy="256032"/>
          </a:xfrm>
          <a:prstGeom prst="rect">
            <a:avLst/>
          </a:prstGeom>
          <a:noFill/>
        </p:spPr>
        <p:txBody>
          <a:bodyPr wrap="square" lIns="0" tIns="0" rIns="0" bIns="0" anchor="t"/>
          <a:lstStyle/>
          <a:p>
            <a:pPr algn="l"/>
            <a:r>
              <a:rPr sz="1200" b="1">
                <a:solidFill>
                  <a:srgbClr val="0F5E5A"/>
                </a:solidFill>
                <a:latin typeface="Calibri"/>
              </a:rPr>
              <a:t>FIGURE 7A</a:t>
            </a:r>
          </a:p>
        </p:txBody>
      </p:sp>
      <p:sp>
        <p:nvSpPr>
          <p:cNvPr id="3" name="TextBox 2"/>
          <p:cNvSpPr txBox="1"/>
          <p:nvPr/>
        </p:nvSpPr>
        <p:spPr>
          <a:xfrm>
            <a:off x="2286000" y="128016"/>
            <a:ext cx="9509760" cy="329184"/>
          </a:xfrm>
          <a:prstGeom prst="rect">
            <a:avLst/>
          </a:prstGeom>
          <a:noFill/>
        </p:spPr>
        <p:txBody>
          <a:bodyPr wrap="square" lIns="0" tIns="0" rIns="0" bIns="0" anchor="t"/>
          <a:lstStyle/>
          <a:p>
            <a:pPr algn="l"/>
            <a:r>
              <a:rPr sz="1800" b="1">
                <a:solidFill>
                  <a:srgbClr val="1C1915"/>
                </a:solidFill>
                <a:latin typeface="Calibri"/>
              </a:rPr>
              <a:t>Requirements — execution and evidence</a:t>
            </a:r>
          </a:p>
        </p:txBody>
      </p:sp>
      <p:pic>
        <p:nvPicPr>
          <p:cNvPr id="4" name="Picture 3" descr="requirements_member_a.png"/>
          <p:cNvPicPr>
            <a:picLocks noChangeAspect="1"/>
          </p:cNvPicPr>
          <p:nvPr/>
        </p:nvPicPr>
        <p:blipFill>
          <a:blip r:embed="rId3"/>
          <a:stretch>
            <a:fillRect/>
          </a:stretch>
        </p:blipFill>
        <p:spPr>
          <a:xfrm>
            <a:off x="320040" y="1209174"/>
            <a:ext cx="11521440" cy="4265915"/>
          </a:xfrm>
          <a:prstGeom prst="rect">
            <a:avLst/>
          </a:prstGeom>
        </p:spPr>
      </p:pic>
      <p:sp>
        <p:nvSpPr>
          <p:cNvPr id="5" name="TextBox 4"/>
          <p:cNvSpPr txBox="1"/>
          <p:nvPr/>
        </p:nvSpPr>
        <p:spPr>
          <a:xfrm>
            <a:off x="365760" y="6199632"/>
            <a:ext cx="11430000" cy="292608"/>
          </a:xfrm>
          <a:prstGeom prst="rect">
            <a:avLst/>
          </a:prstGeom>
          <a:noFill/>
        </p:spPr>
        <p:txBody>
          <a:bodyPr wrap="square" lIns="0" tIns="0" rIns="0" bIns="0" anchor="t"/>
          <a:lstStyle/>
          <a:p>
            <a:pPr algn="l"/>
            <a:r>
              <a:rPr sz="1200" b="0">
                <a:solidFill>
                  <a:srgbClr val="5E584F"/>
                </a:solidFill>
                <a:latin typeface="Calibri"/>
              </a:rPr>
              <a:t>Source (group access)  </a:t>
            </a:r>
            <a:r>
              <a:rPr sz="1200" b="1" u="sng">
                <a:solidFill>
                  <a:srgbClr val="0F5E5A"/>
                </a:solidFill>
                <a:latin typeface="Calibri"/>
                <a:hlinkClick r:id="rId4"/>
              </a:rPr>
              <a:t>docs/diagrams/requirements_member_a.puml</a:t>
            </a:r>
          </a:p>
        </p:txBody>
      </p:sp>
      <p:sp>
        <p:nvSpPr>
          <p:cNvPr id="6" name="TextBox 5"/>
          <p:cNvSpPr txBox="1"/>
          <p:nvPr/>
        </p:nvSpPr>
        <p:spPr>
          <a:xfrm>
            <a:off x="411480" y="6510528"/>
            <a:ext cx="5486400" cy="256032"/>
          </a:xfrm>
          <a:prstGeom prst="rect">
            <a:avLst/>
          </a:prstGeom>
          <a:noFill/>
        </p:spPr>
        <p:txBody>
          <a:bodyPr wrap="square" lIns="0" tIns="0" rIns="0" bIns="0" anchor="t"/>
          <a:lstStyle/>
          <a:p>
            <a:pPr algn="l"/>
            <a:r>
              <a:rPr sz="1200" b="0">
                <a:solidFill>
                  <a:srgbClr val="5E584F"/>
                </a:solidFill>
                <a:latin typeface="Calibri"/>
              </a:rPr>
              <a:t>ELEC5620 · Group 16</a:t>
            </a:r>
          </a:p>
        </p:txBody>
      </p:sp>
      <p:sp>
        <p:nvSpPr>
          <p:cNvPr id="7" name="TextBox 6"/>
          <p:cNvSpPr txBox="1"/>
          <p:nvPr/>
        </p:nvSpPr>
        <p:spPr>
          <a:xfrm>
            <a:off x="9509760" y="6510528"/>
            <a:ext cx="2286000" cy="256032"/>
          </a:xfrm>
          <a:prstGeom prst="rect">
            <a:avLst/>
          </a:prstGeom>
          <a:noFill/>
        </p:spPr>
        <p:txBody>
          <a:bodyPr wrap="square" lIns="0" tIns="0" rIns="0" bIns="0" anchor="t"/>
          <a:lstStyle/>
          <a:p>
            <a:pPr algn="r"/>
            <a:r>
              <a:rPr sz="1200" b="0">
                <a:solidFill>
                  <a:srgbClr val="5E584F"/>
                </a:solidFill>
                <a:latin typeface="Calibri"/>
              </a:rPr>
              <a:t>34 / 39</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7F4EE"/>
        </a:solidFill>
        <a:effectLst/>
      </p:bgPr>
    </p:bg>
    <p:spTree>
      <p:nvGrpSpPr>
        <p:cNvPr id="1" name=""/>
        <p:cNvGrpSpPr/>
        <p:nvPr/>
      </p:nvGrpSpPr>
      <p:grpSpPr>
        <a:xfrm>
          <a:off x="0" y="0"/>
          <a:ext cx="0" cy="0"/>
          <a:chOff x="0" y="0"/>
          <a:chExt cx="0" cy="0"/>
        </a:xfrm>
      </p:grpSpPr>
      <p:sp>
        <p:nvSpPr>
          <p:cNvPr id="2" name="TextBox 1"/>
          <p:cNvSpPr txBox="1"/>
          <p:nvPr/>
        </p:nvSpPr>
        <p:spPr>
          <a:xfrm>
            <a:off x="365760" y="164592"/>
            <a:ext cx="2011680" cy="256032"/>
          </a:xfrm>
          <a:prstGeom prst="rect">
            <a:avLst/>
          </a:prstGeom>
          <a:noFill/>
        </p:spPr>
        <p:txBody>
          <a:bodyPr wrap="square" lIns="0" tIns="0" rIns="0" bIns="0" anchor="t"/>
          <a:lstStyle/>
          <a:p>
            <a:pPr algn="l"/>
            <a:r>
              <a:rPr sz="1200" b="1">
                <a:solidFill>
                  <a:srgbClr val="0F5E5A"/>
                </a:solidFill>
                <a:latin typeface="Calibri"/>
              </a:rPr>
              <a:t>FIGURE 7B</a:t>
            </a:r>
          </a:p>
        </p:txBody>
      </p:sp>
      <p:sp>
        <p:nvSpPr>
          <p:cNvPr id="3" name="TextBox 2"/>
          <p:cNvSpPr txBox="1"/>
          <p:nvPr/>
        </p:nvSpPr>
        <p:spPr>
          <a:xfrm>
            <a:off x="2286000" y="128016"/>
            <a:ext cx="9509760" cy="329184"/>
          </a:xfrm>
          <a:prstGeom prst="rect">
            <a:avLst/>
          </a:prstGeom>
          <a:noFill/>
        </p:spPr>
        <p:txBody>
          <a:bodyPr wrap="square" lIns="0" tIns="0" rIns="0" bIns="0" anchor="t"/>
          <a:lstStyle/>
          <a:p>
            <a:pPr algn="l"/>
            <a:r>
              <a:rPr sz="1800" b="1">
                <a:solidFill>
                  <a:srgbClr val="1C1915"/>
                </a:solidFill>
                <a:latin typeface="Calibri"/>
              </a:rPr>
              <a:t>Requirements — human judgement and interaction</a:t>
            </a:r>
          </a:p>
        </p:txBody>
      </p:sp>
      <p:pic>
        <p:nvPicPr>
          <p:cNvPr id="4" name="Picture 3" descr="requirements_member_b.png"/>
          <p:cNvPicPr>
            <a:picLocks noChangeAspect="1"/>
          </p:cNvPicPr>
          <p:nvPr/>
        </p:nvPicPr>
        <p:blipFill>
          <a:blip r:embed="rId3"/>
          <a:stretch>
            <a:fillRect/>
          </a:stretch>
        </p:blipFill>
        <p:spPr>
          <a:xfrm>
            <a:off x="320040" y="1576764"/>
            <a:ext cx="11521440" cy="3530735"/>
          </a:xfrm>
          <a:prstGeom prst="rect">
            <a:avLst/>
          </a:prstGeom>
        </p:spPr>
      </p:pic>
      <p:sp>
        <p:nvSpPr>
          <p:cNvPr id="5" name="TextBox 4"/>
          <p:cNvSpPr txBox="1"/>
          <p:nvPr/>
        </p:nvSpPr>
        <p:spPr>
          <a:xfrm>
            <a:off x="365760" y="6199632"/>
            <a:ext cx="11430000" cy="292608"/>
          </a:xfrm>
          <a:prstGeom prst="rect">
            <a:avLst/>
          </a:prstGeom>
          <a:noFill/>
        </p:spPr>
        <p:txBody>
          <a:bodyPr wrap="square" lIns="0" tIns="0" rIns="0" bIns="0" anchor="t"/>
          <a:lstStyle/>
          <a:p>
            <a:pPr algn="l"/>
            <a:r>
              <a:rPr sz="1200" b="0">
                <a:solidFill>
                  <a:srgbClr val="5E584F"/>
                </a:solidFill>
                <a:latin typeface="Calibri"/>
              </a:rPr>
              <a:t>Source (group access)  </a:t>
            </a:r>
            <a:r>
              <a:rPr sz="1200" b="1" u="sng">
                <a:solidFill>
                  <a:srgbClr val="0F5E5A"/>
                </a:solidFill>
                <a:latin typeface="Calibri"/>
                <a:hlinkClick r:id="rId4"/>
              </a:rPr>
              <a:t>docs/diagrams/requirements_member_b.puml</a:t>
            </a:r>
          </a:p>
        </p:txBody>
      </p:sp>
      <p:sp>
        <p:nvSpPr>
          <p:cNvPr id="6" name="TextBox 5"/>
          <p:cNvSpPr txBox="1"/>
          <p:nvPr/>
        </p:nvSpPr>
        <p:spPr>
          <a:xfrm>
            <a:off x="411480" y="6510528"/>
            <a:ext cx="5486400" cy="256032"/>
          </a:xfrm>
          <a:prstGeom prst="rect">
            <a:avLst/>
          </a:prstGeom>
          <a:noFill/>
        </p:spPr>
        <p:txBody>
          <a:bodyPr wrap="square" lIns="0" tIns="0" rIns="0" bIns="0" anchor="t"/>
          <a:lstStyle/>
          <a:p>
            <a:pPr algn="l"/>
            <a:r>
              <a:rPr sz="1200" b="0">
                <a:solidFill>
                  <a:srgbClr val="5E584F"/>
                </a:solidFill>
                <a:latin typeface="Calibri"/>
              </a:rPr>
              <a:t>ELEC5620 · Group 16</a:t>
            </a:r>
          </a:p>
        </p:txBody>
      </p:sp>
      <p:sp>
        <p:nvSpPr>
          <p:cNvPr id="7" name="TextBox 6"/>
          <p:cNvSpPr txBox="1"/>
          <p:nvPr/>
        </p:nvSpPr>
        <p:spPr>
          <a:xfrm>
            <a:off x="9509760" y="6510528"/>
            <a:ext cx="2286000" cy="256032"/>
          </a:xfrm>
          <a:prstGeom prst="rect">
            <a:avLst/>
          </a:prstGeom>
          <a:noFill/>
        </p:spPr>
        <p:txBody>
          <a:bodyPr wrap="square" lIns="0" tIns="0" rIns="0" bIns="0" anchor="t"/>
          <a:lstStyle/>
          <a:p>
            <a:pPr algn="r"/>
            <a:r>
              <a:rPr sz="1200" b="0">
                <a:solidFill>
                  <a:srgbClr val="5E584F"/>
                </a:solidFill>
                <a:latin typeface="Calibri"/>
              </a:rPr>
              <a:t>35 / 39</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7F4EE"/>
        </a:solidFill>
        <a:effectLst/>
      </p:bgPr>
    </p:bg>
    <p:spTree>
      <p:nvGrpSpPr>
        <p:cNvPr id="1" name=""/>
        <p:cNvGrpSpPr/>
        <p:nvPr/>
      </p:nvGrpSpPr>
      <p:grpSpPr>
        <a:xfrm>
          <a:off x="0" y="0"/>
          <a:ext cx="0" cy="0"/>
          <a:chOff x="0" y="0"/>
          <a:chExt cx="0" cy="0"/>
        </a:xfrm>
      </p:grpSpPr>
      <p:sp>
        <p:nvSpPr>
          <p:cNvPr id="2" name="TextBox 1"/>
          <p:cNvSpPr txBox="1"/>
          <p:nvPr/>
        </p:nvSpPr>
        <p:spPr>
          <a:xfrm>
            <a:off x="365760" y="164592"/>
            <a:ext cx="2011680" cy="256032"/>
          </a:xfrm>
          <a:prstGeom prst="rect">
            <a:avLst/>
          </a:prstGeom>
          <a:noFill/>
        </p:spPr>
        <p:txBody>
          <a:bodyPr wrap="square" lIns="0" tIns="0" rIns="0" bIns="0" anchor="t"/>
          <a:lstStyle/>
          <a:p>
            <a:pPr algn="l"/>
            <a:r>
              <a:rPr sz="1200" b="1">
                <a:solidFill>
                  <a:srgbClr val="0F5E5A"/>
                </a:solidFill>
                <a:latin typeface="Calibri"/>
              </a:rPr>
              <a:t>FIGURE 7C</a:t>
            </a:r>
          </a:p>
        </p:txBody>
      </p:sp>
      <p:sp>
        <p:nvSpPr>
          <p:cNvPr id="3" name="TextBox 2"/>
          <p:cNvSpPr txBox="1"/>
          <p:nvPr/>
        </p:nvSpPr>
        <p:spPr>
          <a:xfrm>
            <a:off x="2286000" y="128016"/>
            <a:ext cx="9509760" cy="329184"/>
          </a:xfrm>
          <a:prstGeom prst="rect">
            <a:avLst/>
          </a:prstGeom>
          <a:noFill/>
        </p:spPr>
        <p:txBody>
          <a:bodyPr wrap="square" lIns="0" tIns="0" rIns="0" bIns="0" anchor="t"/>
          <a:lstStyle/>
          <a:p>
            <a:pPr algn="l"/>
            <a:r>
              <a:rPr sz="1800" b="1">
                <a:solidFill>
                  <a:srgbClr val="1C1915"/>
                </a:solidFill>
                <a:latin typeface="Calibri"/>
              </a:rPr>
              <a:t>Requirements — statutory obligations</a:t>
            </a:r>
          </a:p>
        </p:txBody>
      </p:sp>
      <p:pic>
        <p:nvPicPr>
          <p:cNvPr id="4" name="Picture 3" descr="requirements_member_c.png"/>
          <p:cNvPicPr>
            <a:picLocks noChangeAspect="1"/>
          </p:cNvPicPr>
          <p:nvPr/>
        </p:nvPicPr>
        <p:blipFill>
          <a:blip r:embed="rId3"/>
          <a:stretch>
            <a:fillRect/>
          </a:stretch>
        </p:blipFill>
        <p:spPr>
          <a:xfrm>
            <a:off x="320040" y="1174273"/>
            <a:ext cx="11521440" cy="4335718"/>
          </a:xfrm>
          <a:prstGeom prst="rect">
            <a:avLst/>
          </a:prstGeom>
        </p:spPr>
      </p:pic>
      <p:sp>
        <p:nvSpPr>
          <p:cNvPr id="5" name="TextBox 4"/>
          <p:cNvSpPr txBox="1"/>
          <p:nvPr/>
        </p:nvSpPr>
        <p:spPr>
          <a:xfrm>
            <a:off x="365760" y="6199632"/>
            <a:ext cx="11430000" cy="292608"/>
          </a:xfrm>
          <a:prstGeom prst="rect">
            <a:avLst/>
          </a:prstGeom>
          <a:noFill/>
        </p:spPr>
        <p:txBody>
          <a:bodyPr wrap="square" lIns="0" tIns="0" rIns="0" bIns="0" anchor="t"/>
          <a:lstStyle/>
          <a:p>
            <a:pPr algn="l"/>
            <a:r>
              <a:rPr sz="1200" b="0">
                <a:solidFill>
                  <a:srgbClr val="5E584F"/>
                </a:solidFill>
                <a:latin typeface="Calibri"/>
              </a:rPr>
              <a:t>Source (group access)  </a:t>
            </a:r>
            <a:r>
              <a:rPr sz="1200" b="1" u="sng">
                <a:solidFill>
                  <a:srgbClr val="0F5E5A"/>
                </a:solidFill>
                <a:latin typeface="Calibri"/>
                <a:hlinkClick r:id="rId4"/>
              </a:rPr>
              <a:t>docs/diagrams/requirements_member_c.puml</a:t>
            </a:r>
          </a:p>
        </p:txBody>
      </p:sp>
      <p:sp>
        <p:nvSpPr>
          <p:cNvPr id="6" name="TextBox 5"/>
          <p:cNvSpPr txBox="1"/>
          <p:nvPr/>
        </p:nvSpPr>
        <p:spPr>
          <a:xfrm>
            <a:off x="411480" y="6510528"/>
            <a:ext cx="5486400" cy="256032"/>
          </a:xfrm>
          <a:prstGeom prst="rect">
            <a:avLst/>
          </a:prstGeom>
          <a:noFill/>
        </p:spPr>
        <p:txBody>
          <a:bodyPr wrap="square" lIns="0" tIns="0" rIns="0" bIns="0" anchor="t"/>
          <a:lstStyle/>
          <a:p>
            <a:pPr algn="l"/>
            <a:r>
              <a:rPr sz="1200" b="0">
                <a:solidFill>
                  <a:srgbClr val="5E584F"/>
                </a:solidFill>
                <a:latin typeface="Calibri"/>
              </a:rPr>
              <a:t>ELEC5620 · Group 16</a:t>
            </a:r>
          </a:p>
        </p:txBody>
      </p:sp>
      <p:sp>
        <p:nvSpPr>
          <p:cNvPr id="7" name="TextBox 6"/>
          <p:cNvSpPr txBox="1"/>
          <p:nvPr/>
        </p:nvSpPr>
        <p:spPr>
          <a:xfrm>
            <a:off x="9509760" y="6510528"/>
            <a:ext cx="2286000" cy="256032"/>
          </a:xfrm>
          <a:prstGeom prst="rect">
            <a:avLst/>
          </a:prstGeom>
          <a:noFill/>
        </p:spPr>
        <p:txBody>
          <a:bodyPr wrap="square" lIns="0" tIns="0" rIns="0" bIns="0" anchor="t"/>
          <a:lstStyle/>
          <a:p>
            <a:pPr algn="r"/>
            <a:r>
              <a:rPr sz="1200" b="0">
                <a:solidFill>
                  <a:srgbClr val="5E584F"/>
                </a:solidFill>
                <a:latin typeface="Calibri"/>
              </a:rPr>
              <a:t>36 / 39</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7F4EE"/>
        </a:solidFill>
        <a:effectLst/>
      </p:bgPr>
    </p:bg>
    <p:spTree>
      <p:nvGrpSpPr>
        <p:cNvPr id="1" name=""/>
        <p:cNvGrpSpPr/>
        <p:nvPr/>
      </p:nvGrpSpPr>
      <p:grpSpPr>
        <a:xfrm>
          <a:off x="0" y="0"/>
          <a:ext cx="0" cy="0"/>
          <a:chOff x="0" y="0"/>
          <a:chExt cx="0" cy="0"/>
        </a:xfrm>
      </p:grpSpPr>
      <p:sp>
        <p:nvSpPr>
          <p:cNvPr id="2" name="TextBox 1"/>
          <p:cNvSpPr txBox="1"/>
          <p:nvPr/>
        </p:nvSpPr>
        <p:spPr>
          <a:xfrm>
            <a:off x="365760" y="164592"/>
            <a:ext cx="2011680" cy="256032"/>
          </a:xfrm>
          <a:prstGeom prst="rect">
            <a:avLst/>
          </a:prstGeom>
          <a:noFill/>
        </p:spPr>
        <p:txBody>
          <a:bodyPr wrap="square" lIns="0" tIns="0" rIns="0" bIns="0" anchor="t"/>
          <a:lstStyle/>
          <a:p>
            <a:pPr algn="l"/>
            <a:r>
              <a:rPr sz="1200" b="1">
                <a:solidFill>
                  <a:srgbClr val="0F5E5A"/>
                </a:solidFill>
                <a:latin typeface="Calibri"/>
              </a:rPr>
              <a:t>FIGURE 8</a:t>
            </a:r>
          </a:p>
        </p:txBody>
      </p:sp>
      <p:sp>
        <p:nvSpPr>
          <p:cNvPr id="3" name="TextBox 2"/>
          <p:cNvSpPr txBox="1"/>
          <p:nvPr/>
        </p:nvSpPr>
        <p:spPr>
          <a:xfrm>
            <a:off x="2286000" y="128016"/>
            <a:ext cx="9509760" cy="329184"/>
          </a:xfrm>
          <a:prstGeom prst="rect">
            <a:avLst/>
          </a:prstGeom>
          <a:noFill/>
        </p:spPr>
        <p:txBody>
          <a:bodyPr wrap="square" lIns="0" tIns="0" rIns="0" bIns="0" anchor="t"/>
          <a:lstStyle/>
          <a:p>
            <a:pPr algn="l"/>
            <a:r>
              <a:rPr sz="1800" b="1">
                <a:solidFill>
                  <a:srgbClr val="1C1915"/>
                </a:solidFill>
                <a:latin typeface="Calibri"/>
              </a:rPr>
              <a:t>Feature diagram — audit support system</a:t>
            </a:r>
          </a:p>
        </p:txBody>
      </p:sp>
      <p:pic>
        <p:nvPicPr>
          <p:cNvPr id="4" name="Picture 3" descr="feature.png"/>
          <p:cNvPicPr>
            <a:picLocks noChangeAspect="1"/>
          </p:cNvPicPr>
          <p:nvPr/>
        </p:nvPicPr>
        <p:blipFill>
          <a:blip r:embed="rId3"/>
          <a:stretch>
            <a:fillRect/>
          </a:stretch>
        </p:blipFill>
        <p:spPr>
          <a:xfrm>
            <a:off x="320040" y="1810466"/>
            <a:ext cx="11521440" cy="3063332"/>
          </a:xfrm>
          <a:prstGeom prst="rect">
            <a:avLst/>
          </a:prstGeom>
        </p:spPr>
      </p:pic>
      <p:sp>
        <p:nvSpPr>
          <p:cNvPr id="5" name="TextBox 4"/>
          <p:cNvSpPr txBox="1"/>
          <p:nvPr/>
        </p:nvSpPr>
        <p:spPr>
          <a:xfrm>
            <a:off x="365760" y="6199632"/>
            <a:ext cx="11430000" cy="292608"/>
          </a:xfrm>
          <a:prstGeom prst="rect">
            <a:avLst/>
          </a:prstGeom>
          <a:noFill/>
        </p:spPr>
        <p:txBody>
          <a:bodyPr wrap="square" lIns="0" tIns="0" rIns="0" bIns="0" anchor="t"/>
          <a:lstStyle/>
          <a:p>
            <a:pPr algn="l"/>
            <a:r>
              <a:rPr sz="1200" b="0">
                <a:solidFill>
                  <a:srgbClr val="5E584F"/>
                </a:solidFill>
                <a:latin typeface="Calibri"/>
              </a:rPr>
              <a:t>Source (group access)  </a:t>
            </a:r>
            <a:r>
              <a:rPr sz="1200" b="1" u="sng">
                <a:solidFill>
                  <a:srgbClr val="0F5E5A"/>
                </a:solidFill>
                <a:latin typeface="Calibri"/>
                <a:hlinkClick r:id="rId4"/>
              </a:rPr>
              <a:t>docs/diagrams/feature.puml</a:t>
            </a:r>
          </a:p>
        </p:txBody>
      </p:sp>
      <p:sp>
        <p:nvSpPr>
          <p:cNvPr id="6" name="TextBox 5"/>
          <p:cNvSpPr txBox="1"/>
          <p:nvPr/>
        </p:nvSpPr>
        <p:spPr>
          <a:xfrm>
            <a:off x="411480" y="6510528"/>
            <a:ext cx="5486400" cy="256032"/>
          </a:xfrm>
          <a:prstGeom prst="rect">
            <a:avLst/>
          </a:prstGeom>
          <a:noFill/>
        </p:spPr>
        <p:txBody>
          <a:bodyPr wrap="square" lIns="0" tIns="0" rIns="0" bIns="0" anchor="t"/>
          <a:lstStyle/>
          <a:p>
            <a:pPr algn="l"/>
            <a:r>
              <a:rPr sz="1200" b="0">
                <a:solidFill>
                  <a:srgbClr val="5E584F"/>
                </a:solidFill>
                <a:latin typeface="Calibri"/>
              </a:rPr>
              <a:t>ELEC5620 · Group 16</a:t>
            </a:r>
          </a:p>
        </p:txBody>
      </p:sp>
      <p:sp>
        <p:nvSpPr>
          <p:cNvPr id="7" name="TextBox 6"/>
          <p:cNvSpPr txBox="1"/>
          <p:nvPr/>
        </p:nvSpPr>
        <p:spPr>
          <a:xfrm>
            <a:off x="9509760" y="6510528"/>
            <a:ext cx="2286000" cy="256032"/>
          </a:xfrm>
          <a:prstGeom prst="rect">
            <a:avLst/>
          </a:prstGeom>
          <a:noFill/>
        </p:spPr>
        <p:txBody>
          <a:bodyPr wrap="square" lIns="0" tIns="0" rIns="0" bIns="0" anchor="t"/>
          <a:lstStyle/>
          <a:p>
            <a:pPr algn="r"/>
            <a:r>
              <a:rPr sz="1200" b="0">
                <a:solidFill>
                  <a:srgbClr val="5E584F"/>
                </a:solidFill>
                <a:latin typeface="Calibri"/>
              </a:rPr>
              <a:t>37 / 39</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7F4EE"/>
        </a:solidFill>
        <a:effectLst/>
      </p:bgPr>
    </p:bg>
    <p:spTree>
      <p:nvGrpSpPr>
        <p:cNvPr id="1" name=""/>
        <p:cNvGrpSpPr/>
        <p:nvPr/>
      </p:nvGrpSpPr>
      <p:grpSpPr>
        <a:xfrm>
          <a:off x="0" y="0"/>
          <a:ext cx="0" cy="0"/>
          <a:chOff x="0" y="0"/>
          <a:chExt cx="0" cy="0"/>
        </a:xfrm>
      </p:grpSpPr>
      <p:sp>
        <p:nvSpPr>
          <p:cNvPr id="2" name="TextBox 1"/>
          <p:cNvSpPr txBox="1"/>
          <p:nvPr/>
        </p:nvSpPr>
        <p:spPr>
          <a:xfrm>
            <a:off x="365760" y="164592"/>
            <a:ext cx="2011680" cy="256032"/>
          </a:xfrm>
          <a:prstGeom prst="rect">
            <a:avLst/>
          </a:prstGeom>
          <a:noFill/>
        </p:spPr>
        <p:txBody>
          <a:bodyPr wrap="square" lIns="0" tIns="0" rIns="0" bIns="0" anchor="t"/>
          <a:lstStyle/>
          <a:p>
            <a:pPr algn="l"/>
            <a:r>
              <a:rPr sz="1200" b="1">
                <a:solidFill>
                  <a:srgbClr val="0F5E5A"/>
                </a:solidFill>
                <a:latin typeface="Calibri"/>
              </a:rPr>
              <a:t>FIGURE 9</a:t>
            </a:r>
          </a:p>
        </p:txBody>
      </p:sp>
      <p:sp>
        <p:nvSpPr>
          <p:cNvPr id="3" name="TextBox 2"/>
          <p:cNvSpPr txBox="1"/>
          <p:nvPr/>
        </p:nvSpPr>
        <p:spPr>
          <a:xfrm>
            <a:off x="2286000" y="128016"/>
            <a:ext cx="9509760" cy="329184"/>
          </a:xfrm>
          <a:prstGeom prst="rect">
            <a:avLst/>
          </a:prstGeom>
          <a:noFill/>
        </p:spPr>
        <p:txBody>
          <a:bodyPr wrap="square" lIns="0" tIns="0" rIns="0" bIns="0" anchor="t"/>
          <a:lstStyle/>
          <a:p>
            <a:pPr algn="l"/>
            <a:r>
              <a:rPr sz="1800" b="1">
                <a:solidFill>
                  <a:srgbClr val="1C1915"/>
                </a:solidFill>
                <a:latin typeface="Calibri"/>
              </a:rPr>
              <a:t>Structured class — A1 Orchestrator</a:t>
            </a:r>
          </a:p>
        </p:txBody>
      </p:sp>
      <p:pic>
        <p:nvPicPr>
          <p:cNvPr id="4" name="Picture 3" descr="structured_class_a1.png"/>
          <p:cNvPicPr>
            <a:picLocks noChangeAspect="1"/>
          </p:cNvPicPr>
          <p:nvPr/>
        </p:nvPicPr>
        <p:blipFill>
          <a:blip r:embed="rId3"/>
          <a:stretch>
            <a:fillRect/>
          </a:stretch>
        </p:blipFill>
        <p:spPr>
          <a:xfrm>
            <a:off x="3139995" y="530352"/>
            <a:ext cx="5881530" cy="5623560"/>
          </a:xfrm>
          <a:prstGeom prst="rect">
            <a:avLst/>
          </a:prstGeom>
        </p:spPr>
      </p:pic>
      <p:sp>
        <p:nvSpPr>
          <p:cNvPr id="5" name="TextBox 4"/>
          <p:cNvSpPr txBox="1"/>
          <p:nvPr/>
        </p:nvSpPr>
        <p:spPr>
          <a:xfrm>
            <a:off x="365760" y="6199632"/>
            <a:ext cx="11430000" cy="292608"/>
          </a:xfrm>
          <a:prstGeom prst="rect">
            <a:avLst/>
          </a:prstGeom>
          <a:noFill/>
        </p:spPr>
        <p:txBody>
          <a:bodyPr wrap="square" lIns="0" tIns="0" rIns="0" bIns="0" anchor="t"/>
          <a:lstStyle/>
          <a:p>
            <a:pPr algn="l"/>
            <a:r>
              <a:rPr sz="1200" b="0">
                <a:solidFill>
                  <a:srgbClr val="5E584F"/>
                </a:solidFill>
                <a:latin typeface="Calibri"/>
              </a:rPr>
              <a:t>Source (group access)  </a:t>
            </a:r>
            <a:r>
              <a:rPr sz="1200" b="1" u="sng">
                <a:solidFill>
                  <a:srgbClr val="0F5E5A"/>
                </a:solidFill>
                <a:latin typeface="Calibri"/>
                <a:hlinkClick r:id="rId4"/>
              </a:rPr>
              <a:t>docs/diagrams/structured_class_a1.puml</a:t>
            </a:r>
          </a:p>
        </p:txBody>
      </p:sp>
      <p:sp>
        <p:nvSpPr>
          <p:cNvPr id="6" name="TextBox 5"/>
          <p:cNvSpPr txBox="1"/>
          <p:nvPr/>
        </p:nvSpPr>
        <p:spPr>
          <a:xfrm>
            <a:off x="411480" y="6510528"/>
            <a:ext cx="5486400" cy="256032"/>
          </a:xfrm>
          <a:prstGeom prst="rect">
            <a:avLst/>
          </a:prstGeom>
          <a:noFill/>
        </p:spPr>
        <p:txBody>
          <a:bodyPr wrap="square" lIns="0" tIns="0" rIns="0" bIns="0" anchor="t"/>
          <a:lstStyle/>
          <a:p>
            <a:pPr algn="l"/>
            <a:r>
              <a:rPr sz="1200" b="0">
                <a:solidFill>
                  <a:srgbClr val="5E584F"/>
                </a:solidFill>
                <a:latin typeface="Calibri"/>
              </a:rPr>
              <a:t>ELEC5620 · Group 16</a:t>
            </a:r>
          </a:p>
        </p:txBody>
      </p:sp>
      <p:sp>
        <p:nvSpPr>
          <p:cNvPr id="7" name="TextBox 6"/>
          <p:cNvSpPr txBox="1"/>
          <p:nvPr/>
        </p:nvSpPr>
        <p:spPr>
          <a:xfrm>
            <a:off x="9509760" y="6510528"/>
            <a:ext cx="2286000" cy="256032"/>
          </a:xfrm>
          <a:prstGeom prst="rect">
            <a:avLst/>
          </a:prstGeom>
          <a:noFill/>
        </p:spPr>
        <p:txBody>
          <a:bodyPr wrap="square" lIns="0" tIns="0" rIns="0" bIns="0" anchor="t"/>
          <a:lstStyle/>
          <a:p>
            <a:pPr algn="r"/>
            <a:r>
              <a:rPr sz="1200" b="0">
                <a:solidFill>
                  <a:srgbClr val="5E584F"/>
                </a:solidFill>
                <a:latin typeface="Calibri"/>
              </a:rPr>
              <a:t>38 / 39</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7F4EE"/>
        </a:solidFill>
        <a:effectLst/>
      </p:bgPr>
    </p:bg>
    <p:spTree>
      <p:nvGrpSpPr>
        <p:cNvPr id="1" name=""/>
        <p:cNvGrpSpPr/>
        <p:nvPr/>
      </p:nvGrpSpPr>
      <p:grpSpPr>
        <a:xfrm>
          <a:off x="0" y="0"/>
          <a:ext cx="0" cy="0"/>
          <a:chOff x="0" y="0"/>
          <a:chExt cx="0" cy="0"/>
        </a:xfrm>
      </p:grpSpPr>
      <p:sp>
        <p:nvSpPr>
          <p:cNvPr id="2" name="TextBox 1"/>
          <p:cNvSpPr txBox="1"/>
          <p:nvPr/>
        </p:nvSpPr>
        <p:spPr>
          <a:xfrm>
            <a:off x="365760" y="164592"/>
            <a:ext cx="2011680" cy="256032"/>
          </a:xfrm>
          <a:prstGeom prst="rect">
            <a:avLst/>
          </a:prstGeom>
          <a:noFill/>
        </p:spPr>
        <p:txBody>
          <a:bodyPr wrap="square" lIns="0" tIns="0" rIns="0" bIns="0" anchor="t"/>
          <a:lstStyle/>
          <a:p>
            <a:pPr algn="l"/>
            <a:r>
              <a:rPr sz="1200" b="1">
                <a:solidFill>
                  <a:srgbClr val="0F5E5A"/>
                </a:solidFill>
                <a:latin typeface="Calibri"/>
              </a:rPr>
              <a:t>FIGURE 10</a:t>
            </a:r>
          </a:p>
        </p:txBody>
      </p:sp>
      <p:sp>
        <p:nvSpPr>
          <p:cNvPr id="3" name="TextBox 2"/>
          <p:cNvSpPr txBox="1"/>
          <p:nvPr/>
        </p:nvSpPr>
        <p:spPr>
          <a:xfrm>
            <a:off x="2286000" y="128016"/>
            <a:ext cx="9509760" cy="329184"/>
          </a:xfrm>
          <a:prstGeom prst="rect">
            <a:avLst/>
          </a:prstGeom>
          <a:noFill/>
        </p:spPr>
        <p:txBody>
          <a:bodyPr wrap="square" lIns="0" tIns="0" rIns="0" bIns="0" anchor="t"/>
          <a:lstStyle/>
          <a:p>
            <a:pPr algn="l"/>
            <a:r>
              <a:rPr sz="1800" b="1">
                <a:solidFill>
                  <a:srgbClr val="1C1915"/>
                </a:solidFill>
                <a:latin typeface="Calibri"/>
              </a:rPr>
              <a:t>Collaboration — one exception review</a:t>
            </a:r>
          </a:p>
        </p:txBody>
      </p:sp>
      <p:pic>
        <p:nvPicPr>
          <p:cNvPr id="4" name="Picture 3" descr="collaboration_review.png"/>
          <p:cNvPicPr>
            <a:picLocks noChangeAspect="1"/>
          </p:cNvPicPr>
          <p:nvPr/>
        </p:nvPicPr>
        <p:blipFill>
          <a:blip r:embed="rId3"/>
          <a:stretch>
            <a:fillRect/>
          </a:stretch>
        </p:blipFill>
        <p:spPr>
          <a:xfrm>
            <a:off x="320040" y="772925"/>
            <a:ext cx="11521440" cy="5138413"/>
          </a:xfrm>
          <a:prstGeom prst="rect">
            <a:avLst/>
          </a:prstGeom>
        </p:spPr>
      </p:pic>
      <p:sp>
        <p:nvSpPr>
          <p:cNvPr id="5" name="TextBox 4"/>
          <p:cNvSpPr txBox="1"/>
          <p:nvPr/>
        </p:nvSpPr>
        <p:spPr>
          <a:xfrm>
            <a:off x="365760" y="6199632"/>
            <a:ext cx="11430000" cy="292608"/>
          </a:xfrm>
          <a:prstGeom prst="rect">
            <a:avLst/>
          </a:prstGeom>
          <a:noFill/>
        </p:spPr>
        <p:txBody>
          <a:bodyPr wrap="square" lIns="0" tIns="0" rIns="0" bIns="0" anchor="t"/>
          <a:lstStyle/>
          <a:p>
            <a:pPr algn="l"/>
            <a:r>
              <a:rPr sz="1200" b="0">
                <a:solidFill>
                  <a:srgbClr val="5E584F"/>
                </a:solidFill>
                <a:latin typeface="Calibri"/>
              </a:rPr>
              <a:t>Source (group access)  </a:t>
            </a:r>
            <a:r>
              <a:rPr sz="1200" b="1" u="sng">
                <a:solidFill>
                  <a:srgbClr val="0F5E5A"/>
                </a:solidFill>
                <a:latin typeface="Calibri"/>
                <a:hlinkClick r:id="rId4"/>
              </a:rPr>
              <a:t>docs/diagrams/collaboration_review.puml</a:t>
            </a:r>
          </a:p>
        </p:txBody>
      </p:sp>
      <p:sp>
        <p:nvSpPr>
          <p:cNvPr id="6" name="TextBox 5"/>
          <p:cNvSpPr txBox="1"/>
          <p:nvPr/>
        </p:nvSpPr>
        <p:spPr>
          <a:xfrm>
            <a:off x="411480" y="6510528"/>
            <a:ext cx="5486400" cy="256032"/>
          </a:xfrm>
          <a:prstGeom prst="rect">
            <a:avLst/>
          </a:prstGeom>
          <a:noFill/>
        </p:spPr>
        <p:txBody>
          <a:bodyPr wrap="square" lIns="0" tIns="0" rIns="0" bIns="0" anchor="t"/>
          <a:lstStyle/>
          <a:p>
            <a:pPr algn="l"/>
            <a:r>
              <a:rPr sz="1200" b="0">
                <a:solidFill>
                  <a:srgbClr val="5E584F"/>
                </a:solidFill>
                <a:latin typeface="Calibri"/>
              </a:rPr>
              <a:t>ELEC5620 · Group 16</a:t>
            </a:r>
          </a:p>
        </p:txBody>
      </p:sp>
      <p:sp>
        <p:nvSpPr>
          <p:cNvPr id="7" name="TextBox 6"/>
          <p:cNvSpPr txBox="1"/>
          <p:nvPr/>
        </p:nvSpPr>
        <p:spPr>
          <a:xfrm>
            <a:off x="9509760" y="6510528"/>
            <a:ext cx="2286000" cy="256032"/>
          </a:xfrm>
          <a:prstGeom prst="rect">
            <a:avLst/>
          </a:prstGeom>
          <a:noFill/>
        </p:spPr>
        <p:txBody>
          <a:bodyPr wrap="square" lIns="0" tIns="0" rIns="0" bIns="0" anchor="t"/>
          <a:lstStyle/>
          <a:p>
            <a:pPr algn="r"/>
            <a:r>
              <a:rPr sz="1200" b="0">
                <a:solidFill>
                  <a:srgbClr val="5E584F"/>
                </a:solidFill>
                <a:latin typeface="Calibri"/>
              </a:rPr>
              <a:t>39 / 39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TotalTime>
  <Words>5585</Words>
  <Application>Microsoft Office PowerPoint</Application>
  <PresentationFormat>宽屏</PresentationFormat>
  <Paragraphs>597</Paragraphs>
  <Slides>39</Slides>
  <Notes>39</Notes>
  <HiddenSlides>0</HiddenSlides>
  <MMClips>0</MMClips>
  <ScaleCrop>false</ScaleCrop>
  <HeadingPairs>
    <vt:vector size="6" baseType="variant">
      <vt:variant>
        <vt:lpstr>已用的字体</vt:lpstr>
      </vt:variant>
      <vt:variant>
        <vt:i4>2</vt:i4>
      </vt:variant>
      <vt:variant>
        <vt:lpstr>主题</vt:lpstr>
      </vt:variant>
      <vt:variant>
        <vt:i4>1</vt:i4>
      </vt:variant>
      <vt:variant>
        <vt:lpstr>幻灯片标题</vt:lpstr>
      </vt:variant>
      <vt:variant>
        <vt:i4>39</vt:i4>
      </vt:variant>
    </vt:vector>
  </HeadingPairs>
  <TitlesOfParts>
    <vt:vector size="42" baseType="lpstr">
      <vt:lpstr>Arial</vt:lpstr>
      <vt:lpstr>Calibri</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Multi-agent audit support system — 8 minute introduction</dc:title>
  <dc:subject>ELEC5620 Group 16</dc:subject>
  <dc:creator/>
  <cp:keywords/>
  <dc:description>generated using python-pptx</dc:description>
  <cp:lastModifiedBy>Yuanhao Wang</cp:lastModifiedBy>
  <cp:revision>3</cp:revision>
  <dcterms:created xsi:type="dcterms:W3CDTF">2013-01-27T09:14:16Z</dcterms:created>
  <dcterms:modified xsi:type="dcterms:W3CDTF">2026-09-30T08:02:30Z</dcterms:modified>
  <cp:category/>
</cp:coreProperties>
</file>